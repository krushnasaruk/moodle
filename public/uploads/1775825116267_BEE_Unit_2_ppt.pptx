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1.xml" ContentType="application/inkml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289" r:id="rId2"/>
    <p:sldId id="280" r:id="rId3"/>
    <p:sldId id="281" r:id="rId4"/>
    <p:sldId id="267" r:id="rId5"/>
    <p:sldId id="291" r:id="rId6"/>
    <p:sldId id="288" r:id="rId7"/>
    <p:sldId id="290" r:id="rId8"/>
    <p:sldId id="286" r:id="rId9"/>
    <p:sldId id="268" r:id="rId10"/>
    <p:sldId id="269" r:id="rId11"/>
    <p:sldId id="270" r:id="rId12"/>
    <p:sldId id="272" r:id="rId13"/>
    <p:sldId id="271" r:id="rId14"/>
    <p:sldId id="274" r:id="rId15"/>
    <p:sldId id="275" r:id="rId16"/>
    <p:sldId id="282" r:id="rId17"/>
    <p:sldId id="278" r:id="rId18"/>
    <p:sldId id="283" r:id="rId19"/>
    <p:sldId id="28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236"/>
    <a:srgbClr val="00133A"/>
    <a:srgbClr val="481D08"/>
    <a:srgbClr val="2728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485" autoAdjust="0"/>
  </p:normalViewPr>
  <p:slideViewPr>
    <p:cSldViewPr snapToGrid="0">
      <p:cViewPr varScale="1">
        <p:scale>
          <a:sx n="79" d="100"/>
          <a:sy n="79" d="100"/>
        </p:scale>
        <p:origin x="7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7D11C8C-63C0-416F-AF2B-3D77E127DDC4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26F7C28-0F63-4D49-AB96-1D3C53EBCEE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3200" b="1" dirty="0">
              <a:solidFill>
                <a:srgbClr val="001236"/>
              </a:solidFill>
              <a:latin typeface="Aptos" panose="020B0004020202020204" pitchFamily="34" charset="0"/>
            </a:rPr>
            <a:t>Magnetic Circuit</a:t>
          </a:r>
        </a:p>
      </dgm:t>
    </dgm:pt>
    <dgm:pt modelId="{10FE1F1E-547D-4218-BAA7-ED3A9A7DE5BA}" type="parTrans" cxnId="{5E2E600F-D349-452F-A04E-D0433FC7ADC6}">
      <dgm:prSet/>
      <dgm:spPr/>
      <dgm:t>
        <a:bodyPr/>
        <a:lstStyle/>
        <a:p>
          <a:endParaRPr lang="en-US" sz="3200">
            <a:solidFill>
              <a:srgbClr val="001236"/>
            </a:solidFill>
          </a:endParaRPr>
        </a:p>
      </dgm:t>
    </dgm:pt>
    <dgm:pt modelId="{1F99B54E-2E1B-4540-A6E5-AEE578A4B897}" type="sibTrans" cxnId="{5E2E600F-D349-452F-A04E-D0433FC7ADC6}">
      <dgm:prSet/>
      <dgm:spPr/>
      <dgm:t>
        <a:bodyPr/>
        <a:lstStyle/>
        <a:p>
          <a:endParaRPr lang="en-US" sz="3200">
            <a:solidFill>
              <a:srgbClr val="001236"/>
            </a:solidFill>
          </a:endParaRPr>
        </a:p>
      </dgm:t>
    </dgm:pt>
    <dgm:pt modelId="{41886F20-D30C-401C-B550-0B8C6C31CF0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3200" b="1" dirty="0">
              <a:solidFill>
                <a:srgbClr val="001236"/>
              </a:solidFill>
              <a:latin typeface="Aptos" panose="020B0004020202020204" pitchFamily="34" charset="0"/>
            </a:rPr>
            <a:t>Electromagnetic Induction</a:t>
          </a:r>
        </a:p>
      </dgm:t>
    </dgm:pt>
    <dgm:pt modelId="{8A2A833A-1214-42A8-AFBB-4554599AC7E8}" type="parTrans" cxnId="{6F09B19E-A26B-425E-9FE8-219CC4CB0FC4}">
      <dgm:prSet/>
      <dgm:spPr/>
      <dgm:t>
        <a:bodyPr/>
        <a:lstStyle/>
        <a:p>
          <a:endParaRPr lang="en-US" sz="3200">
            <a:solidFill>
              <a:srgbClr val="001236"/>
            </a:solidFill>
          </a:endParaRPr>
        </a:p>
      </dgm:t>
    </dgm:pt>
    <dgm:pt modelId="{5D5304D5-3C8F-41C0-8833-B4B0AD13463A}" type="sibTrans" cxnId="{6F09B19E-A26B-425E-9FE8-219CC4CB0FC4}">
      <dgm:prSet/>
      <dgm:spPr/>
      <dgm:t>
        <a:bodyPr/>
        <a:lstStyle/>
        <a:p>
          <a:endParaRPr lang="en-US" sz="3200">
            <a:solidFill>
              <a:srgbClr val="001236"/>
            </a:solidFill>
          </a:endParaRPr>
        </a:p>
      </dgm:t>
    </dgm:pt>
    <dgm:pt modelId="{6DA3DAD0-26C7-4C62-ACD4-81109899C3E8}" type="pres">
      <dgm:prSet presAssocID="{C7D11C8C-63C0-416F-AF2B-3D77E127DDC4}" presName="root" presStyleCnt="0">
        <dgm:presLayoutVars>
          <dgm:dir/>
          <dgm:resizeHandles val="exact"/>
        </dgm:presLayoutVars>
      </dgm:prSet>
      <dgm:spPr/>
    </dgm:pt>
    <dgm:pt modelId="{85DBA404-58E1-4423-9979-550FFEC14EE3}" type="pres">
      <dgm:prSet presAssocID="{A26F7C28-0F63-4D49-AB96-1D3C53EBCEE3}" presName="compNode" presStyleCnt="0"/>
      <dgm:spPr/>
    </dgm:pt>
    <dgm:pt modelId="{61C47217-689E-44D6-9698-94AA23A83C69}" type="pres">
      <dgm:prSet presAssocID="{A26F7C28-0F63-4D49-AB96-1D3C53EBCEE3}" presName="bgRect" presStyleLbl="bgShp" presStyleIdx="0" presStyleCnt="2"/>
      <dgm:spPr>
        <a:solidFill>
          <a:schemeClr val="accent3">
            <a:lumMod val="20000"/>
            <a:lumOff val="80000"/>
          </a:schemeClr>
        </a:solidFill>
      </dgm:spPr>
    </dgm:pt>
    <dgm:pt modelId="{20D99B60-75E9-43EF-BE75-9559D31C6773}" type="pres">
      <dgm:prSet presAssocID="{A26F7C28-0F63-4D49-AB96-1D3C53EBCEE3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et"/>
        </a:ext>
      </dgm:extLst>
    </dgm:pt>
    <dgm:pt modelId="{B439AE13-92A6-4352-BACD-C035AD763CF8}" type="pres">
      <dgm:prSet presAssocID="{A26F7C28-0F63-4D49-AB96-1D3C53EBCEE3}" presName="spaceRect" presStyleCnt="0"/>
      <dgm:spPr/>
    </dgm:pt>
    <dgm:pt modelId="{5771CF2B-67A0-4AAF-AD64-28DB18FB123C}" type="pres">
      <dgm:prSet presAssocID="{A26F7C28-0F63-4D49-AB96-1D3C53EBCEE3}" presName="parTx" presStyleLbl="revTx" presStyleIdx="0" presStyleCnt="2" custScaleX="80643">
        <dgm:presLayoutVars>
          <dgm:chMax val="0"/>
          <dgm:chPref val="0"/>
        </dgm:presLayoutVars>
      </dgm:prSet>
      <dgm:spPr/>
    </dgm:pt>
    <dgm:pt modelId="{6C3FDFC5-1295-44FD-B623-2F9CD2C2A0E0}" type="pres">
      <dgm:prSet presAssocID="{1F99B54E-2E1B-4540-A6E5-AEE578A4B897}" presName="sibTrans" presStyleCnt="0"/>
      <dgm:spPr/>
    </dgm:pt>
    <dgm:pt modelId="{0158BF05-15E2-4700-AC7F-E52347C78221}" type="pres">
      <dgm:prSet presAssocID="{41886F20-D30C-401C-B550-0B8C6C31CF00}" presName="compNode" presStyleCnt="0"/>
      <dgm:spPr/>
    </dgm:pt>
    <dgm:pt modelId="{377B72A7-4255-4DE6-A50F-1548A133C8B4}" type="pres">
      <dgm:prSet presAssocID="{41886F20-D30C-401C-B550-0B8C6C31CF00}" presName="bgRect" presStyleLbl="bgShp" presStyleIdx="1" presStyleCnt="2"/>
      <dgm:spPr>
        <a:solidFill>
          <a:schemeClr val="accent2">
            <a:lumMod val="40000"/>
            <a:lumOff val="60000"/>
          </a:schemeClr>
        </a:solidFill>
      </dgm:spPr>
    </dgm:pt>
    <dgm:pt modelId="{865AE132-9861-4AED-B318-172BE7B9B713}" type="pres">
      <dgm:prSet presAssocID="{41886F20-D30C-401C-B550-0B8C6C31CF00}" presName="iconRect" presStyleLbl="node1" presStyleIdx="1" presStyleCnt="2" custScaleX="120758" custScaleY="12838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57000" r="-57000"/>
          </a:stretch>
        </a:blipFill>
      </dgm:spPr>
    </dgm:pt>
    <dgm:pt modelId="{DD42198B-8389-4AE3-9082-231C9C83F92C}" type="pres">
      <dgm:prSet presAssocID="{41886F20-D30C-401C-B550-0B8C6C31CF00}" presName="spaceRect" presStyleCnt="0"/>
      <dgm:spPr/>
    </dgm:pt>
    <dgm:pt modelId="{B22ECCA1-6CE9-4C2E-99F4-62227A27BB30}" type="pres">
      <dgm:prSet presAssocID="{41886F20-D30C-401C-B550-0B8C6C31CF00}" presName="parTx" presStyleLbl="revTx" presStyleIdx="1" presStyleCnt="2" custScaleX="81157">
        <dgm:presLayoutVars>
          <dgm:chMax val="0"/>
          <dgm:chPref val="0"/>
        </dgm:presLayoutVars>
      </dgm:prSet>
      <dgm:spPr/>
    </dgm:pt>
  </dgm:ptLst>
  <dgm:cxnLst>
    <dgm:cxn modelId="{5E2E600F-D349-452F-A04E-D0433FC7ADC6}" srcId="{C7D11C8C-63C0-416F-AF2B-3D77E127DDC4}" destId="{A26F7C28-0F63-4D49-AB96-1D3C53EBCEE3}" srcOrd="0" destOrd="0" parTransId="{10FE1F1E-547D-4218-BAA7-ED3A9A7DE5BA}" sibTransId="{1F99B54E-2E1B-4540-A6E5-AEE578A4B897}"/>
    <dgm:cxn modelId="{4859871B-699B-420C-84C8-FD6DE2720D1A}" type="presOf" srcId="{A26F7C28-0F63-4D49-AB96-1D3C53EBCEE3}" destId="{5771CF2B-67A0-4AAF-AD64-28DB18FB123C}" srcOrd="0" destOrd="0" presId="urn:microsoft.com/office/officeart/2018/2/layout/IconVerticalSolidList"/>
    <dgm:cxn modelId="{E7A7C349-C190-4D51-9097-4DF628CFFC39}" type="presOf" srcId="{41886F20-D30C-401C-B550-0B8C6C31CF00}" destId="{B22ECCA1-6CE9-4C2E-99F4-62227A27BB30}" srcOrd="0" destOrd="0" presId="urn:microsoft.com/office/officeart/2018/2/layout/IconVerticalSolidList"/>
    <dgm:cxn modelId="{C1D8C47D-039F-4766-9934-8D8664ABF3D6}" type="presOf" srcId="{C7D11C8C-63C0-416F-AF2B-3D77E127DDC4}" destId="{6DA3DAD0-26C7-4C62-ACD4-81109899C3E8}" srcOrd="0" destOrd="0" presId="urn:microsoft.com/office/officeart/2018/2/layout/IconVerticalSolidList"/>
    <dgm:cxn modelId="{6F09B19E-A26B-425E-9FE8-219CC4CB0FC4}" srcId="{C7D11C8C-63C0-416F-AF2B-3D77E127DDC4}" destId="{41886F20-D30C-401C-B550-0B8C6C31CF00}" srcOrd="1" destOrd="0" parTransId="{8A2A833A-1214-42A8-AFBB-4554599AC7E8}" sibTransId="{5D5304D5-3C8F-41C0-8833-B4B0AD13463A}"/>
    <dgm:cxn modelId="{DD1F609C-6974-42E9-84EB-54C7679D0BCD}" type="presParOf" srcId="{6DA3DAD0-26C7-4C62-ACD4-81109899C3E8}" destId="{85DBA404-58E1-4423-9979-550FFEC14EE3}" srcOrd="0" destOrd="0" presId="urn:microsoft.com/office/officeart/2018/2/layout/IconVerticalSolidList"/>
    <dgm:cxn modelId="{7D607DD4-AA49-4E16-8A3F-10571E2C3D18}" type="presParOf" srcId="{85DBA404-58E1-4423-9979-550FFEC14EE3}" destId="{61C47217-689E-44D6-9698-94AA23A83C69}" srcOrd="0" destOrd="0" presId="urn:microsoft.com/office/officeart/2018/2/layout/IconVerticalSolidList"/>
    <dgm:cxn modelId="{ECA9329A-3644-40BC-8C88-435E025190F6}" type="presParOf" srcId="{85DBA404-58E1-4423-9979-550FFEC14EE3}" destId="{20D99B60-75E9-43EF-BE75-9559D31C6773}" srcOrd="1" destOrd="0" presId="urn:microsoft.com/office/officeart/2018/2/layout/IconVerticalSolidList"/>
    <dgm:cxn modelId="{86556C8D-9382-49DD-BEE9-100725304DA7}" type="presParOf" srcId="{85DBA404-58E1-4423-9979-550FFEC14EE3}" destId="{B439AE13-92A6-4352-BACD-C035AD763CF8}" srcOrd="2" destOrd="0" presId="urn:microsoft.com/office/officeart/2018/2/layout/IconVerticalSolidList"/>
    <dgm:cxn modelId="{0D1C553A-B8E1-4E9E-972E-09A28D0295F4}" type="presParOf" srcId="{85DBA404-58E1-4423-9979-550FFEC14EE3}" destId="{5771CF2B-67A0-4AAF-AD64-28DB18FB123C}" srcOrd="3" destOrd="0" presId="urn:microsoft.com/office/officeart/2018/2/layout/IconVerticalSolidList"/>
    <dgm:cxn modelId="{F4E58A1D-C049-42DD-9D59-0A345D20B4CD}" type="presParOf" srcId="{6DA3DAD0-26C7-4C62-ACD4-81109899C3E8}" destId="{6C3FDFC5-1295-44FD-B623-2F9CD2C2A0E0}" srcOrd="1" destOrd="0" presId="urn:microsoft.com/office/officeart/2018/2/layout/IconVerticalSolidList"/>
    <dgm:cxn modelId="{71B3FA8F-53DF-4C46-A5D2-3B938B2C36F0}" type="presParOf" srcId="{6DA3DAD0-26C7-4C62-ACD4-81109899C3E8}" destId="{0158BF05-15E2-4700-AC7F-E52347C78221}" srcOrd="2" destOrd="0" presId="urn:microsoft.com/office/officeart/2018/2/layout/IconVerticalSolidList"/>
    <dgm:cxn modelId="{83AF9161-04B4-46E4-924A-B51A501EBA61}" type="presParOf" srcId="{0158BF05-15E2-4700-AC7F-E52347C78221}" destId="{377B72A7-4255-4DE6-A50F-1548A133C8B4}" srcOrd="0" destOrd="0" presId="urn:microsoft.com/office/officeart/2018/2/layout/IconVerticalSolidList"/>
    <dgm:cxn modelId="{DB35CF34-6950-4A29-AD01-93DDC2767B71}" type="presParOf" srcId="{0158BF05-15E2-4700-AC7F-E52347C78221}" destId="{865AE132-9861-4AED-B318-172BE7B9B713}" srcOrd="1" destOrd="0" presId="urn:microsoft.com/office/officeart/2018/2/layout/IconVerticalSolidList"/>
    <dgm:cxn modelId="{B82C1094-23F5-49AB-9D75-E0CF7378F0A5}" type="presParOf" srcId="{0158BF05-15E2-4700-AC7F-E52347C78221}" destId="{DD42198B-8389-4AE3-9082-231C9C83F92C}" srcOrd="2" destOrd="0" presId="urn:microsoft.com/office/officeart/2018/2/layout/IconVerticalSolidList"/>
    <dgm:cxn modelId="{CE6DCFBC-6EC5-4FFF-9019-3459E97D407C}" type="presParOf" srcId="{0158BF05-15E2-4700-AC7F-E52347C78221}" destId="{B22ECCA1-6CE9-4C2E-99F4-62227A27BB3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7110A0A-057C-4404-9F69-4411B949C084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D181226F-AEA1-4C3A-8A70-BFB00F75B800}">
      <dgm:prSet custT="1"/>
      <dgm:spPr>
        <a:solidFill>
          <a:schemeClr val="accent2">
            <a:lumMod val="50000"/>
          </a:schemeClr>
        </a:solidFill>
      </dgm:spPr>
      <dgm:t>
        <a:bodyPr/>
        <a:lstStyle/>
        <a:p>
          <a:r>
            <a:rPr lang="en-US" sz="1500" b="1" dirty="0">
              <a:latin typeface="Aptos" panose="020B0004020202020204" pitchFamily="34" charset="0"/>
            </a:rPr>
            <a:t>Magnetic Flux density (B)</a:t>
          </a:r>
          <a:endParaRPr lang="en-IN" sz="1500" b="1" dirty="0">
            <a:latin typeface="Aptos" panose="020B0004020202020204" pitchFamily="34" charset="0"/>
          </a:endParaRPr>
        </a:p>
      </dgm:t>
    </dgm:pt>
    <dgm:pt modelId="{76D6733E-E016-4C55-9BC7-A44CB6B79DBD}" type="parTrans" cxnId="{0492A097-060D-4199-8894-18BF21CB5887}">
      <dgm:prSet/>
      <dgm:spPr/>
      <dgm:t>
        <a:bodyPr/>
        <a:lstStyle/>
        <a:p>
          <a:endParaRPr lang="en-IN" sz="2400" b="1"/>
        </a:p>
      </dgm:t>
    </dgm:pt>
    <dgm:pt modelId="{3CA1640B-0D56-44A6-BB56-6B7A4D7C5AE1}" type="sibTrans" cxnId="{0492A097-060D-4199-8894-18BF21CB5887}">
      <dgm:prSet/>
      <dgm:spPr/>
      <dgm:t>
        <a:bodyPr/>
        <a:lstStyle/>
        <a:p>
          <a:endParaRPr lang="en-IN" sz="2400" b="1"/>
        </a:p>
      </dgm:t>
    </dgm:pt>
    <dgm:pt modelId="{89A0E655-B33D-4F2C-9049-A0487FE9FF88}">
      <dgm:prSet custT="1"/>
      <dgm:spPr/>
      <dgm:t>
        <a:bodyPr/>
        <a:lstStyle/>
        <a:p>
          <a:r>
            <a:rPr lang="en-US" sz="1500" b="1" dirty="0">
              <a:latin typeface="Aptos" panose="020B0004020202020204" pitchFamily="34" charset="0"/>
            </a:rPr>
            <a:t>Magnetic Field strength (H)</a:t>
          </a:r>
          <a:endParaRPr lang="en-IN" sz="1500" b="1" dirty="0">
            <a:latin typeface="Aptos" panose="020B0004020202020204" pitchFamily="34" charset="0"/>
          </a:endParaRPr>
        </a:p>
      </dgm:t>
    </dgm:pt>
    <dgm:pt modelId="{161F5802-D220-4468-AB10-02D378FEF463}" type="parTrans" cxnId="{FC539711-633F-41E2-9C2C-E0A12D45F31E}">
      <dgm:prSet/>
      <dgm:spPr/>
      <dgm:t>
        <a:bodyPr/>
        <a:lstStyle/>
        <a:p>
          <a:endParaRPr lang="en-IN" sz="2400" b="1"/>
        </a:p>
      </dgm:t>
    </dgm:pt>
    <dgm:pt modelId="{505EDD95-A5DB-4151-8CBB-B98713340137}" type="sibTrans" cxnId="{FC539711-633F-41E2-9C2C-E0A12D45F31E}">
      <dgm:prSet/>
      <dgm:spPr/>
      <dgm:t>
        <a:bodyPr/>
        <a:lstStyle/>
        <a:p>
          <a:endParaRPr lang="en-IN" sz="2400" b="1"/>
        </a:p>
      </dgm:t>
    </dgm:pt>
    <dgm:pt modelId="{E2B3E31C-4DF9-4ACB-83A2-A9E533F3A035}">
      <dgm:prSet custT="1"/>
      <dgm:spPr/>
      <dgm:t>
        <a:bodyPr/>
        <a:lstStyle/>
        <a:p>
          <a:r>
            <a:rPr lang="en-US" sz="1500" b="1" dirty="0">
              <a:latin typeface="Aptos" panose="020B0004020202020204" pitchFamily="34" charset="0"/>
            </a:rPr>
            <a:t>For straight conductor </a:t>
          </a:r>
          <a:endParaRPr lang="en-IN" sz="1500" b="1" dirty="0">
            <a:latin typeface="Aptos" panose="020B0004020202020204" pitchFamily="34" charset="0"/>
          </a:endParaRPr>
        </a:p>
      </dgm:t>
    </dgm:pt>
    <dgm:pt modelId="{B0418476-D078-4B19-814B-01716FFB4247}" type="parTrans" cxnId="{1458A8FC-50EB-4061-B313-039D369C5521}">
      <dgm:prSet/>
      <dgm:spPr/>
      <dgm:t>
        <a:bodyPr/>
        <a:lstStyle/>
        <a:p>
          <a:endParaRPr lang="en-IN" sz="2400" b="1"/>
        </a:p>
      </dgm:t>
    </dgm:pt>
    <dgm:pt modelId="{0282F617-F5CF-49A9-A2B0-FC54B5CC3AD8}" type="sibTrans" cxnId="{1458A8FC-50EB-4061-B313-039D369C5521}">
      <dgm:prSet/>
      <dgm:spPr/>
      <dgm:t>
        <a:bodyPr/>
        <a:lstStyle/>
        <a:p>
          <a:endParaRPr lang="en-IN" sz="2400" b="1"/>
        </a:p>
      </dgm:t>
    </dgm:pt>
    <dgm:pt modelId="{6B6189EB-7D75-4366-8736-127ADADC9EF8}">
      <dgm:prSet custT="1"/>
      <dgm:spPr/>
      <dgm:t>
        <a:bodyPr/>
        <a:lstStyle/>
        <a:p>
          <a:r>
            <a:rPr lang="en-US" sz="1500" b="1" dirty="0">
              <a:latin typeface="Aptos" panose="020B0004020202020204" pitchFamily="34" charset="0"/>
            </a:rPr>
            <a:t>For coil </a:t>
          </a:r>
          <a:endParaRPr lang="en-IN" sz="1500" b="1" dirty="0">
            <a:latin typeface="Aptos" panose="020B0004020202020204" pitchFamily="34" charset="0"/>
          </a:endParaRPr>
        </a:p>
      </dgm:t>
    </dgm:pt>
    <dgm:pt modelId="{306FFB41-B5A0-4C02-9BEB-B4CCAC7D22E7}" type="parTrans" cxnId="{4F1E1704-4E64-4C6E-8296-8F9A3F5CB85A}">
      <dgm:prSet/>
      <dgm:spPr/>
      <dgm:t>
        <a:bodyPr/>
        <a:lstStyle/>
        <a:p>
          <a:endParaRPr lang="en-IN" sz="2400" b="1"/>
        </a:p>
      </dgm:t>
    </dgm:pt>
    <dgm:pt modelId="{A7DFB4AF-D20F-43E6-A54A-A9CE1E705560}" type="sibTrans" cxnId="{4F1E1704-4E64-4C6E-8296-8F9A3F5CB85A}">
      <dgm:prSet/>
      <dgm:spPr/>
      <dgm:t>
        <a:bodyPr/>
        <a:lstStyle/>
        <a:p>
          <a:endParaRPr lang="en-IN" sz="2400" b="1"/>
        </a:p>
      </dgm:t>
    </dgm:pt>
    <dgm:pt modelId="{347C4635-21E9-44C2-8292-A9991A136132}">
      <dgm:prSet custT="1"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n-US" sz="1500" b="1" dirty="0">
              <a:latin typeface="Aptos" panose="020B0004020202020204" pitchFamily="34" charset="0"/>
            </a:rPr>
            <a:t>Permeability (µ)</a:t>
          </a:r>
          <a:endParaRPr lang="en-IN" sz="1500" b="1" dirty="0">
            <a:latin typeface="Aptos" panose="020B0004020202020204" pitchFamily="34" charset="0"/>
          </a:endParaRPr>
        </a:p>
      </dgm:t>
    </dgm:pt>
    <dgm:pt modelId="{56968AA4-14F6-4BCD-9F0E-33FEC60C3352}" type="parTrans" cxnId="{393E1FF9-24F7-4A11-9BF5-909F6D6E9113}">
      <dgm:prSet/>
      <dgm:spPr/>
      <dgm:t>
        <a:bodyPr/>
        <a:lstStyle/>
        <a:p>
          <a:endParaRPr lang="en-IN" sz="2400" b="1"/>
        </a:p>
      </dgm:t>
    </dgm:pt>
    <dgm:pt modelId="{93A1B8F8-FF50-48AC-B23F-50A259C869CE}" type="sibTrans" cxnId="{393E1FF9-24F7-4A11-9BF5-909F6D6E9113}">
      <dgm:prSet/>
      <dgm:spPr/>
      <dgm:t>
        <a:bodyPr/>
        <a:lstStyle/>
        <a:p>
          <a:endParaRPr lang="en-IN" sz="2400" b="1"/>
        </a:p>
      </dgm:t>
    </dgm:pt>
    <dgm:pt modelId="{B4FCBD03-979E-4110-9103-64240BCD249A}">
      <dgm:prSet custT="1"/>
      <dgm:spPr/>
      <dgm:t>
        <a:bodyPr/>
        <a:lstStyle/>
        <a:p>
          <a:r>
            <a:rPr lang="en-IN" sz="1500" b="1" dirty="0">
              <a:latin typeface="Aptos" panose="020B0004020202020204" pitchFamily="34" charset="0"/>
            </a:rPr>
            <a:t>Absolute Permeability of free space /material</a:t>
          </a:r>
        </a:p>
      </dgm:t>
    </dgm:pt>
    <dgm:pt modelId="{FE3B4531-8521-430B-8865-AC9F01A0D76E}" type="parTrans" cxnId="{DAE98D11-8B62-4A7E-8C1A-06D8766862B9}">
      <dgm:prSet/>
      <dgm:spPr/>
      <dgm:t>
        <a:bodyPr/>
        <a:lstStyle/>
        <a:p>
          <a:endParaRPr lang="en-IN" sz="2400" b="1"/>
        </a:p>
      </dgm:t>
    </dgm:pt>
    <dgm:pt modelId="{29F835AB-D913-4E45-8E90-9BB2DD164162}" type="sibTrans" cxnId="{DAE98D11-8B62-4A7E-8C1A-06D8766862B9}">
      <dgm:prSet/>
      <dgm:spPr/>
      <dgm:t>
        <a:bodyPr/>
        <a:lstStyle/>
        <a:p>
          <a:endParaRPr lang="en-IN" sz="2400" b="1"/>
        </a:p>
      </dgm:t>
    </dgm:pt>
    <dgm:pt modelId="{0C724DDC-F7EF-49CB-BEDD-364609895B6C}">
      <dgm:prSet custT="1"/>
      <dgm:spPr/>
      <dgm:t>
        <a:bodyPr/>
        <a:lstStyle/>
        <a:p>
          <a:r>
            <a:rPr lang="en-IN" sz="1500" b="1" dirty="0">
              <a:latin typeface="Aptos" panose="020B0004020202020204" pitchFamily="34" charset="0"/>
            </a:rPr>
            <a:t>Relative Permeability</a:t>
          </a:r>
        </a:p>
      </dgm:t>
    </dgm:pt>
    <dgm:pt modelId="{2D814A6A-F394-4B90-AADF-9AF93A9673B5}" type="parTrans" cxnId="{DE6FA55A-9A5B-4C37-AB54-6FB6521E5DF8}">
      <dgm:prSet/>
      <dgm:spPr/>
      <dgm:t>
        <a:bodyPr/>
        <a:lstStyle/>
        <a:p>
          <a:endParaRPr lang="en-IN" sz="2400" b="1"/>
        </a:p>
      </dgm:t>
    </dgm:pt>
    <dgm:pt modelId="{5CDC07AE-6892-47FE-BFEB-C9555E15D776}" type="sibTrans" cxnId="{DE6FA55A-9A5B-4C37-AB54-6FB6521E5DF8}">
      <dgm:prSet/>
      <dgm:spPr/>
      <dgm:t>
        <a:bodyPr/>
        <a:lstStyle/>
        <a:p>
          <a:endParaRPr lang="en-IN" sz="2400" b="1"/>
        </a:p>
      </dgm:t>
    </dgm:pt>
    <dgm:pt modelId="{9D40DCBA-A3FE-4E6F-AB37-11D46707F244}">
      <dgm:prSet custT="1"/>
      <dgm:spPr>
        <a:solidFill>
          <a:schemeClr val="accent5">
            <a:lumMod val="50000"/>
          </a:schemeClr>
        </a:solidFill>
      </dgm:spPr>
      <dgm:t>
        <a:bodyPr/>
        <a:lstStyle/>
        <a:p>
          <a:r>
            <a:rPr lang="en-IN" sz="1500" b="1" dirty="0">
              <a:latin typeface="Aptos" panose="020B0004020202020204" pitchFamily="34" charset="0"/>
            </a:rPr>
            <a:t>Magnetomotive Force (MMF)</a:t>
          </a:r>
        </a:p>
      </dgm:t>
    </dgm:pt>
    <dgm:pt modelId="{9E270273-D7AA-45EB-8692-D43DFCB4C770}" type="parTrans" cxnId="{BEFFE0A4-F98E-4171-A81C-FD23A07E6B6B}">
      <dgm:prSet/>
      <dgm:spPr/>
      <dgm:t>
        <a:bodyPr/>
        <a:lstStyle/>
        <a:p>
          <a:endParaRPr lang="en-IN" sz="2400" b="1"/>
        </a:p>
      </dgm:t>
    </dgm:pt>
    <dgm:pt modelId="{903BB2C5-EDD3-471E-B3A4-75FEAAB79F93}" type="sibTrans" cxnId="{BEFFE0A4-F98E-4171-A81C-FD23A07E6B6B}">
      <dgm:prSet/>
      <dgm:spPr/>
      <dgm:t>
        <a:bodyPr/>
        <a:lstStyle/>
        <a:p>
          <a:endParaRPr lang="en-IN" sz="2400" b="1"/>
        </a:p>
      </dgm:t>
    </dgm:pt>
    <dgm:pt modelId="{C2223DC8-0FDC-44C2-BA33-183EA1FB02D0}">
      <dgm:prSet custT="1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IN" sz="1500" b="1" dirty="0">
              <a:latin typeface="Aptos" panose="020B0004020202020204" pitchFamily="34" charset="0"/>
            </a:rPr>
            <a:t>Reluctance and Permeance</a:t>
          </a:r>
        </a:p>
      </dgm:t>
    </dgm:pt>
    <dgm:pt modelId="{F28B8D3B-A49A-4C91-A4E8-096B07684AB6}" type="parTrans" cxnId="{39E2C81D-92BB-45F0-8C7C-516C532E603B}">
      <dgm:prSet/>
      <dgm:spPr/>
      <dgm:t>
        <a:bodyPr/>
        <a:lstStyle/>
        <a:p>
          <a:endParaRPr lang="en-IN" sz="2400" b="1"/>
        </a:p>
      </dgm:t>
    </dgm:pt>
    <dgm:pt modelId="{182230DC-38EC-4F73-9A2A-C49304728602}" type="sibTrans" cxnId="{39E2C81D-92BB-45F0-8C7C-516C532E603B}">
      <dgm:prSet/>
      <dgm:spPr/>
      <dgm:t>
        <a:bodyPr/>
        <a:lstStyle/>
        <a:p>
          <a:endParaRPr lang="en-IN" sz="2400" b="1"/>
        </a:p>
      </dgm:t>
    </dgm:pt>
    <dgm:pt modelId="{1A527F5E-6740-4106-94CD-1B663EFD3FA8}" type="pres">
      <dgm:prSet presAssocID="{D7110A0A-057C-4404-9F69-4411B949C084}" presName="linear" presStyleCnt="0">
        <dgm:presLayoutVars>
          <dgm:dir/>
          <dgm:animLvl val="lvl"/>
          <dgm:resizeHandles val="exact"/>
        </dgm:presLayoutVars>
      </dgm:prSet>
      <dgm:spPr/>
    </dgm:pt>
    <dgm:pt modelId="{71E0B292-0125-4E5F-8185-D3D7F029E2AD}" type="pres">
      <dgm:prSet presAssocID="{D181226F-AEA1-4C3A-8A70-BFB00F75B800}" presName="parentLin" presStyleCnt="0"/>
      <dgm:spPr/>
    </dgm:pt>
    <dgm:pt modelId="{E9AB4B7B-AD13-4C7A-8808-8476AA2AA2EA}" type="pres">
      <dgm:prSet presAssocID="{D181226F-AEA1-4C3A-8A70-BFB00F75B800}" presName="parentLeftMargin" presStyleLbl="node1" presStyleIdx="0" presStyleCnt="5"/>
      <dgm:spPr/>
    </dgm:pt>
    <dgm:pt modelId="{6706762F-ED53-4319-B741-0AF6031E1B68}" type="pres">
      <dgm:prSet presAssocID="{D181226F-AEA1-4C3A-8A70-BFB00F75B800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B49576B1-B8DE-4266-BB44-203E47DEAA17}" type="pres">
      <dgm:prSet presAssocID="{D181226F-AEA1-4C3A-8A70-BFB00F75B800}" presName="negativeSpace" presStyleCnt="0"/>
      <dgm:spPr/>
    </dgm:pt>
    <dgm:pt modelId="{E3D6B6F7-1876-4595-AE54-390395247423}" type="pres">
      <dgm:prSet presAssocID="{D181226F-AEA1-4C3A-8A70-BFB00F75B800}" presName="childText" presStyleLbl="conFgAcc1" presStyleIdx="0" presStyleCnt="5">
        <dgm:presLayoutVars>
          <dgm:bulletEnabled val="1"/>
        </dgm:presLayoutVars>
      </dgm:prSet>
      <dgm:spPr/>
    </dgm:pt>
    <dgm:pt modelId="{3365472B-ABDD-4C2E-88DA-4F253EEFD3F7}" type="pres">
      <dgm:prSet presAssocID="{3CA1640B-0D56-44A6-BB56-6B7A4D7C5AE1}" presName="spaceBetweenRectangles" presStyleCnt="0"/>
      <dgm:spPr/>
    </dgm:pt>
    <dgm:pt modelId="{E832B5FC-48F7-4C1A-B5BC-5A68D8F8CF9E}" type="pres">
      <dgm:prSet presAssocID="{89A0E655-B33D-4F2C-9049-A0487FE9FF88}" presName="parentLin" presStyleCnt="0"/>
      <dgm:spPr/>
    </dgm:pt>
    <dgm:pt modelId="{A0A08FAB-8FA3-4B01-8761-CC7444F3A46F}" type="pres">
      <dgm:prSet presAssocID="{89A0E655-B33D-4F2C-9049-A0487FE9FF88}" presName="parentLeftMargin" presStyleLbl="node1" presStyleIdx="0" presStyleCnt="5"/>
      <dgm:spPr/>
    </dgm:pt>
    <dgm:pt modelId="{7A1BE148-6E69-4EBD-A56B-DAA9C78DDA5E}" type="pres">
      <dgm:prSet presAssocID="{89A0E655-B33D-4F2C-9049-A0487FE9FF88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55B004AD-09A5-42DB-BD98-EF04679EA55A}" type="pres">
      <dgm:prSet presAssocID="{89A0E655-B33D-4F2C-9049-A0487FE9FF88}" presName="negativeSpace" presStyleCnt="0"/>
      <dgm:spPr/>
    </dgm:pt>
    <dgm:pt modelId="{EC9369FC-699B-42BC-909B-1749ED5A98ED}" type="pres">
      <dgm:prSet presAssocID="{89A0E655-B33D-4F2C-9049-A0487FE9FF88}" presName="childText" presStyleLbl="conFgAcc1" presStyleIdx="1" presStyleCnt="5">
        <dgm:presLayoutVars>
          <dgm:bulletEnabled val="1"/>
        </dgm:presLayoutVars>
      </dgm:prSet>
      <dgm:spPr/>
    </dgm:pt>
    <dgm:pt modelId="{7E5C0220-BED9-49C9-8A42-90BE40EFE942}" type="pres">
      <dgm:prSet presAssocID="{505EDD95-A5DB-4151-8CBB-B98713340137}" presName="spaceBetweenRectangles" presStyleCnt="0"/>
      <dgm:spPr/>
    </dgm:pt>
    <dgm:pt modelId="{8FFA805D-928E-44C6-9DDD-A1C3F2766E42}" type="pres">
      <dgm:prSet presAssocID="{347C4635-21E9-44C2-8292-A9991A136132}" presName="parentLin" presStyleCnt="0"/>
      <dgm:spPr/>
    </dgm:pt>
    <dgm:pt modelId="{65C38DCE-5990-4FBA-86A7-E29C4DFC8692}" type="pres">
      <dgm:prSet presAssocID="{347C4635-21E9-44C2-8292-A9991A136132}" presName="parentLeftMargin" presStyleLbl="node1" presStyleIdx="1" presStyleCnt="5"/>
      <dgm:spPr/>
    </dgm:pt>
    <dgm:pt modelId="{34CC3A5A-ADBE-4E46-9A0A-8333F32FA6AC}" type="pres">
      <dgm:prSet presAssocID="{347C4635-21E9-44C2-8292-A9991A136132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5F01BA64-6A4B-421E-8F7F-95855169B27F}" type="pres">
      <dgm:prSet presAssocID="{347C4635-21E9-44C2-8292-A9991A136132}" presName="negativeSpace" presStyleCnt="0"/>
      <dgm:spPr/>
    </dgm:pt>
    <dgm:pt modelId="{8DF7CAF2-B3B8-4DFB-A4B8-A3F486DC02AC}" type="pres">
      <dgm:prSet presAssocID="{347C4635-21E9-44C2-8292-A9991A136132}" presName="childText" presStyleLbl="conFgAcc1" presStyleIdx="2" presStyleCnt="5">
        <dgm:presLayoutVars>
          <dgm:bulletEnabled val="1"/>
        </dgm:presLayoutVars>
      </dgm:prSet>
      <dgm:spPr/>
    </dgm:pt>
    <dgm:pt modelId="{FA5125C5-F4EA-4656-94E5-FB8AD310587F}" type="pres">
      <dgm:prSet presAssocID="{93A1B8F8-FF50-48AC-B23F-50A259C869CE}" presName="spaceBetweenRectangles" presStyleCnt="0"/>
      <dgm:spPr/>
    </dgm:pt>
    <dgm:pt modelId="{DF2A4CD8-36D5-46EB-83F8-269B24C2C23B}" type="pres">
      <dgm:prSet presAssocID="{9D40DCBA-A3FE-4E6F-AB37-11D46707F244}" presName="parentLin" presStyleCnt="0"/>
      <dgm:spPr/>
    </dgm:pt>
    <dgm:pt modelId="{E383A1B6-6647-4A1C-A563-E830BC36FFA8}" type="pres">
      <dgm:prSet presAssocID="{9D40DCBA-A3FE-4E6F-AB37-11D46707F244}" presName="parentLeftMargin" presStyleLbl="node1" presStyleIdx="2" presStyleCnt="5"/>
      <dgm:spPr/>
    </dgm:pt>
    <dgm:pt modelId="{D243A965-82BB-44CF-81A5-8B87439BFA18}" type="pres">
      <dgm:prSet presAssocID="{9D40DCBA-A3FE-4E6F-AB37-11D46707F244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4AEFC207-9C19-480A-9B77-71B1DDBF1D9B}" type="pres">
      <dgm:prSet presAssocID="{9D40DCBA-A3FE-4E6F-AB37-11D46707F244}" presName="negativeSpace" presStyleCnt="0"/>
      <dgm:spPr/>
    </dgm:pt>
    <dgm:pt modelId="{F9729100-4918-4B2C-B523-3433410340F1}" type="pres">
      <dgm:prSet presAssocID="{9D40DCBA-A3FE-4E6F-AB37-11D46707F244}" presName="childText" presStyleLbl="conFgAcc1" presStyleIdx="3" presStyleCnt="5">
        <dgm:presLayoutVars>
          <dgm:bulletEnabled val="1"/>
        </dgm:presLayoutVars>
      </dgm:prSet>
      <dgm:spPr/>
    </dgm:pt>
    <dgm:pt modelId="{84DA6817-1A76-4230-9D39-904D8B3E7C87}" type="pres">
      <dgm:prSet presAssocID="{903BB2C5-EDD3-471E-B3A4-75FEAAB79F93}" presName="spaceBetweenRectangles" presStyleCnt="0"/>
      <dgm:spPr/>
    </dgm:pt>
    <dgm:pt modelId="{E9E2740C-FB50-44FB-A10A-52843C5A09F3}" type="pres">
      <dgm:prSet presAssocID="{C2223DC8-0FDC-44C2-BA33-183EA1FB02D0}" presName="parentLin" presStyleCnt="0"/>
      <dgm:spPr/>
    </dgm:pt>
    <dgm:pt modelId="{E3559598-8854-48F9-A097-7898319B56B2}" type="pres">
      <dgm:prSet presAssocID="{C2223DC8-0FDC-44C2-BA33-183EA1FB02D0}" presName="parentLeftMargin" presStyleLbl="node1" presStyleIdx="3" presStyleCnt="5"/>
      <dgm:spPr/>
    </dgm:pt>
    <dgm:pt modelId="{02A74CA3-681A-4F21-82CD-D011450B34A8}" type="pres">
      <dgm:prSet presAssocID="{C2223DC8-0FDC-44C2-BA33-183EA1FB02D0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0D03AD46-1CB2-4CB6-8D6F-FD70D38DC09A}" type="pres">
      <dgm:prSet presAssocID="{C2223DC8-0FDC-44C2-BA33-183EA1FB02D0}" presName="negativeSpace" presStyleCnt="0"/>
      <dgm:spPr/>
    </dgm:pt>
    <dgm:pt modelId="{D3CCB29D-1BD7-45BC-B267-41D7CD4C2FAB}" type="pres">
      <dgm:prSet presAssocID="{C2223DC8-0FDC-44C2-BA33-183EA1FB02D0}" presName="childText" presStyleLbl="conFgAcc1" presStyleIdx="4" presStyleCnt="5" custLinFactNeighborX="123" custLinFactNeighborY="9107">
        <dgm:presLayoutVars>
          <dgm:bulletEnabled val="1"/>
        </dgm:presLayoutVars>
      </dgm:prSet>
      <dgm:spPr/>
    </dgm:pt>
  </dgm:ptLst>
  <dgm:cxnLst>
    <dgm:cxn modelId="{44FC8A03-9AB6-45D8-A9BA-BFD74EB595A7}" type="presOf" srcId="{0C724DDC-F7EF-49CB-BEDD-364609895B6C}" destId="{8DF7CAF2-B3B8-4DFB-A4B8-A3F486DC02AC}" srcOrd="0" destOrd="1" presId="urn:microsoft.com/office/officeart/2005/8/layout/list1"/>
    <dgm:cxn modelId="{4F1E1704-4E64-4C6E-8296-8F9A3F5CB85A}" srcId="{89A0E655-B33D-4F2C-9049-A0487FE9FF88}" destId="{6B6189EB-7D75-4366-8736-127ADADC9EF8}" srcOrd="1" destOrd="0" parTransId="{306FFB41-B5A0-4C02-9BEB-B4CCAC7D22E7}" sibTransId="{A7DFB4AF-D20F-43E6-A54A-A9CE1E705560}"/>
    <dgm:cxn modelId="{B29D3F0D-A0D5-4711-974A-9EC956854C1D}" type="presOf" srcId="{89A0E655-B33D-4F2C-9049-A0487FE9FF88}" destId="{7A1BE148-6E69-4EBD-A56B-DAA9C78DDA5E}" srcOrd="1" destOrd="0" presId="urn:microsoft.com/office/officeart/2005/8/layout/list1"/>
    <dgm:cxn modelId="{DAE98D11-8B62-4A7E-8C1A-06D8766862B9}" srcId="{347C4635-21E9-44C2-8292-A9991A136132}" destId="{B4FCBD03-979E-4110-9103-64240BCD249A}" srcOrd="0" destOrd="0" parTransId="{FE3B4531-8521-430B-8865-AC9F01A0D76E}" sibTransId="{29F835AB-D913-4E45-8E90-9BB2DD164162}"/>
    <dgm:cxn modelId="{FC539711-633F-41E2-9C2C-E0A12D45F31E}" srcId="{D7110A0A-057C-4404-9F69-4411B949C084}" destId="{89A0E655-B33D-4F2C-9049-A0487FE9FF88}" srcOrd="1" destOrd="0" parTransId="{161F5802-D220-4468-AB10-02D378FEF463}" sibTransId="{505EDD95-A5DB-4151-8CBB-B98713340137}"/>
    <dgm:cxn modelId="{88695E1D-E7EB-4686-A38B-5A20E41C4761}" type="presOf" srcId="{C2223DC8-0FDC-44C2-BA33-183EA1FB02D0}" destId="{E3559598-8854-48F9-A097-7898319B56B2}" srcOrd="0" destOrd="0" presId="urn:microsoft.com/office/officeart/2005/8/layout/list1"/>
    <dgm:cxn modelId="{39E2C81D-92BB-45F0-8C7C-516C532E603B}" srcId="{D7110A0A-057C-4404-9F69-4411B949C084}" destId="{C2223DC8-0FDC-44C2-BA33-183EA1FB02D0}" srcOrd="4" destOrd="0" parTransId="{F28B8D3B-A49A-4C91-A4E8-096B07684AB6}" sibTransId="{182230DC-38EC-4F73-9A2A-C49304728602}"/>
    <dgm:cxn modelId="{33615027-8A8A-43DF-BF8F-1FAA4F419ED7}" type="presOf" srcId="{B4FCBD03-979E-4110-9103-64240BCD249A}" destId="{8DF7CAF2-B3B8-4DFB-A4B8-A3F486DC02AC}" srcOrd="0" destOrd="0" presId="urn:microsoft.com/office/officeart/2005/8/layout/list1"/>
    <dgm:cxn modelId="{816F322A-A5D7-46A5-85BF-5B53CD21350B}" type="presOf" srcId="{89A0E655-B33D-4F2C-9049-A0487FE9FF88}" destId="{A0A08FAB-8FA3-4B01-8761-CC7444F3A46F}" srcOrd="0" destOrd="0" presId="urn:microsoft.com/office/officeart/2005/8/layout/list1"/>
    <dgm:cxn modelId="{E67C9F3B-C096-4436-B6B7-C2FC42648DFC}" type="presOf" srcId="{6B6189EB-7D75-4366-8736-127ADADC9EF8}" destId="{EC9369FC-699B-42BC-909B-1749ED5A98ED}" srcOrd="0" destOrd="1" presId="urn:microsoft.com/office/officeart/2005/8/layout/list1"/>
    <dgm:cxn modelId="{F8C36E55-5A8C-4AC5-96EC-C876CE136934}" type="presOf" srcId="{9D40DCBA-A3FE-4E6F-AB37-11D46707F244}" destId="{E383A1B6-6647-4A1C-A563-E830BC36FFA8}" srcOrd="0" destOrd="0" presId="urn:microsoft.com/office/officeart/2005/8/layout/list1"/>
    <dgm:cxn modelId="{8730EB57-0114-4483-A0C9-8E8BFAE28F48}" type="presOf" srcId="{347C4635-21E9-44C2-8292-A9991A136132}" destId="{34CC3A5A-ADBE-4E46-9A0A-8333F32FA6AC}" srcOrd="1" destOrd="0" presId="urn:microsoft.com/office/officeart/2005/8/layout/list1"/>
    <dgm:cxn modelId="{D4EA5E59-DE22-4A2D-B228-F76A0139D0F2}" type="presOf" srcId="{9D40DCBA-A3FE-4E6F-AB37-11D46707F244}" destId="{D243A965-82BB-44CF-81A5-8B87439BFA18}" srcOrd="1" destOrd="0" presId="urn:microsoft.com/office/officeart/2005/8/layout/list1"/>
    <dgm:cxn modelId="{DE6FA55A-9A5B-4C37-AB54-6FB6521E5DF8}" srcId="{347C4635-21E9-44C2-8292-A9991A136132}" destId="{0C724DDC-F7EF-49CB-BEDD-364609895B6C}" srcOrd="1" destOrd="0" parTransId="{2D814A6A-F394-4B90-AADF-9AF93A9673B5}" sibTransId="{5CDC07AE-6892-47FE-BFEB-C9555E15D776}"/>
    <dgm:cxn modelId="{B32E8181-FB41-43DB-BF13-B9E43F69E322}" type="presOf" srcId="{D181226F-AEA1-4C3A-8A70-BFB00F75B800}" destId="{E9AB4B7B-AD13-4C7A-8808-8476AA2AA2EA}" srcOrd="0" destOrd="0" presId="urn:microsoft.com/office/officeart/2005/8/layout/list1"/>
    <dgm:cxn modelId="{0492A097-060D-4199-8894-18BF21CB5887}" srcId="{D7110A0A-057C-4404-9F69-4411B949C084}" destId="{D181226F-AEA1-4C3A-8A70-BFB00F75B800}" srcOrd="0" destOrd="0" parTransId="{76D6733E-E016-4C55-9BC7-A44CB6B79DBD}" sibTransId="{3CA1640B-0D56-44A6-BB56-6B7A4D7C5AE1}"/>
    <dgm:cxn modelId="{BEFFE0A4-F98E-4171-A81C-FD23A07E6B6B}" srcId="{D7110A0A-057C-4404-9F69-4411B949C084}" destId="{9D40DCBA-A3FE-4E6F-AB37-11D46707F244}" srcOrd="3" destOrd="0" parTransId="{9E270273-D7AA-45EB-8692-D43DFCB4C770}" sibTransId="{903BB2C5-EDD3-471E-B3A4-75FEAAB79F93}"/>
    <dgm:cxn modelId="{2EF773AC-53DD-4F31-98DF-5F1F0AB071C6}" type="presOf" srcId="{D7110A0A-057C-4404-9F69-4411B949C084}" destId="{1A527F5E-6740-4106-94CD-1B663EFD3FA8}" srcOrd="0" destOrd="0" presId="urn:microsoft.com/office/officeart/2005/8/layout/list1"/>
    <dgm:cxn modelId="{59DCB7B1-19F9-4BA1-8580-D67E6163DBB7}" type="presOf" srcId="{C2223DC8-0FDC-44C2-BA33-183EA1FB02D0}" destId="{02A74CA3-681A-4F21-82CD-D011450B34A8}" srcOrd="1" destOrd="0" presId="urn:microsoft.com/office/officeart/2005/8/layout/list1"/>
    <dgm:cxn modelId="{05049FC1-6813-4E05-BDE8-17CC8F5031EB}" type="presOf" srcId="{D181226F-AEA1-4C3A-8A70-BFB00F75B800}" destId="{6706762F-ED53-4319-B741-0AF6031E1B68}" srcOrd="1" destOrd="0" presId="urn:microsoft.com/office/officeart/2005/8/layout/list1"/>
    <dgm:cxn modelId="{7A8F7CEB-DCCA-474E-95F4-07058A2284D1}" type="presOf" srcId="{347C4635-21E9-44C2-8292-A9991A136132}" destId="{65C38DCE-5990-4FBA-86A7-E29C4DFC8692}" srcOrd="0" destOrd="0" presId="urn:microsoft.com/office/officeart/2005/8/layout/list1"/>
    <dgm:cxn modelId="{393E1FF9-24F7-4A11-9BF5-909F6D6E9113}" srcId="{D7110A0A-057C-4404-9F69-4411B949C084}" destId="{347C4635-21E9-44C2-8292-A9991A136132}" srcOrd="2" destOrd="0" parTransId="{56968AA4-14F6-4BCD-9F0E-33FEC60C3352}" sibTransId="{93A1B8F8-FF50-48AC-B23F-50A259C869CE}"/>
    <dgm:cxn modelId="{DC888AFB-9D28-48CA-A11B-35BCCCE821EC}" type="presOf" srcId="{E2B3E31C-4DF9-4ACB-83A2-A9E533F3A035}" destId="{EC9369FC-699B-42BC-909B-1749ED5A98ED}" srcOrd="0" destOrd="0" presId="urn:microsoft.com/office/officeart/2005/8/layout/list1"/>
    <dgm:cxn modelId="{1458A8FC-50EB-4061-B313-039D369C5521}" srcId="{89A0E655-B33D-4F2C-9049-A0487FE9FF88}" destId="{E2B3E31C-4DF9-4ACB-83A2-A9E533F3A035}" srcOrd="0" destOrd="0" parTransId="{B0418476-D078-4B19-814B-01716FFB4247}" sibTransId="{0282F617-F5CF-49A9-A2B0-FC54B5CC3AD8}"/>
    <dgm:cxn modelId="{C8747C61-DFE5-41BB-B6B5-DC38AFB054B2}" type="presParOf" srcId="{1A527F5E-6740-4106-94CD-1B663EFD3FA8}" destId="{71E0B292-0125-4E5F-8185-D3D7F029E2AD}" srcOrd="0" destOrd="0" presId="urn:microsoft.com/office/officeart/2005/8/layout/list1"/>
    <dgm:cxn modelId="{2F888F65-1CA7-472E-9ED0-F21DD2ACEF26}" type="presParOf" srcId="{71E0B292-0125-4E5F-8185-D3D7F029E2AD}" destId="{E9AB4B7B-AD13-4C7A-8808-8476AA2AA2EA}" srcOrd="0" destOrd="0" presId="urn:microsoft.com/office/officeart/2005/8/layout/list1"/>
    <dgm:cxn modelId="{B0D4B5F6-B5DE-4E94-8613-9B0720F2E762}" type="presParOf" srcId="{71E0B292-0125-4E5F-8185-D3D7F029E2AD}" destId="{6706762F-ED53-4319-B741-0AF6031E1B68}" srcOrd="1" destOrd="0" presId="urn:microsoft.com/office/officeart/2005/8/layout/list1"/>
    <dgm:cxn modelId="{7FCF73DA-E140-4C60-B324-B69038ADEBCF}" type="presParOf" srcId="{1A527F5E-6740-4106-94CD-1B663EFD3FA8}" destId="{B49576B1-B8DE-4266-BB44-203E47DEAA17}" srcOrd="1" destOrd="0" presId="urn:microsoft.com/office/officeart/2005/8/layout/list1"/>
    <dgm:cxn modelId="{3C9062BB-F08F-4BC7-A312-F68A3CE353DD}" type="presParOf" srcId="{1A527F5E-6740-4106-94CD-1B663EFD3FA8}" destId="{E3D6B6F7-1876-4595-AE54-390395247423}" srcOrd="2" destOrd="0" presId="urn:microsoft.com/office/officeart/2005/8/layout/list1"/>
    <dgm:cxn modelId="{696FA8EA-0B64-4453-9394-9A3B287C026E}" type="presParOf" srcId="{1A527F5E-6740-4106-94CD-1B663EFD3FA8}" destId="{3365472B-ABDD-4C2E-88DA-4F253EEFD3F7}" srcOrd="3" destOrd="0" presId="urn:microsoft.com/office/officeart/2005/8/layout/list1"/>
    <dgm:cxn modelId="{443E0034-B276-4018-B2EB-2983D98485BB}" type="presParOf" srcId="{1A527F5E-6740-4106-94CD-1B663EFD3FA8}" destId="{E832B5FC-48F7-4C1A-B5BC-5A68D8F8CF9E}" srcOrd="4" destOrd="0" presId="urn:microsoft.com/office/officeart/2005/8/layout/list1"/>
    <dgm:cxn modelId="{9AB89279-E250-44C8-B224-6392FFE41FE3}" type="presParOf" srcId="{E832B5FC-48F7-4C1A-B5BC-5A68D8F8CF9E}" destId="{A0A08FAB-8FA3-4B01-8761-CC7444F3A46F}" srcOrd="0" destOrd="0" presId="urn:microsoft.com/office/officeart/2005/8/layout/list1"/>
    <dgm:cxn modelId="{FC1D7D47-9586-4BBE-9059-2A0AA4EC467F}" type="presParOf" srcId="{E832B5FC-48F7-4C1A-B5BC-5A68D8F8CF9E}" destId="{7A1BE148-6E69-4EBD-A56B-DAA9C78DDA5E}" srcOrd="1" destOrd="0" presId="urn:microsoft.com/office/officeart/2005/8/layout/list1"/>
    <dgm:cxn modelId="{3C31A1C6-E669-4B12-98B4-5EEFFBB87974}" type="presParOf" srcId="{1A527F5E-6740-4106-94CD-1B663EFD3FA8}" destId="{55B004AD-09A5-42DB-BD98-EF04679EA55A}" srcOrd="5" destOrd="0" presId="urn:microsoft.com/office/officeart/2005/8/layout/list1"/>
    <dgm:cxn modelId="{BB33BE9C-850F-4D85-A0F2-7546D0FA5349}" type="presParOf" srcId="{1A527F5E-6740-4106-94CD-1B663EFD3FA8}" destId="{EC9369FC-699B-42BC-909B-1749ED5A98ED}" srcOrd="6" destOrd="0" presId="urn:microsoft.com/office/officeart/2005/8/layout/list1"/>
    <dgm:cxn modelId="{DE767AB1-48DE-41EC-A266-B3AA882703E7}" type="presParOf" srcId="{1A527F5E-6740-4106-94CD-1B663EFD3FA8}" destId="{7E5C0220-BED9-49C9-8A42-90BE40EFE942}" srcOrd="7" destOrd="0" presId="urn:microsoft.com/office/officeart/2005/8/layout/list1"/>
    <dgm:cxn modelId="{448BC487-CBF3-4EDB-95FD-952D7A0693B6}" type="presParOf" srcId="{1A527F5E-6740-4106-94CD-1B663EFD3FA8}" destId="{8FFA805D-928E-44C6-9DDD-A1C3F2766E42}" srcOrd="8" destOrd="0" presId="urn:microsoft.com/office/officeart/2005/8/layout/list1"/>
    <dgm:cxn modelId="{6935B0F8-628D-4D9C-A581-2D7D42B58938}" type="presParOf" srcId="{8FFA805D-928E-44C6-9DDD-A1C3F2766E42}" destId="{65C38DCE-5990-4FBA-86A7-E29C4DFC8692}" srcOrd="0" destOrd="0" presId="urn:microsoft.com/office/officeart/2005/8/layout/list1"/>
    <dgm:cxn modelId="{F0259178-B579-446C-812E-5F19B001AE8E}" type="presParOf" srcId="{8FFA805D-928E-44C6-9DDD-A1C3F2766E42}" destId="{34CC3A5A-ADBE-4E46-9A0A-8333F32FA6AC}" srcOrd="1" destOrd="0" presId="urn:microsoft.com/office/officeart/2005/8/layout/list1"/>
    <dgm:cxn modelId="{E50E2943-C4D6-431B-8E4B-8EA680A31B64}" type="presParOf" srcId="{1A527F5E-6740-4106-94CD-1B663EFD3FA8}" destId="{5F01BA64-6A4B-421E-8F7F-95855169B27F}" srcOrd="9" destOrd="0" presId="urn:microsoft.com/office/officeart/2005/8/layout/list1"/>
    <dgm:cxn modelId="{FF5652AF-08AD-4A99-AC52-299F3C003085}" type="presParOf" srcId="{1A527F5E-6740-4106-94CD-1B663EFD3FA8}" destId="{8DF7CAF2-B3B8-4DFB-A4B8-A3F486DC02AC}" srcOrd="10" destOrd="0" presId="urn:microsoft.com/office/officeart/2005/8/layout/list1"/>
    <dgm:cxn modelId="{5FE52F69-0F88-4B26-BC7D-FDF866094D2C}" type="presParOf" srcId="{1A527F5E-6740-4106-94CD-1B663EFD3FA8}" destId="{FA5125C5-F4EA-4656-94E5-FB8AD310587F}" srcOrd="11" destOrd="0" presId="urn:microsoft.com/office/officeart/2005/8/layout/list1"/>
    <dgm:cxn modelId="{53F48C94-6B53-41A2-B4C5-564782657E57}" type="presParOf" srcId="{1A527F5E-6740-4106-94CD-1B663EFD3FA8}" destId="{DF2A4CD8-36D5-46EB-83F8-269B24C2C23B}" srcOrd="12" destOrd="0" presId="urn:microsoft.com/office/officeart/2005/8/layout/list1"/>
    <dgm:cxn modelId="{A7933AFA-6407-49D5-A792-C4EC0BBE3C29}" type="presParOf" srcId="{DF2A4CD8-36D5-46EB-83F8-269B24C2C23B}" destId="{E383A1B6-6647-4A1C-A563-E830BC36FFA8}" srcOrd="0" destOrd="0" presId="urn:microsoft.com/office/officeart/2005/8/layout/list1"/>
    <dgm:cxn modelId="{9A9881FF-4E7A-455E-89E1-80E28FCB4D29}" type="presParOf" srcId="{DF2A4CD8-36D5-46EB-83F8-269B24C2C23B}" destId="{D243A965-82BB-44CF-81A5-8B87439BFA18}" srcOrd="1" destOrd="0" presId="urn:microsoft.com/office/officeart/2005/8/layout/list1"/>
    <dgm:cxn modelId="{55D5D5A3-CB14-468E-89D1-DA08293E5B94}" type="presParOf" srcId="{1A527F5E-6740-4106-94CD-1B663EFD3FA8}" destId="{4AEFC207-9C19-480A-9B77-71B1DDBF1D9B}" srcOrd="13" destOrd="0" presId="urn:microsoft.com/office/officeart/2005/8/layout/list1"/>
    <dgm:cxn modelId="{22BCF291-1751-4B49-97B1-9CBEFD0B8A40}" type="presParOf" srcId="{1A527F5E-6740-4106-94CD-1B663EFD3FA8}" destId="{F9729100-4918-4B2C-B523-3433410340F1}" srcOrd="14" destOrd="0" presId="urn:microsoft.com/office/officeart/2005/8/layout/list1"/>
    <dgm:cxn modelId="{2B64A485-8276-4850-80B8-FD4499942D2E}" type="presParOf" srcId="{1A527F5E-6740-4106-94CD-1B663EFD3FA8}" destId="{84DA6817-1A76-4230-9D39-904D8B3E7C87}" srcOrd="15" destOrd="0" presId="urn:microsoft.com/office/officeart/2005/8/layout/list1"/>
    <dgm:cxn modelId="{3DAB781D-B3BB-46A5-8F49-AC1AF0148250}" type="presParOf" srcId="{1A527F5E-6740-4106-94CD-1B663EFD3FA8}" destId="{E9E2740C-FB50-44FB-A10A-52843C5A09F3}" srcOrd="16" destOrd="0" presId="urn:microsoft.com/office/officeart/2005/8/layout/list1"/>
    <dgm:cxn modelId="{6CB79169-8BE8-463F-8EF3-A22FDBC5D530}" type="presParOf" srcId="{E9E2740C-FB50-44FB-A10A-52843C5A09F3}" destId="{E3559598-8854-48F9-A097-7898319B56B2}" srcOrd="0" destOrd="0" presId="urn:microsoft.com/office/officeart/2005/8/layout/list1"/>
    <dgm:cxn modelId="{29A337B1-953C-4B64-9F83-1ABB6981240A}" type="presParOf" srcId="{E9E2740C-FB50-44FB-A10A-52843C5A09F3}" destId="{02A74CA3-681A-4F21-82CD-D011450B34A8}" srcOrd="1" destOrd="0" presId="urn:microsoft.com/office/officeart/2005/8/layout/list1"/>
    <dgm:cxn modelId="{7CB36E69-8667-4F8D-A92F-625508866678}" type="presParOf" srcId="{1A527F5E-6740-4106-94CD-1B663EFD3FA8}" destId="{0D03AD46-1CB2-4CB6-8D6F-FD70D38DC09A}" srcOrd="17" destOrd="0" presId="urn:microsoft.com/office/officeart/2005/8/layout/list1"/>
    <dgm:cxn modelId="{4A642DDC-DD4C-4E36-A326-B47F5CA481F5}" type="presParOf" srcId="{1A527F5E-6740-4106-94CD-1B663EFD3FA8}" destId="{D3CCB29D-1BD7-45BC-B267-41D7CD4C2FAB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FFBAB5C-B6EB-4762-A0CE-092C235EBE1A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38353877-4856-4D49-80B1-D5F239210EAE}">
      <dgm:prSet custT="1"/>
      <dgm:spPr>
        <a:solidFill>
          <a:schemeClr val="accent2">
            <a:lumMod val="50000"/>
          </a:schemeClr>
        </a:solidFill>
      </dgm:spPr>
      <dgm:t>
        <a:bodyPr/>
        <a:lstStyle/>
        <a:p>
          <a:r>
            <a:rPr lang="en-US" sz="1600" b="1" dirty="0">
              <a:latin typeface="Aptos" panose="020B0004020202020204" pitchFamily="34" charset="0"/>
            </a:rPr>
            <a:t>Faradays Laws of Electromagnetic Induction</a:t>
          </a:r>
          <a:endParaRPr lang="en-US" sz="1600" dirty="0">
            <a:latin typeface="Aptos" panose="020B0004020202020204" pitchFamily="34" charset="0"/>
          </a:endParaRPr>
        </a:p>
      </dgm:t>
    </dgm:pt>
    <dgm:pt modelId="{25751A7E-944C-4C23-BC7D-F09474DB18A9}" type="parTrans" cxnId="{D5826B3C-AE46-4252-817E-097396E71B24}">
      <dgm:prSet/>
      <dgm:spPr/>
      <dgm:t>
        <a:bodyPr/>
        <a:lstStyle/>
        <a:p>
          <a:endParaRPr lang="en-US" sz="2000"/>
        </a:p>
      </dgm:t>
    </dgm:pt>
    <dgm:pt modelId="{D282E2B2-3AA4-4903-8275-D0300239A3B7}" type="sibTrans" cxnId="{D5826B3C-AE46-4252-817E-097396E71B24}">
      <dgm:prSet/>
      <dgm:spPr/>
      <dgm:t>
        <a:bodyPr/>
        <a:lstStyle/>
        <a:p>
          <a:endParaRPr lang="en-US" sz="2000"/>
        </a:p>
      </dgm:t>
    </dgm:pt>
    <dgm:pt modelId="{F4C48FB5-152D-44D2-9DF4-99A87298448C}">
      <dgm:prSet custT="1"/>
      <dgm:spPr/>
      <dgm:t>
        <a:bodyPr/>
        <a:lstStyle/>
        <a:p>
          <a:r>
            <a:rPr lang="en-US" sz="1600" b="1">
              <a:latin typeface="Aptos" panose="020B0004020202020204" pitchFamily="34" charset="0"/>
            </a:rPr>
            <a:t>Dynamically Induced EMF</a:t>
          </a:r>
          <a:endParaRPr lang="en-US" sz="1600">
            <a:latin typeface="Aptos" panose="020B0004020202020204" pitchFamily="34" charset="0"/>
          </a:endParaRPr>
        </a:p>
      </dgm:t>
    </dgm:pt>
    <dgm:pt modelId="{CDC0A7FF-E221-4719-BA54-8F6CF971026C}" type="parTrans" cxnId="{ED013B56-A8A3-4960-858F-E465F2480D60}">
      <dgm:prSet/>
      <dgm:spPr/>
      <dgm:t>
        <a:bodyPr/>
        <a:lstStyle/>
        <a:p>
          <a:endParaRPr lang="en-US" sz="2000"/>
        </a:p>
      </dgm:t>
    </dgm:pt>
    <dgm:pt modelId="{CBCDD929-AE1C-4C33-9703-357C0D9D5DCD}" type="sibTrans" cxnId="{ED013B56-A8A3-4960-858F-E465F2480D60}">
      <dgm:prSet/>
      <dgm:spPr/>
      <dgm:t>
        <a:bodyPr/>
        <a:lstStyle/>
        <a:p>
          <a:endParaRPr lang="en-US" sz="2000"/>
        </a:p>
      </dgm:t>
    </dgm:pt>
    <dgm:pt modelId="{3C56EE30-0357-4337-A2AE-020F02480417}">
      <dgm:prSet custT="1"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n-US" sz="1600" b="1" dirty="0">
              <a:latin typeface="Aptos" panose="020B0004020202020204" pitchFamily="34" charset="0"/>
            </a:rPr>
            <a:t>Flemings Right Hand Rule</a:t>
          </a:r>
          <a:endParaRPr lang="en-US" sz="1600" dirty="0">
            <a:latin typeface="Aptos" panose="020B0004020202020204" pitchFamily="34" charset="0"/>
          </a:endParaRPr>
        </a:p>
      </dgm:t>
    </dgm:pt>
    <dgm:pt modelId="{D60A5138-C5BC-40D4-89CA-3A621B4BE6C0}" type="parTrans" cxnId="{BF4CA823-4284-4A6B-9466-D212F26FF2F6}">
      <dgm:prSet/>
      <dgm:spPr/>
      <dgm:t>
        <a:bodyPr/>
        <a:lstStyle/>
        <a:p>
          <a:endParaRPr lang="en-US" sz="2000"/>
        </a:p>
      </dgm:t>
    </dgm:pt>
    <dgm:pt modelId="{CA5C1EE1-3841-496B-89F6-41D6CEC2E100}" type="sibTrans" cxnId="{BF4CA823-4284-4A6B-9466-D212F26FF2F6}">
      <dgm:prSet/>
      <dgm:spPr/>
      <dgm:t>
        <a:bodyPr/>
        <a:lstStyle/>
        <a:p>
          <a:endParaRPr lang="en-US" sz="2000"/>
        </a:p>
      </dgm:t>
    </dgm:pt>
    <dgm:pt modelId="{EE386EF0-6A98-498C-A80A-1848BA6A4A31}">
      <dgm:prSet custT="1"/>
      <dgm:spPr>
        <a:solidFill>
          <a:schemeClr val="accent5">
            <a:lumMod val="50000"/>
          </a:schemeClr>
        </a:solidFill>
      </dgm:spPr>
      <dgm:t>
        <a:bodyPr/>
        <a:lstStyle/>
        <a:p>
          <a:r>
            <a:rPr lang="en-US" sz="1600" b="1" dirty="0">
              <a:latin typeface="Aptos" panose="020B0004020202020204" pitchFamily="34" charset="0"/>
            </a:rPr>
            <a:t>Statically Induced EMF</a:t>
          </a:r>
          <a:endParaRPr lang="en-US" sz="1600" dirty="0">
            <a:latin typeface="Aptos" panose="020B0004020202020204" pitchFamily="34" charset="0"/>
          </a:endParaRPr>
        </a:p>
      </dgm:t>
    </dgm:pt>
    <dgm:pt modelId="{E6A00B80-82FB-48B0-AD5F-7B0F2CA47CC4}" type="parTrans" cxnId="{BA49A233-6C01-4BD1-8033-0C756468F25B}">
      <dgm:prSet/>
      <dgm:spPr/>
      <dgm:t>
        <a:bodyPr/>
        <a:lstStyle/>
        <a:p>
          <a:endParaRPr lang="en-US" sz="2000"/>
        </a:p>
      </dgm:t>
    </dgm:pt>
    <dgm:pt modelId="{56A66587-C7F6-4497-A308-00630812F3F9}" type="sibTrans" cxnId="{BA49A233-6C01-4BD1-8033-0C756468F25B}">
      <dgm:prSet/>
      <dgm:spPr/>
      <dgm:t>
        <a:bodyPr/>
        <a:lstStyle/>
        <a:p>
          <a:endParaRPr lang="en-US" sz="2000"/>
        </a:p>
      </dgm:t>
    </dgm:pt>
    <dgm:pt modelId="{3083BC78-8CDE-4E0B-BFF9-F2B9DE862263}">
      <dgm:prSet custT="1"/>
      <dgm:spPr/>
      <dgm:t>
        <a:bodyPr/>
        <a:lstStyle/>
        <a:p>
          <a:r>
            <a:rPr lang="en-US" sz="1600" b="1" dirty="0">
              <a:latin typeface="Aptos" panose="020B0004020202020204" pitchFamily="34" charset="0"/>
            </a:rPr>
            <a:t>Self Induced EMF</a:t>
          </a:r>
          <a:endParaRPr lang="en-US" sz="1600" dirty="0">
            <a:latin typeface="Aptos" panose="020B0004020202020204" pitchFamily="34" charset="0"/>
          </a:endParaRPr>
        </a:p>
      </dgm:t>
    </dgm:pt>
    <dgm:pt modelId="{8CB62F1E-C45A-4983-89B3-D1011301AD26}" type="parTrans" cxnId="{A433EEEA-6282-400B-BE15-C68D4EC84ED3}">
      <dgm:prSet/>
      <dgm:spPr/>
      <dgm:t>
        <a:bodyPr/>
        <a:lstStyle/>
        <a:p>
          <a:endParaRPr lang="en-US" sz="2000"/>
        </a:p>
      </dgm:t>
    </dgm:pt>
    <dgm:pt modelId="{B7F4AC57-6A09-4A60-ABE8-DD0EC5F5119F}" type="sibTrans" cxnId="{A433EEEA-6282-400B-BE15-C68D4EC84ED3}">
      <dgm:prSet/>
      <dgm:spPr/>
      <dgm:t>
        <a:bodyPr/>
        <a:lstStyle/>
        <a:p>
          <a:endParaRPr lang="en-US" sz="2000"/>
        </a:p>
      </dgm:t>
    </dgm:pt>
    <dgm:pt modelId="{A664571A-E59E-4A6D-AB4D-80321A4EB480}">
      <dgm:prSet custT="1"/>
      <dgm:spPr/>
      <dgm:t>
        <a:bodyPr/>
        <a:lstStyle/>
        <a:p>
          <a:r>
            <a:rPr lang="en-US" sz="1600" b="1" dirty="0">
              <a:latin typeface="Aptos" panose="020B0004020202020204" pitchFamily="34" charset="0"/>
            </a:rPr>
            <a:t>Mutually Induced EMF</a:t>
          </a:r>
          <a:endParaRPr lang="en-US" sz="1600" dirty="0">
            <a:latin typeface="Aptos" panose="020B0004020202020204" pitchFamily="34" charset="0"/>
          </a:endParaRPr>
        </a:p>
      </dgm:t>
    </dgm:pt>
    <dgm:pt modelId="{34BA43F0-5153-4BB3-8D45-17267ABFA849}" type="parTrans" cxnId="{7C5E1590-391D-4CD3-8E16-C37C6FCB171F}">
      <dgm:prSet/>
      <dgm:spPr/>
      <dgm:t>
        <a:bodyPr/>
        <a:lstStyle/>
        <a:p>
          <a:endParaRPr lang="en-US" sz="2000"/>
        </a:p>
      </dgm:t>
    </dgm:pt>
    <dgm:pt modelId="{F257EA9F-CD1D-4E56-83EC-2F4E92256CB7}" type="sibTrans" cxnId="{7C5E1590-391D-4CD3-8E16-C37C6FCB171F}">
      <dgm:prSet/>
      <dgm:spPr/>
      <dgm:t>
        <a:bodyPr/>
        <a:lstStyle/>
        <a:p>
          <a:endParaRPr lang="en-US" sz="2000"/>
        </a:p>
      </dgm:t>
    </dgm:pt>
    <dgm:pt modelId="{30E86BDC-763D-417B-B856-AF930165668A}">
      <dgm:prSet custT="1"/>
      <dgm:spPr>
        <a:solidFill>
          <a:schemeClr val="accent3">
            <a:lumMod val="50000"/>
          </a:schemeClr>
        </a:solidFill>
      </dgm:spPr>
      <dgm:t>
        <a:bodyPr/>
        <a:lstStyle/>
        <a:p>
          <a:r>
            <a:rPr lang="en-US" sz="1600" b="1">
              <a:latin typeface="Aptos" panose="020B0004020202020204" pitchFamily="34" charset="0"/>
            </a:rPr>
            <a:t>Self and Mutual Inductance</a:t>
          </a:r>
          <a:endParaRPr lang="en-US" sz="1600">
            <a:latin typeface="Aptos" panose="020B0004020202020204" pitchFamily="34" charset="0"/>
          </a:endParaRPr>
        </a:p>
      </dgm:t>
    </dgm:pt>
    <dgm:pt modelId="{2FD31F4F-F50E-4A86-8526-9EE5C618B243}" type="parTrans" cxnId="{6BBB32BE-2166-418C-BD05-41ACF7350543}">
      <dgm:prSet/>
      <dgm:spPr/>
      <dgm:t>
        <a:bodyPr/>
        <a:lstStyle/>
        <a:p>
          <a:endParaRPr lang="en-US" sz="2000"/>
        </a:p>
      </dgm:t>
    </dgm:pt>
    <dgm:pt modelId="{5BF2F3DF-7B63-4D95-8D7B-2EEA184945B3}" type="sibTrans" cxnId="{6BBB32BE-2166-418C-BD05-41ACF7350543}">
      <dgm:prSet/>
      <dgm:spPr/>
      <dgm:t>
        <a:bodyPr/>
        <a:lstStyle/>
        <a:p>
          <a:endParaRPr lang="en-US" sz="2000"/>
        </a:p>
      </dgm:t>
    </dgm:pt>
    <dgm:pt modelId="{39F5D09A-4C55-4917-9039-7A5299DB0765}">
      <dgm:prSet custT="1"/>
      <dgm:spPr>
        <a:solidFill>
          <a:schemeClr val="accent2">
            <a:lumMod val="50000"/>
          </a:schemeClr>
        </a:solidFill>
      </dgm:spPr>
      <dgm:t>
        <a:bodyPr/>
        <a:lstStyle/>
        <a:p>
          <a:r>
            <a:rPr lang="en-US" sz="1600" b="1">
              <a:latin typeface="Aptos" panose="020B0004020202020204" pitchFamily="34" charset="0"/>
            </a:rPr>
            <a:t>Coefficient of Coupling</a:t>
          </a:r>
          <a:endParaRPr lang="en-US" sz="1600">
            <a:latin typeface="Aptos" panose="020B0004020202020204" pitchFamily="34" charset="0"/>
          </a:endParaRPr>
        </a:p>
      </dgm:t>
    </dgm:pt>
    <dgm:pt modelId="{AB6C284C-D33A-4B9E-B731-4CB759C3CF94}" type="parTrans" cxnId="{E2888074-AC02-4B70-981F-ABE80716F0AC}">
      <dgm:prSet/>
      <dgm:spPr/>
      <dgm:t>
        <a:bodyPr/>
        <a:lstStyle/>
        <a:p>
          <a:endParaRPr lang="en-US" sz="2000"/>
        </a:p>
      </dgm:t>
    </dgm:pt>
    <dgm:pt modelId="{26DA1DD3-D678-4C93-BA67-9BC8A2DE328A}" type="sibTrans" cxnId="{E2888074-AC02-4B70-981F-ABE80716F0AC}">
      <dgm:prSet/>
      <dgm:spPr/>
      <dgm:t>
        <a:bodyPr/>
        <a:lstStyle/>
        <a:p>
          <a:endParaRPr lang="en-US" sz="2000"/>
        </a:p>
      </dgm:t>
    </dgm:pt>
    <dgm:pt modelId="{5035F0FA-FB65-4AE9-B46F-11AAFF8F6CB6}">
      <dgm:prSet custT="1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sz="1600" b="1">
              <a:latin typeface="Aptos" panose="020B0004020202020204" pitchFamily="34" charset="0"/>
            </a:rPr>
            <a:t>Energy stored in Magnetic Field</a:t>
          </a:r>
          <a:endParaRPr lang="en-US" sz="1600">
            <a:latin typeface="Aptos" panose="020B0004020202020204" pitchFamily="34" charset="0"/>
          </a:endParaRPr>
        </a:p>
      </dgm:t>
    </dgm:pt>
    <dgm:pt modelId="{424CD1A7-D19E-46B1-AD8E-8CEDD61817ED}" type="parTrans" cxnId="{D2A8839D-8D46-41BF-92ED-0FB4776CBFC7}">
      <dgm:prSet/>
      <dgm:spPr/>
      <dgm:t>
        <a:bodyPr/>
        <a:lstStyle/>
        <a:p>
          <a:endParaRPr lang="en-US" sz="2000"/>
        </a:p>
      </dgm:t>
    </dgm:pt>
    <dgm:pt modelId="{C7A8AAB5-840D-4100-8B31-F42F16372300}" type="sibTrans" cxnId="{D2A8839D-8D46-41BF-92ED-0FB4776CBFC7}">
      <dgm:prSet/>
      <dgm:spPr/>
      <dgm:t>
        <a:bodyPr/>
        <a:lstStyle/>
        <a:p>
          <a:endParaRPr lang="en-US" sz="2000"/>
        </a:p>
      </dgm:t>
    </dgm:pt>
    <dgm:pt modelId="{B9E38F58-C038-45E8-8463-7418B27C10F0}" type="pres">
      <dgm:prSet presAssocID="{7FFBAB5C-B6EB-4762-A0CE-092C235EBE1A}" presName="linear" presStyleCnt="0">
        <dgm:presLayoutVars>
          <dgm:dir/>
          <dgm:animLvl val="lvl"/>
          <dgm:resizeHandles val="exact"/>
        </dgm:presLayoutVars>
      </dgm:prSet>
      <dgm:spPr/>
    </dgm:pt>
    <dgm:pt modelId="{BB97833C-D3AD-499C-AF31-48022FAC2777}" type="pres">
      <dgm:prSet presAssocID="{38353877-4856-4D49-80B1-D5F239210EAE}" presName="parentLin" presStyleCnt="0"/>
      <dgm:spPr/>
    </dgm:pt>
    <dgm:pt modelId="{882B8F9F-B504-4A2E-9100-0D72F40CF184}" type="pres">
      <dgm:prSet presAssocID="{38353877-4856-4D49-80B1-D5F239210EAE}" presName="parentLeftMargin" presStyleLbl="node1" presStyleIdx="0" presStyleCnt="7"/>
      <dgm:spPr/>
    </dgm:pt>
    <dgm:pt modelId="{F59F54BF-1442-47D7-AE35-AEDEDDBA3CBC}" type="pres">
      <dgm:prSet presAssocID="{38353877-4856-4D49-80B1-D5F239210EAE}" presName="parentText" presStyleLbl="node1" presStyleIdx="0" presStyleCnt="7" custScaleX="122350" custScaleY="136309">
        <dgm:presLayoutVars>
          <dgm:chMax val="0"/>
          <dgm:bulletEnabled val="1"/>
        </dgm:presLayoutVars>
      </dgm:prSet>
      <dgm:spPr/>
    </dgm:pt>
    <dgm:pt modelId="{1825AE79-E229-4AB0-96B9-9335814AC2F7}" type="pres">
      <dgm:prSet presAssocID="{38353877-4856-4D49-80B1-D5F239210EAE}" presName="negativeSpace" presStyleCnt="0"/>
      <dgm:spPr/>
    </dgm:pt>
    <dgm:pt modelId="{C13BBF0D-7820-4E89-93A8-32871BDA74B6}" type="pres">
      <dgm:prSet presAssocID="{38353877-4856-4D49-80B1-D5F239210EAE}" presName="childText" presStyleLbl="conFgAcc1" presStyleIdx="0" presStyleCnt="7">
        <dgm:presLayoutVars>
          <dgm:bulletEnabled val="1"/>
        </dgm:presLayoutVars>
      </dgm:prSet>
      <dgm:spPr/>
    </dgm:pt>
    <dgm:pt modelId="{98DE509F-9013-4731-9DD2-4E9B7638A373}" type="pres">
      <dgm:prSet presAssocID="{D282E2B2-3AA4-4903-8275-D0300239A3B7}" presName="spaceBetweenRectangles" presStyleCnt="0"/>
      <dgm:spPr/>
    </dgm:pt>
    <dgm:pt modelId="{F90CCD94-5411-44EC-8F9F-096E939A7F32}" type="pres">
      <dgm:prSet presAssocID="{F4C48FB5-152D-44D2-9DF4-99A87298448C}" presName="parentLin" presStyleCnt="0"/>
      <dgm:spPr/>
    </dgm:pt>
    <dgm:pt modelId="{F227B3BB-D2CB-4A8D-BE7E-4048E5D1C85C}" type="pres">
      <dgm:prSet presAssocID="{F4C48FB5-152D-44D2-9DF4-99A87298448C}" presName="parentLeftMargin" presStyleLbl="node1" presStyleIdx="0" presStyleCnt="7"/>
      <dgm:spPr/>
    </dgm:pt>
    <dgm:pt modelId="{27C5D1FA-E57A-4149-9626-CE929D3CD57C}" type="pres">
      <dgm:prSet presAssocID="{F4C48FB5-152D-44D2-9DF4-99A87298448C}" presName="parentText" presStyleLbl="node1" presStyleIdx="1" presStyleCnt="7" custScaleY="139820">
        <dgm:presLayoutVars>
          <dgm:chMax val="0"/>
          <dgm:bulletEnabled val="1"/>
        </dgm:presLayoutVars>
      </dgm:prSet>
      <dgm:spPr/>
    </dgm:pt>
    <dgm:pt modelId="{6E260696-45BD-4F0A-9D37-D5BB42AA3A70}" type="pres">
      <dgm:prSet presAssocID="{F4C48FB5-152D-44D2-9DF4-99A87298448C}" presName="negativeSpace" presStyleCnt="0"/>
      <dgm:spPr/>
    </dgm:pt>
    <dgm:pt modelId="{5F02ABB0-5A59-4408-931A-D34199125C15}" type="pres">
      <dgm:prSet presAssocID="{F4C48FB5-152D-44D2-9DF4-99A87298448C}" presName="childText" presStyleLbl="conFgAcc1" presStyleIdx="1" presStyleCnt="7">
        <dgm:presLayoutVars>
          <dgm:bulletEnabled val="1"/>
        </dgm:presLayoutVars>
      </dgm:prSet>
      <dgm:spPr/>
    </dgm:pt>
    <dgm:pt modelId="{B2AE1426-48AC-48B9-9898-91286C1D7639}" type="pres">
      <dgm:prSet presAssocID="{CBCDD929-AE1C-4C33-9703-357C0D9D5DCD}" presName="spaceBetweenRectangles" presStyleCnt="0"/>
      <dgm:spPr/>
    </dgm:pt>
    <dgm:pt modelId="{A3BCD0CD-1466-4A09-B6E6-E6F2F57D62C2}" type="pres">
      <dgm:prSet presAssocID="{3C56EE30-0357-4337-A2AE-020F02480417}" presName="parentLin" presStyleCnt="0"/>
      <dgm:spPr/>
    </dgm:pt>
    <dgm:pt modelId="{4EC94501-46F7-4A8D-92B7-5D3E5C499DD8}" type="pres">
      <dgm:prSet presAssocID="{3C56EE30-0357-4337-A2AE-020F02480417}" presName="parentLeftMargin" presStyleLbl="node1" presStyleIdx="1" presStyleCnt="7"/>
      <dgm:spPr/>
    </dgm:pt>
    <dgm:pt modelId="{6D1CA477-077F-4A55-8421-46CC09655D3E}" type="pres">
      <dgm:prSet presAssocID="{3C56EE30-0357-4337-A2AE-020F02480417}" presName="parentText" presStyleLbl="node1" presStyleIdx="2" presStyleCnt="7" custScaleY="120292">
        <dgm:presLayoutVars>
          <dgm:chMax val="0"/>
          <dgm:bulletEnabled val="1"/>
        </dgm:presLayoutVars>
      </dgm:prSet>
      <dgm:spPr/>
    </dgm:pt>
    <dgm:pt modelId="{E2D493C2-F4CA-4569-8B38-66840057649A}" type="pres">
      <dgm:prSet presAssocID="{3C56EE30-0357-4337-A2AE-020F02480417}" presName="negativeSpace" presStyleCnt="0"/>
      <dgm:spPr/>
    </dgm:pt>
    <dgm:pt modelId="{D648D4BD-A9C2-4899-A1D7-C97CF3A1B483}" type="pres">
      <dgm:prSet presAssocID="{3C56EE30-0357-4337-A2AE-020F02480417}" presName="childText" presStyleLbl="conFgAcc1" presStyleIdx="2" presStyleCnt="7">
        <dgm:presLayoutVars>
          <dgm:bulletEnabled val="1"/>
        </dgm:presLayoutVars>
      </dgm:prSet>
      <dgm:spPr/>
    </dgm:pt>
    <dgm:pt modelId="{7F51C7DD-54D4-40D4-81EF-A3ECE960CFC6}" type="pres">
      <dgm:prSet presAssocID="{CA5C1EE1-3841-496B-89F6-41D6CEC2E100}" presName="spaceBetweenRectangles" presStyleCnt="0"/>
      <dgm:spPr/>
    </dgm:pt>
    <dgm:pt modelId="{C337A9C2-3BFD-4842-84AB-487D1370C79C}" type="pres">
      <dgm:prSet presAssocID="{EE386EF0-6A98-498C-A80A-1848BA6A4A31}" presName="parentLin" presStyleCnt="0"/>
      <dgm:spPr/>
    </dgm:pt>
    <dgm:pt modelId="{7F0CA23E-0B57-4421-B883-0A4FF9E532A0}" type="pres">
      <dgm:prSet presAssocID="{EE386EF0-6A98-498C-A80A-1848BA6A4A31}" presName="parentLeftMargin" presStyleLbl="node1" presStyleIdx="2" presStyleCnt="7"/>
      <dgm:spPr/>
    </dgm:pt>
    <dgm:pt modelId="{099D163B-1919-4C79-8534-4ADD9957B4C1}" type="pres">
      <dgm:prSet presAssocID="{EE386EF0-6A98-498C-A80A-1848BA6A4A31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5A64C006-BC65-4D93-9B2E-A97A5DFCA901}" type="pres">
      <dgm:prSet presAssocID="{EE386EF0-6A98-498C-A80A-1848BA6A4A31}" presName="negativeSpace" presStyleCnt="0"/>
      <dgm:spPr/>
    </dgm:pt>
    <dgm:pt modelId="{49F7145A-70A9-4DF7-9004-D70E8DA7B54D}" type="pres">
      <dgm:prSet presAssocID="{EE386EF0-6A98-498C-A80A-1848BA6A4A31}" presName="childText" presStyleLbl="conFgAcc1" presStyleIdx="3" presStyleCnt="7">
        <dgm:presLayoutVars>
          <dgm:bulletEnabled val="1"/>
        </dgm:presLayoutVars>
      </dgm:prSet>
      <dgm:spPr/>
    </dgm:pt>
    <dgm:pt modelId="{FE74840E-30D0-4BC9-966D-5CFE751623C3}" type="pres">
      <dgm:prSet presAssocID="{56A66587-C7F6-4497-A308-00630812F3F9}" presName="spaceBetweenRectangles" presStyleCnt="0"/>
      <dgm:spPr/>
    </dgm:pt>
    <dgm:pt modelId="{D5122521-ED03-4161-9FE7-286EB44D9F93}" type="pres">
      <dgm:prSet presAssocID="{30E86BDC-763D-417B-B856-AF930165668A}" presName="parentLin" presStyleCnt="0"/>
      <dgm:spPr/>
    </dgm:pt>
    <dgm:pt modelId="{858F824B-EEC5-4B95-813D-A51B21F79B6E}" type="pres">
      <dgm:prSet presAssocID="{30E86BDC-763D-417B-B856-AF930165668A}" presName="parentLeftMargin" presStyleLbl="node1" presStyleIdx="3" presStyleCnt="7"/>
      <dgm:spPr/>
    </dgm:pt>
    <dgm:pt modelId="{06EA86F2-4CBD-4D26-AF78-8A343BC79757}" type="pres">
      <dgm:prSet presAssocID="{30E86BDC-763D-417B-B856-AF930165668A}" presName="parentText" presStyleLbl="node1" presStyleIdx="4" presStyleCnt="7" custScaleY="133633">
        <dgm:presLayoutVars>
          <dgm:chMax val="0"/>
          <dgm:bulletEnabled val="1"/>
        </dgm:presLayoutVars>
      </dgm:prSet>
      <dgm:spPr/>
    </dgm:pt>
    <dgm:pt modelId="{4D81C9AF-E070-483B-813D-A49E36B29697}" type="pres">
      <dgm:prSet presAssocID="{30E86BDC-763D-417B-B856-AF930165668A}" presName="negativeSpace" presStyleCnt="0"/>
      <dgm:spPr/>
    </dgm:pt>
    <dgm:pt modelId="{C29FB621-C6B2-4F1E-AC4B-F1F4F1590260}" type="pres">
      <dgm:prSet presAssocID="{30E86BDC-763D-417B-B856-AF930165668A}" presName="childText" presStyleLbl="conFgAcc1" presStyleIdx="4" presStyleCnt="7">
        <dgm:presLayoutVars>
          <dgm:bulletEnabled val="1"/>
        </dgm:presLayoutVars>
      </dgm:prSet>
      <dgm:spPr/>
    </dgm:pt>
    <dgm:pt modelId="{7F17A044-027E-4012-AEF8-70728694E978}" type="pres">
      <dgm:prSet presAssocID="{5BF2F3DF-7B63-4D95-8D7B-2EEA184945B3}" presName="spaceBetweenRectangles" presStyleCnt="0"/>
      <dgm:spPr/>
    </dgm:pt>
    <dgm:pt modelId="{1687762E-1430-4D31-B9FA-08F66C6252AB}" type="pres">
      <dgm:prSet presAssocID="{39F5D09A-4C55-4917-9039-7A5299DB0765}" presName="parentLin" presStyleCnt="0"/>
      <dgm:spPr/>
    </dgm:pt>
    <dgm:pt modelId="{6B595075-A53B-4759-8659-8BB2D3963473}" type="pres">
      <dgm:prSet presAssocID="{39F5D09A-4C55-4917-9039-7A5299DB0765}" presName="parentLeftMargin" presStyleLbl="node1" presStyleIdx="4" presStyleCnt="7"/>
      <dgm:spPr/>
    </dgm:pt>
    <dgm:pt modelId="{3B4E07CF-71D1-4979-99F9-CD59478CFDEA}" type="pres">
      <dgm:prSet presAssocID="{39F5D09A-4C55-4917-9039-7A5299DB0765}" presName="parentText" presStyleLbl="node1" presStyleIdx="5" presStyleCnt="7" custScaleY="126734">
        <dgm:presLayoutVars>
          <dgm:chMax val="0"/>
          <dgm:bulletEnabled val="1"/>
        </dgm:presLayoutVars>
      </dgm:prSet>
      <dgm:spPr/>
    </dgm:pt>
    <dgm:pt modelId="{DF47C9E5-4D14-499D-A476-E409099A9516}" type="pres">
      <dgm:prSet presAssocID="{39F5D09A-4C55-4917-9039-7A5299DB0765}" presName="negativeSpace" presStyleCnt="0"/>
      <dgm:spPr/>
    </dgm:pt>
    <dgm:pt modelId="{A1485860-4264-49DB-A57B-8AE5EBA53FBB}" type="pres">
      <dgm:prSet presAssocID="{39F5D09A-4C55-4917-9039-7A5299DB0765}" presName="childText" presStyleLbl="conFgAcc1" presStyleIdx="5" presStyleCnt="7">
        <dgm:presLayoutVars>
          <dgm:bulletEnabled val="1"/>
        </dgm:presLayoutVars>
      </dgm:prSet>
      <dgm:spPr/>
    </dgm:pt>
    <dgm:pt modelId="{923FBB31-196D-4A45-9EB5-3FE33976A0A1}" type="pres">
      <dgm:prSet presAssocID="{26DA1DD3-D678-4C93-BA67-9BC8A2DE328A}" presName="spaceBetweenRectangles" presStyleCnt="0"/>
      <dgm:spPr/>
    </dgm:pt>
    <dgm:pt modelId="{0005CBAC-F204-44E0-85BB-6FBEA302EA64}" type="pres">
      <dgm:prSet presAssocID="{5035F0FA-FB65-4AE9-B46F-11AAFF8F6CB6}" presName="parentLin" presStyleCnt="0"/>
      <dgm:spPr/>
    </dgm:pt>
    <dgm:pt modelId="{4141591B-BB3E-446D-9808-00BE09B11026}" type="pres">
      <dgm:prSet presAssocID="{5035F0FA-FB65-4AE9-B46F-11AAFF8F6CB6}" presName="parentLeftMargin" presStyleLbl="node1" presStyleIdx="5" presStyleCnt="7"/>
      <dgm:spPr/>
    </dgm:pt>
    <dgm:pt modelId="{8CE8B32C-9616-486E-A7AD-90FF0A36DFA6}" type="pres">
      <dgm:prSet presAssocID="{5035F0FA-FB65-4AE9-B46F-11AAFF8F6CB6}" presName="parentText" presStyleLbl="node1" presStyleIdx="6" presStyleCnt="7" custScaleY="119228">
        <dgm:presLayoutVars>
          <dgm:chMax val="0"/>
          <dgm:bulletEnabled val="1"/>
        </dgm:presLayoutVars>
      </dgm:prSet>
      <dgm:spPr/>
    </dgm:pt>
    <dgm:pt modelId="{65F72136-EF91-4F5D-B400-71AE132B6896}" type="pres">
      <dgm:prSet presAssocID="{5035F0FA-FB65-4AE9-B46F-11AAFF8F6CB6}" presName="negativeSpace" presStyleCnt="0"/>
      <dgm:spPr/>
    </dgm:pt>
    <dgm:pt modelId="{C57467C1-14BD-4C36-A105-1D13C917F1ED}" type="pres">
      <dgm:prSet presAssocID="{5035F0FA-FB65-4AE9-B46F-11AAFF8F6CB6}" presName="childText" presStyleLbl="conFgAcc1" presStyleIdx="6" presStyleCnt="7">
        <dgm:presLayoutVars>
          <dgm:bulletEnabled val="1"/>
        </dgm:presLayoutVars>
      </dgm:prSet>
      <dgm:spPr/>
    </dgm:pt>
  </dgm:ptLst>
  <dgm:cxnLst>
    <dgm:cxn modelId="{E0A42900-7548-4079-A7A0-2B475A9F0FEC}" type="presOf" srcId="{5035F0FA-FB65-4AE9-B46F-11AAFF8F6CB6}" destId="{4141591B-BB3E-446D-9808-00BE09B11026}" srcOrd="0" destOrd="0" presId="urn:microsoft.com/office/officeart/2005/8/layout/list1"/>
    <dgm:cxn modelId="{38F66D08-DF9F-495A-B29C-B7405D869F4E}" type="presOf" srcId="{A664571A-E59E-4A6D-AB4D-80321A4EB480}" destId="{49F7145A-70A9-4DF7-9004-D70E8DA7B54D}" srcOrd="0" destOrd="1" presId="urn:microsoft.com/office/officeart/2005/8/layout/list1"/>
    <dgm:cxn modelId="{D3751611-AFC3-476C-9F18-10DB8A07541B}" type="presOf" srcId="{30E86BDC-763D-417B-B856-AF930165668A}" destId="{858F824B-EEC5-4B95-813D-A51B21F79B6E}" srcOrd="0" destOrd="0" presId="urn:microsoft.com/office/officeart/2005/8/layout/list1"/>
    <dgm:cxn modelId="{33532316-75E3-4817-9193-764B608D2F0C}" type="presOf" srcId="{39F5D09A-4C55-4917-9039-7A5299DB0765}" destId="{3B4E07CF-71D1-4979-99F9-CD59478CFDEA}" srcOrd="1" destOrd="0" presId="urn:microsoft.com/office/officeart/2005/8/layout/list1"/>
    <dgm:cxn modelId="{BF4CA823-4284-4A6B-9466-D212F26FF2F6}" srcId="{7FFBAB5C-B6EB-4762-A0CE-092C235EBE1A}" destId="{3C56EE30-0357-4337-A2AE-020F02480417}" srcOrd="2" destOrd="0" parTransId="{D60A5138-C5BC-40D4-89CA-3A621B4BE6C0}" sibTransId="{CA5C1EE1-3841-496B-89F6-41D6CEC2E100}"/>
    <dgm:cxn modelId="{BA49A233-6C01-4BD1-8033-0C756468F25B}" srcId="{7FFBAB5C-B6EB-4762-A0CE-092C235EBE1A}" destId="{EE386EF0-6A98-498C-A80A-1848BA6A4A31}" srcOrd="3" destOrd="0" parTransId="{E6A00B80-82FB-48B0-AD5F-7B0F2CA47CC4}" sibTransId="{56A66587-C7F6-4497-A308-00630812F3F9}"/>
    <dgm:cxn modelId="{D5826B3C-AE46-4252-817E-097396E71B24}" srcId="{7FFBAB5C-B6EB-4762-A0CE-092C235EBE1A}" destId="{38353877-4856-4D49-80B1-D5F239210EAE}" srcOrd="0" destOrd="0" parTransId="{25751A7E-944C-4C23-BC7D-F09474DB18A9}" sibTransId="{D282E2B2-3AA4-4903-8275-D0300239A3B7}"/>
    <dgm:cxn modelId="{0881DC67-BB72-4F3F-9716-67783EACD4EA}" type="presOf" srcId="{3C56EE30-0357-4337-A2AE-020F02480417}" destId="{4EC94501-46F7-4A8D-92B7-5D3E5C499DD8}" srcOrd="0" destOrd="0" presId="urn:microsoft.com/office/officeart/2005/8/layout/list1"/>
    <dgm:cxn modelId="{6D42C049-2572-469A-8870-483228D5BD64}" type="presOf" srcId="{3C56EE30-0357-4337-A2AE-020F02480417}" destId="{6D1CA477-077F-4A55-8421-46CC09655D3E}" srcOrd="1" destOrd="0" presId="urn:microsoft.com/office/officeart/2005/8/layout/list1"/>
    <dgm:cxn modelId="{E2888074-AC02-4B70-981F-ABE80716F0AC}" srcId="{7FFBAB5C-B6EB-4762-A0CE-092C235EBE1A}" destId="{39F5D09A-4C55-4917-9039-7A5299DB0765}" srcOrd="5" destOrd="0" parTransId="{AB6C284C-D33A-4B9E-B731-4CB759C3CF94}" sibTransId="{26DA1DD3-D678-4C93-BA67-9BC8A2DE328A}"/>
    <dgm:cxn modelId="{ED013B56-A8A3-4960-858F-E465F2480D60}" srcId="{7FFBAB5C-B6EB-4762-A0CE-092C235EBE1A}" destId="{F4C48FB5-152D-44D2-9DF4-99A87298448C}" srcOrd="1" destOrd="0" parTransId="{CDC0A7FF-E221-4719-BA54-8F6CF971026C}" sibTransId="{CBCDD929-AE1C-4C33-9703-357C0D9D5DCD}"/>
    <dgm:cxn modelId="{7666C387-C87E-47F6-BDB0-7EB886EBC6EC}" type="presOf" srcId="{5035F0FA-FB65-4AE9-B46F-11AAFF8F6CB6}" destId="{8CE8B32C-9616-486E-A7AD-90FF0A36DFA6}" srcOrd="1" destOrd="0" presId="urn:microsoft.com/office/officeart/2005/8/layout/list1"/>
    <dgm:cxn modelId="{7C5E1590-391D-4CD3-8E16-C37C6FCB171F}" srcId="{EE386EF0-6A98-498C-A80A-1848BA6A4A31}" destId="{A664571A-E59E-4A6D-AB4D-80321A4EB480}" srcOrd="1" destOrd="0" parTransId="{34BA43F0-5153-4BB3-8D45-17267ABFA849}" sibTransId="{F257EA9F-CD1D-4E56-83EC-2F4E92256CB7}"/>
    <dgm:cxn modelId="{D2A8839D-8D46-41BF-92ED-0FB4776CBFC7}" srcId="{7FFBAB5C-B6EB-4762-A0CE-092C235EBE1A}" destId="{5035F0FA-FB65-4AE9-B46F-11AAFF8F6CB6}" srcOrd="6" destOrd="0" parTransId="{424CD1A7-D19E-46B1-AD8E-8CEDD61817ED}" sibTransId="{C7A8AAB5-840D-4100-8B31-F42F16372300}"/>
    <dgm:cxn modelId="{FB6B04A2-C145-42A6-8B67-E0B9A45A5DB5}" type="presOf" srcId="{F4C48FB5-152D-44D2-9DF4-99A87298448C}" destId="{F227B3BB-D2CB-4A8D-BE7E-4048E5D1C85C}" srcOrd="0" destOrd="0" presId="urn:microsoft.com/office/officeart/2005/8/layout/list1"/>
    <dgm:cxn modelId="{37E8C8A8-9EB3-415B-B1CF-401CFD6B170E}" type="presOf" srcId="{30E86BDC-763D-417B-B856-AF930165668A}" destId="{06EA86F2-4CBD-4D26-AF78-8A343BC79757}" srcOrd="1" destOrd="0" presId="urn:microsoft.com/office/officeart/2005/8/layout/list1"/>
    <dgm:cxn modelId="{09917FBD-03C6-40A1-B7B4-0B472A96DA30}" type="presOf" srcId="{3083BC78-8CDE-4E0B-BFF9-F2B9DE862263}" destId="{49F7145A-70A9-4DF7-9004-D70E8DA7B54D}" srcOrd="0" destOrd="0" presId="urn:microsoft.com/office/officeart/2005/8/layout/list1"/>
    <dgm:cxn modelId="{6BBB32BE-2166-418C-BD05-41ACF7350543}" srcId="{7FFBAB5C-B6EB-4762-A0CE-092C235EBE1A}" destId="{30E86BDC-763D-417B-B856-AF930165668A}" srcOrd="4" destOrd="0" parTransId="{2FD31F4F-F50E-4A86-8526-9EE5C618B243}" sibTransId="{5BF2F3DF-7B63-4D95-8D7B-2EEA184945B3}"/>
    <dgm:cxn modelId="{6C6080C2-F1D8-4DE4-B122-A1B11E62AECB}" type="presOf" srcId="{EE386EF0-6A98-498C-A80A-1848BA6A4A31}" destId="{7F0CA23E-0B57-4421-B883-0A4FF9E532A0}" srcOrd="0" destOrd="0" presId="urn:microsoft.com/office/officeart/2005/8/layout/list1"/>
    <dgm:cxn modelId="{A67147C8-79C8-42F5-9594-BE8F0064BB99}" type="presOf" srcId="{7FFBAB5C-B6EB-4762-A0CE-092C235EBE1A}" destId="{B9E38F58-C038-45E8-8463-7418B27C10F0}" srcOrd="0" destOrd="0" presId="urn:microsoft.com/office/officeart/2005/8/layout/list1"/>
    <dgm:cxn modelId="{7A2F88C9-74A0-4E09-BBE5-798AED431134}" type="presOf" srcId="{39F5D09A-4C55-4917-9039-7A5299DB0765}" destId="{6B595075-A53B-4759-8659-8BB2D3963473}" srcOrd="0" destOrd="0" presId="urn:microsoft.com/office/officeart/2005/8/layout/list1"/>
    <dgm:cxn modelId="{AB5896DE-D5EF-415B-9933-84BE68834B1D}" type="presOf" srcId="{F4C48FB5-152D-44D2-9DF4-99A87298448C}" destId="{27C5D1FA-E57A-4149-9626-CE929D3CD57C}" srcOrd="1" destOrd="0" presId="urn:microsoft.com/office/officeart/2005/8/layout/list1"/>
    <dgm:cxn modelId="{A433EEEA-6282-400B-BE15-C68D4EC84ED3}" srcId="{EE386EF0-6A98-498C-A80A-1848BA6A4A31}" destId="{3083BC78-8CDE-4E0B-BFF9-F2B9DE862263}" srcOrd="0" destOrd="0" parTransId="{8CB62F1E-C45A-4983-89B3-D1011301AD26}" sibTransId="{B7F4AC57-6A09-4A60-ABE8-DD0EC5F5119F}"/>
    <dgm:cxn modelId="{ED9B36F6-FF41-43C0-89DA-4A22B1149142}" type="presOf" srcId="{EE386EF0-6A98-498C-A80A-1848BA6A4A31}" destId="{099D163B-1919-4C79-8534-4ADD9957B4C1}" srcOrd="1" destOrd="0" presId="urn:microsoft.com/office/officeart/2005/8/layout/list1"/>
    <dgm:cxn modelId="{AD6E4AF8-C687-4C41-B799-A2543C493F87}" type="presOf" srcId="{38353877-4856-4D49-80B1-D5F239210EAE}" destId="{882B8F9F-B504-4A2E-9100-0D72F40CF184}" srcOrd="0" destOrd="0" presId="urn:microsoft.com/office/officeart/2005/8/layout/list1"/>
    <dgm:cxn modelId="{2DA1ABFB-B34D-4197-BA61-2D9728325F90}" type="presOf" srcId="{38353877-4856-4D49-80B1-D5F239210EAE}" destId="{F59F54BF-1442-47D7-AE35-AEDEDDBA3CBC}" srcOrd="1" destOrd="0" presId="urn:microsoft.com/office/officeart/2005/8/layout/list1"/>
    <dgm:cxn modelId="{E4E30EA1-E81F-42F8-B38F-C4A6D4828D4E}" type="presParOf" srcId="{B9E38F58-C038-45E8-8463-7418B27C10F0}" destId="{BB97833C-D3AD-499C-AF31-48022FAC2777}" srcOrd="0" destOrd="0" presId="urn:microsoft.com/office/officeart/2005/8/layout/list1"/>
    <dgm:cxn modelId="{840F6402-0D33-4072-AFE2-2ED2447B215A}" type="presParOf" srcId="{BB97833C-D3AD-499C-AF31-48022FAC2777}" destId="{882B8F9F-B504-4A2E-9100-0D72F40CF184}" srcOrd="0" destOrd="0" presId="urn:microsoft.com/office/officeart/2005/8/layout/list1"/>
    <dgm:cxn modelId="{C44E9A9A-A0E3-4589-816A-6E024EB3AC67}" type="presParOf" srcId="{BB97833C-D3AD-499C-AF31-48022FAC2777}" destId="{F59F54BF-1442-47D7-AE35-AEDEDDBA3CBC}" srcOrd="1" destOrd="0" presId="urn:microsoft.com/office/officeart/2005/8/layout/list1"/>
    <dgm:cxn modelId="{5CD841CD-FA2E-4EB2-8246-B131444D31F6}" type="presParOf" srcId="{B9E38F58-C038-45E8-8463-7418B27C10F0}" destId="{1825AE79-E229-4AB0-96B9-9335814AC2F7}" srcOrd="1" destOrd="0" presId="urn:microsoft.com/office/officeart/2005/8/layout/list1"/>
    <dgm:cxn modelId="{81A8EC67-2313-4C43-99D0-E8B5E642946E}" type="presParOf" srcId="{B9E38F58-C038-45E8-8463-7418B27C10F0}" destId="{C13BBF0D-7820-4E89-93A8-32871BDA74B6}" srcOrd="2" destOrd="0" presId="urn:microsoft.com/office/officeart/2005/8/layout/list1"/>
    <dgm:cxn modelId="{8468C925-712D-4C41-8B0A-C60419151028}" type="presParOf" srcId="{B9E38F58-C038-45E8-8463-7418B27C10F0}" destId="{98DE509F-9013-4731-9DD2-4E9B7638A373}" srcOrd="3" destOrd="0" presId="urn:microsoft.com/office/officeart/2005/8/layout/list1"/>
    <dgm:cxn modelId="{D85474F0-13FD-4BA9-97DB-CDC928D6A941}" type="presParOf" srcId="{B9E38F58-C038-45E8-8463-7418B27C10F0}" destId="{F90CCD94-5411-44EC-8F9F-096E939A7F32}" srcOrd="4" destOrd="0" presId="urn:microsoft.com/office/officeart/2005/8/layout/list1"/>
    <dgm:cxn modelId="{71498527-9EBE-456F-AFA5-F0FF72E34404}" type="presParOf" srcId="{F90CCD94-5411-44EC-8F9F-096E939A7F32}" destId="{F227B3BB-D2CB-4A8D-BE7E-4048E5D1C85C}" srcOrd="0" destOrd="0" presId="urn:microsoft.com/office/officeart/2005/8/layout/list1"/>
    <dgm:cxn modelId="{DE9F489A-876B-44A1-889E-BD858C0C9C55}" type="presParOf" srcId="{F90CCD94-5411-44EC-8F9F-096E939A7F32}" destId="{27C5D1FA-E57A-4149-9626-CE929D3CD57C}" srcOrd="1" destOrd="0" presId="urn:microsoft.com/office/officeart/2005/8/layout/list1"/>
    <dgm:cxn modelId="{7C8C4373-1405-49BA-A1C9-6AAD4EDD41FF}" type="presParOf" srcId="{B9E38F58-C038-45E8-8463-7418B27C10F0}" destId="{6E260696-45BD-4F0A-9D37-D5BB42AA3A70}" srcOrd="5" destOrd="0" presId="urn:microsoft.com/office/officeart/2005/8/layout/list1"/>
    <dgm:cxn modelId="{BF9E0BF3-F677-4758-A0BA-CC34EA9C1299}" type="presParOf" srcId="{B9E38F58-C038-45E8-8463-7418B27C10F0}" destId="{5F02ABB0-5A59-4408-931A-D34199125C15}" srcOrd="6" destOrd="0" presId="urn:microsoft.com/office/officeart/2005/8/layout/list1"/>
    <dgm:cxn modelId="{CC6F08E5-53E9-452F-A01C-21B2CFD02616}" type="presParOf" srcId="{B9E38F58-C038-45E8-8463-7418B27C10F0}" destId="{B2AE1426-48AC-48B9-9898-91286C1D7639}" srcOrd="7" destOrd="0" presId="urn:microsoft.com/office/officeart/2005/8/layout/list1"/>
    <dgm:cxn modelId="{B2DC10F8-4A03-4AA8-9246-6D41834DC04B}" type="presParOf" srcId="{B9E38F58-C038-45E8-8463-7418B27C10F0}" destId="{A3BCD0CD-1466-4A09-B6E6-E6F2F57D62C2}" srcOrd="8" destOrd="0" presId="urn:microsoft.com/office/officeart/2005/8/layout/list1"/>
    <dgm:cxn modelId="{B98E59CA-2607-4F05-A2CA-11F175035E5B}" type="presParOf" srcId="{A3BCD0CD-1466-4A09-B6E6-E6F2F57D62C2}" destId="{4EC94501-46F7-4A8D-92B7-5D3E5C499DD8}" srcOrd="0" destOrd="0" presId="urn:microsoft.com/office/officeart/2005/8/layout/list1"/>
    <dgm:cxn modelId="{7A21CDBA-5AD9-432C-A158-C4CF03209BEF}" type="presParOf" srcId="{A3BCD0CD-1466-4A09-B6E6-E6F2F57D62C2}" destId="{6D1CA477-077F-4A55-8421-46CC09655D3E}" srcOrd="1" destOrd="0" presId="urn:microsoft.com/office/officeart/2005/8/layout/list1"/>
    <dgm:cxn modelId="{660C3FE6-43F5-4586-9F01-A93B80CB96C6}" type="presParOf" srcId="{B9E38F58-C038-45E8-8463-7418B27C10F0}" destId="{E2D493C2-F4CA-4569-8B38-66840057649A}" srcOrd="9" destOrd="0" presId="urn:microsoft.com/office/officeart/2005/8/layout/list1"/>
    <dgm:cxn modelId="{98DF19CF-563C-48F7-BE41-680F2E205C5E}" type="presParOf" srcId="{B9E38F58-C038-45E8-8463-7418B27C10F0}" destId="{D648D4BD-A9C2-4899-A1D7-C97CF3A1B483}" srcOrd="10" destOrd="0" presId="urn:microsoft.com/office/officeart/2005/8/layout/list1"/>
    <dgm:cxn modelId="{714BE654-473A-4000-B298-B422F80939F5}" type="presParOf" srcId="{B9E38F58-C038-45E8-8463-7418B27C10F0}" destId="{7F51C7DD-54D4-40D4-81EF-A3ECE960CFC6}" srcOrd="11" destOrd="0" presId="urn:microsoft.com/office/officeart/2005/8/layout/list1"/>
    <dgm:cxn modelId="{83025831-B3FD-416C-BD0A-1B0BF9FCB2A7}" type="presParOf" srcId="{B9E38F58-C038-45E8-8463-7418B27C10F0}" destId="{C337A9C2-3BFD-4842-84AB-487D1370C79C}" srcOrd="12" destOrd="0" presId="urn:microsoft.com/office/officeart/2005/8/layout/list1"/>
    <dgm:cxn modelId="{2082512D-0623-461F-8079-A0C0D88B8672}" type="presParOf" srcId="{C337A9C2-3BFD-4842-84AB-487D1370C79C}" destId="{7F0CA23E-0B57-4421-B883-0A4FF9E532A0}" srcOrd="0" destOrd="0" presId="urn:microsoft.com/office/officeart/2005/8/layout/list1"/>
    <dgm:cxn modelId="{478D15C2-D724-48ED-900A-4676840F62C4}" type="presParOf" srcId="{C337A9C2-3BFD-4842-84AB-487D1370C79C}" destId="{099D163B-1919-4C79-8534-4ADD9957B4C1}" srcOrd="1" destOrd="0" presId="urn:microsoft.com/office/officeart/2005/8/layout/list1"/>
    <dgm:cxn modelId="{7E0BBF7C-B8BE-4183-A5C8-B72544006FAB}" type="presParOf" srcId="{B9E38F58-C038-45E8-8463-7418B27C10F0}" destId="{5A64C006-BC65-4D93-9B2E-A97A5DFCA901}" srcOrd="13" destOrd="0" presId="urn:microsoft.com/office/officeart/2005/8/layout/list1"/>
    <dgm:cxn modelId="{1AA19792-FC63-4834-95FC-28D39880BA50}" type="presParOf" srcId="{B9E38F58-C038-45E8-8463-7418B27C10F0}" destId="{49F7145A-70A9-4DF7-9004-D70E8DA7B54D}" srcOrd="14" destOrd="0" presId="urn:microsoft.com/office/officeart/2005/8/layout/list1"/>
    <dgm:cxn modelId="{492B330B-3C58-42C3-8646-8C94FDA4E3CE}" type="presParOf" srcId="{B9E38F58-C038-45E8-8463-7418B27C10F0}" destId="{FE74840E-30D0-4BC9-966D-5CFE751623C3}" srcOrd="15" destOrd="0" presId="urn:microsoft.com/office/officeart/2005/8/layout/list1"/>
    <dgm:cxn modelId="{D2F9E583-968E-4FCE-8470-846940A49890}" type="presParOf" srcId="{B9E38F58-C038-45E8-8463-7418B27C10F0}" destId="{D5122521-ED03-4161-9FE7-286EB44D9F93}" srcOrd="16" destOrd="0" presId="urn:microsoft.com/office/officeart/2005/8/layout/list1"/>
    <dgm:cxn modelId="{167FB1B2-7996-4714-A372-3693D0DBD93A}" type="presParOf" srcId="{D5122521-ED03-4161-9FE7-286EB44D9F93}" destId="{858F824B-EEC5-4B95-813D-A51B21F79B6E}" srcOrd="0" destOrd="0" presId="urn:microsoft.com/office/officeart/2005/8/layout/list1"/>
    <dgm:cxn modelId="{CEC48C1C-B62E-4831-965A-F6D9E57D4622}" type="presParOf" srcId="{D5122521-ED03-4161-9FE7-286EB44D9F93}" destId="{06EA86F2-4CBD-4D26-AF78-8A343BC79757}" srcOrd="1" destOrd="0" presId="urn:microsoft.com/office/officeart/2005/8/layout/list1"/>
    <dgm:cxn modelId="{49F6CA80-0CD3-4C11-B124-42456DFDCED1}" type="presParOf" srcId="{B9E38F58-C038-45E8-8463-7418B27C10F0}" destId="{4D81C9AF-E070-483B-813D-A49E36B29697}" srcOrd="17" destOrd="0" presId="urn:microsoft.com/office/officeart/2005/8/layout/list1"/>
    <dgm:cxn modelId="{90945362-1373-4E37-AD3E-317802427E8D}" type="presParOf" srcId="{B9E38F58-C038-45E8-8463-7418B27C10F0}" destId="{C29FB621-C6B2-4F1E-AC4B-F1F4F1590260}" srcOrd="18" destOrd="0" presId="urn:microsoft.com/office/officeart/2005/8/layout/list1"/>
    <dgm:cxn modelId="{1FDEC121-31F3-4C77-A34A-90D3E3D79D28}" type="presParOf" srcId="{B9E38F58-C038-45E8-8463-7418B27C10F0}" destId="{7F17A044-027E-4012-AEF8-70728694E978}" srcOrd="19" destOrd="0" presId="urn:microsoft.com/office/officeart/2005/8/layout/list1"/>
    <dgm:cxn modelId="{F73F7814-2554-4D5D-81A6-84E40A4E1E22}" type="presParOf" srcId="{B9E38F58-C038-45E8-8463-7418B27C10F0}" destId="{1687762E-1430-4D31-B9FA-08F66C6252AB}" srcOrd="20" destOrd="0" presId="urn:microsoft.com/office/officeart/2005/8/layout/list1"/>
    <dgm:cxn modelId="{25EAE134-2DBE-4F5A-84BD-43E380F591F4}" type="presParOf" srcId="{1687762E-1430-4D31-B9FA-08F66C6252AB}" destId="{6B595075-A53B-4759-8659-8BB2D3963473}" srcOrd="0" destOrd="0" presId="urn:microsoft.com/office/officeart/2005/8/layout/list1"/>
    <dgm:cxn modelId="{16C19005-8B77-4CF7-BE98-1DE70592E343}" type="presParOf" srcId="{1687762E-1430-4D31-B9FA-08F66C6252AB}" destId="{3B4E07CF-71D1-4979-99F9-CD59478CFDEA}" srcOrd="1" destOrd="0" presId="urn:microsoft.com/office/officeart/2005/8/layout/list1"/>
    <dgm:cxn modelId="{F9F13B9A-4ACB-44F7-84A7-AF64EAF0472E}" type="presParOf" srcId="{B9E38F58-C038-45E8-8463-7418B27C10F0}" destId="{DF47C9E5-4D14-499D-A476-E409099A9516}" srcOrd="21" destOrd="0" presId="urn:microsoft.com/office/officeart/2005/8/layout/list1"/>
    <dgm:cxn modelId="{E1047276-969A-4682-A05B-66A057817D33}" type="presParOf" srcId="{B9E38F58-C038-45E8-8463-7418B27C10F0}" destId="{A1485860-4264-49DB-A57B-8AE5EBA53FBB}" srcOrd="22" destOrd="0" presId="urn:microsoft.com/office/officeart/2005/8/layout/list1"/>
    <dgm:cxn modelId="{D83215D3-5C48-439A-B752-98E4E9E9B50E}" type="presParOf" srcId="{B9E38F58-C038-45E8-8463-7418B27C10F0}" destId="{923FBB31-196D-4A45-9EB5-3FE33976A0A1}" srcOrd="23" destOrd="0" presId="urn:microsoft.com/office/officeart/2005/8/layout/list1"/>
    <dgm:cxn modelId="{A456169E-970D-4CE0-8F3A-653106136737}" type="presParOf" srcId="{B9E38F58-C038-45E8-8463-7418B27C10F0}" destId="{0005CBAC-F204-44E0-85BB-6FBEA302EA64}" srcOrd="24" destOrd="0" presId="urn:microsoft.com/office/officeart/2005/8/layout/list1"/>
    <dgm:cxn modelId="{828D64BF-9520-4968-8CB9-EF9AE5B7B36F}" type="presParOf" srcId="{0005CBAC-F204-44E0-85BB-6FBEA302EA64}" destId="{4141591B-BB3E-446D-9808-00BE09B11026}" srcOrd="0" destOrd="0" presId="urn:microsoft.com/office/officeart/2005/8/layout/list1"/>
    <dgm:cxn modelId="{E3FD6E4D-C464-4A90-87E1-874992A16951}" type="presParOf" srcId="{0005CBAC-F204-44E0-85BB-6FBEA302EA64}" destId="{8CE8B32C-9616-486E-A7AD-90FF0A36DFA6}" srcOrd="1" destOrd="0" presId="urn:microsoft.com/office/officeart/2005/8/layout/list1"/>
    <dgm:cxn modelId="{5D366B39-9969-4D28-958F-F40D90F0CA0D}" type="presParOf" srcId="{B9E38F58-C038-45E8-8463-7418B27C10F0}" destId="{65F72136-EF91-4F5D-B400-71AE132B6896}" srcOrd="25" destOrd="0" presId="urn:microsoft.com/office/officeart/2005/8/layout/list1"/>
    <dgm:cxn modelId="{9D2CB5B5-B28F-450C-A9BB-A31B50B74ED6}" type="presParOf" srcId="{B9E38F58-C038-45E8-8463-7418B27C10F0}" destId="{C57467C1-14BD-4C36-A105-1D13C917F1ED}" srcOrd="26" destOrd="0" presId="urn:microsoft.com/office/officeart/2005/8/layout/list1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C47217-689E-44D6-9698-94AA23A83C69}">
      <dsp:nvSpPr>
        <dsp:cNvPr id="0" name=""/>
        <dsp:cNvSpPr/>
      </dsp:nvSpPr>
      <dsp:spPr>
        <a:xfrm>
          <a:off x="0" y="360405"/>
          <a:ext cx="8777592" cy="665363"/>
        </a:xfrm>
        <a:prstGeom prst="roundRect">
          <a:avLst>
            <a:gd name="adj" fmla="val 10000"/>
          </a:avLst>
        </a:prstGeom>
        <a:solidFill>
          <a:schemeClr val="accent3">
            <a:lumMod val="20000"/>
            <a:lumOff val="8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D99B60-75E9-43EF-BE75-9559D31C6773}">
      <dsp:nvSpPr>
        <dsp:cNvPr id="0" name=""/>
        <dsp:cNvSpPr/>
      </dsp:nvSpPr>
      <dsp:spPr>
        <a:xfrm>
          <a:off x="201272" y="510111"/>
          <a:ext cx="365949" cy="3659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71CF2B-67A0-4AAF-AD64-28DB18FB123C}">
      <dsp:nvSpPr>
        <dsp:cNvPr id="0" name=""/>
        <dsp:cNvSpPr/>
      </dsp:nvSpPr>
      <dsp:spPr>
        <a:xfrm>
          <a:off x="1543654" y="360405"/>
          <a:ext cx="6458776" cy="665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418" tIns="70418" rIns="70418" bIns="70418" numCol="1" spcCol="1270" anchor="ctr" anchorCtr="0">
          <a:noAutofit/>
        </a:bodyPr>
        <a:lstStyle/>
        <a:p>
          <a:pPr marL="0" lvl="0" indent="0" algn="l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>
              <a:solidFill>
                <a:srgbClr val="001236"/>
              </a:solidFill>
              <a:latin typeface="Aptos" panose="020B0004020202020204" pitchFamily="34" charset="0"/>
            </a:rPr>
            <a:t>Magnetic Circuit</a:t>
          </a:r>
        </a:p>
      </dsp:txBody>
      <dsp:txXfrm>
        <a:off x="1543654" y="360405"/>
        <a:ext cx="6458776" cy="665363"/>
      </dsp:txXfrm>
    </dsp:sp>
    <dsp:sp modelId="{377B72A7-4255-4DE6-A50F-1548A133C8B4}">
      <dsp:nvSpPr>
        <dsp:cNvPr id="0" name=""/>
        <dsp:cNvSpPr/>
      </dsp:nvSpPr>
      <dsp:spPr>
        <a:xfrm>
          <a:off x="0" y="1192108"/>
          <a:ext cx="8777592" cy="665363"/>
        </a:xfrm>
        <a:prstGeom prst="roundRect">
          <a:avLst>
            <a:gd name="adj" fmla="val 10000"/>
          </a:avLst>
        </a:prstGeom>
        <a:solidFill>
          <a:schemeClr val="accent2">
            <a:lumMod val="40000"/>
            <a:lumOff val="6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5AE132-9861-4AED-B318-172BE7B9B713}">
      <dsp:nvSpPr>
        <dsp:cNvPr id="0" name=""/>
        <dsp:cNvSpPr/>
      </dsp:nvSpPr>
      <dsp:spPr>
        <a:xfrm>
          <a:off x="163290" y="1289876"/>
          <a:ext cx="441913" cy="46982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57000" r="-57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2ECCA1-6CE9-4C2E-99F4-62227A27BB30}">
      <dsp:nvSpPr>
        <dsp:cNvPr id="0" name=""/>
        <dsp:cNvSpPr/>
      </dsp:nvSpPr>
      <dsp:spPr>
        <a:xfrm>
          <a:off x="1523071" y="1192108"/>
          <a:ext cx="6499943" cy="665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418" tIns="70418" rIns="70418" bIns="70418" numCol="1" spcCol="1270" anchor="ctr" anchorCtr="0">
          <a:noAutofit/>
        </a:bodyPr>
        <a:lstStyle/>
        <a:p>
          <a:pPr marL="0" lvl="0" indent="0" algn="l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>
              <a:solidFill>
                <a:srgbClr val="001236"/>
              </a:solidFill>
              <a:latin typeface="Aptos" panose="020B0004020202020204" pitchFamily="34" charset="0"/>
            </a:rPr>
            <a:t>Electromagnetic Induction</a:t>
          </a:r>
        </a:p>
      </dsp:txBody>
      <dsp:txXfrm>
        <a:off x="1523071" y="1192108"/>
        <a:ext cx="6499943" cy="66536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D6B6F7-1876-4595-AE54-390395247423}">
      <dsp:nvSpPr>
        <dsp:cNvPr id="0" name=""/>
        <dsp:cNvSpPr/>
      </dsp:nvSpPr>
      <dsp:spPr>
        <a:xfrm>
          <a:off x="0" y="359420"/>
          <a:ext cx="6353965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06762F-ED53-4319-B741-0AF6031E1B68}">
      <dsp:nvSpPr>
        <dsp:cNvPr id="0" name=""/>
        <dsp:cNvSpPr/>
      </dsp:nvSpPr>
      <dsp:spPr>
        <a:xfrm>
          <a:off x="317698" y="34700"/>
          <a:ext cx="4447775" cy="649440"/>
        </a:xfrm>
        <a:prstGeom prst="roundRect">
          <a:avLst/>
        </a:prstGeom>
        <a:solidFill>
          <a:schemeClr val="accent2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8115" tIns="0" rIns="168115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latin typeface="Aptos" panose="020B0004020202020204" pitchFamily="34" charset="0"/>
            </a:rPr>
            <a:t>Magnetic Flux density (B)</a:t>
          </a:r>
          <a:endParaRPr lang="en-IN" sz="1500" b="1" kern="1200" dirty="0">
            <a:latin typeface="Aptos" panose="020B0004020202020204" pitchFamily="34" charset="0"/>
          </a:endParaRPr>
        </a:p>
      </dsp:txBody>
      <dsp:txXfrm>
        <a:off x="349401" y="66403"/>
        <a:ext cx="4384369" cy="586034"/>
      </dsp:txXfrm>
    </dsp:sp>
    <dsp:sp modelId="{EC9369FC-699B-42BC-909B-1749ED5A98ED}">
      <dsp:nvSpPr>
        <dsp:cNvPr id="0" name=""/>
        <dsp:cNvSpPr/>
      </dsp:nvSpPr>
      <dsp:spPr>
        <a:xfrm>
          <a:off x="0" y="1357340"/>
          <a:ext cx="6353965" cy="10221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3138" tIns="458216" rIns="493138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1" kern="1200" dirty="0">
              <a:latin typeface="Aptos" panose="020B0004020202020204" pitchFamily="34" charset="0"/>
            </a:rPr>
            <a:t>For straight conductor </a:t>
          </a:r>
          <a:endParaRPr lang="en-IN" sz="1500" b="1" kern="1200" dirty="0">
            <a:latin typeface="Aptos" panose="020B0004020202020204" pitchFamily="34" charset="0"/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1" kern="1200" dirty="0">
              <a:latin typeface="Aptos" panose="020B0004020202020204" pitchFamily="34" charset="0"/>
            </a:rPr>
            <a:t>For coil </a:t>
          </a:r>
          <a:endParaRPr lang="en-IN" sz="1500" b="1" kern="1200" dirty="0">
            <a:latin typeface="Aptos" panose="020B0004020202020204" pitchFamily="34" charset="0"/>
          </a:endParaRPr>
        </a:p>
      </dsp:txBody>
      <dsp:txXfrm>
        <a:off x="0" y="1357340"/>
        <a:ext cx="6353965" cy="1022175"/>
      </dsp:txXfrm>
    </dsp:sp>
    <dsp:sp modelId="{7A1BE148-6E69-4EBD-A56B-DAA9C78DDA5E}">
      <dsp:nvSpPr>
        <dsp:cNvPr id="0" name=""/>
        <dsp:cNvSpPr/>
      </dsp:nvSpPr>
      <dsp:spPr>
        <a:xfrm>
          <a:off x="317698" y="1032620"/>
          <a:ext cx="4447775" cy="64944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8115" tIns="0" rIns="168115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latin typeface="Aptos" panose="020B0004020202020204" pitchFamily="34" charset="0"/>
            </a:rPr>
            <a:t>Magnetic Field strength (H)</a:t>
          </a:r>
          <a:endParaRPr lang="en-IN" sz="1500" b="1" kern="1200" dirty="0">
            <a:latin typeface="Aptos" panose="020B0004020202020204" pitchFamily="34" charset="0"/>
          </a:endParaRPr>
        </a:p>
      </dsp:txBody>
      <dsp:txXfrm>
        <a:off x="349401" y="1064323"/>
        <a:ext cx="4384369" cy="586034"/>
      </dsp:txXfrm>
    </dsp:sp>
    <dsp:sp modelId="{8DF7CAF2-B3B8-4DFB-A4B8-A3F486DC02AC}">
      <dsp:nvSpPr>
        <dsp:cNvPr id="0" name=""/>
        <dsp:cNvSpPr/>
      </dsp:nvSpPr>
      <dsp:spPr>
        <a:xfrm>
          <a:off x="0" y="2823035"/>
          <a:ext cx="6353965" cy="10221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3138" tIns="458216" rIns="493138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500" b="1" kern="1200" dirty="0">
              <a:latin typeface="Aptos" panose="020B0004020202020204" pitchFamily="34" charset="0"/>
            </a:rPr>
            <a:t>Absolute Permeability of free space /material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500" b="1" kern="1200" dirty="0">
              <a:latin typeface="Aptos" panose="020B0004020202020204" pitchFamily="34" charset="0"/>
            </a:rPr>
            <a:t>Relative Permeability</a:t>
          </a:r>
        </a:p>
      </dsp:txBody>
      <dsp:txXfrm>
        <a:off x="0" y="2823035"/>
        <a:ext cx="6353965" cy="1022175"/>
      </dsp:txXfrm>
    </dsp:sp>
    <dsp:sp modelId="{34CC3A5A-ADBE-4E46-9A0A-8333F32FA6AC}">
      <dsp:nvSpPr>
        <dsp:cNvPr id="0" name=""/>
        <dsp:cNvSpPr/>
      </dsp:nvSpPr>
      <dsp:spPr>
        <a:xfrm>
          <a:off x="317698" y="2498315"/>
          <a:ext cx="4447775" cy="649440"/>
        </a:xfrm>
        <a:prstGeom prst="roundRect">
          <a:avLst/>
        </a:prstGeom>
        <a:solidFill>
          <a:schemeClr val="accent4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8115" tIns="0" rIns="168115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latin typeface="Aptos" panose="020B0004020202020204" pitchFamily="34" charset="0"/>
            </a:rPr>
            <a:t>Permeability (µ)</a:t>
          </a:r>
          <a:endParaRPr lang="en-IN" sz="1500" b="1" kern="1200" dirty="0">
            <a:latin typeface="Aptos" panose="020B0004020202020204" pitchFamily="34" charset="0"/>
          </a:endParaRPr>
        </a:p>
      </dsp:txBody>
      <dsp:txXfrm>
        <a:off x="349401" y="2530018"/>
        <a:ext cx="4384369" cy="586034"/>
      </dsp:txXfrm>
    </dsp:sp>
    <dsp:sp modelId="{F9729100-4918-4B2C-B523-3433410340F1}">
      <dsp:nvSpPr>
        <dsp:cNvPr id="0" name=""/>
        <dsp:cNvSpPr/>
      </dsp:nvSpPr>
      <dsp:spPr>
        <a:xfrm>
          <a:off x="0" y="4288730"/>
          <a:ext cx="6353965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43A965-82BB-44CF-81A5-8B87439BFA18}">
      <dsp:nvSpPr>
        <dsp:cNvPr id="0" name=""/>
        <dsp:cNvSpPr/>
      </dsp:nvSpPr>
      <dsp:spPr>
        <a:xfrm>
          <a:off x="317698" y="3964010"/>
          <a:ext cx="4447775" cy="649440"/>
        </a:xfrm>
        <a:prstGeom prst="roundRect">
          <a:avLst/>
        </a:prstGeom>
        <a:solidFill>
          <a:schemeClr val="accent5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8115" tIns="0" rIns="168115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kern="1200" dirty="0">
              <a:latin typeface="Aptos" panose="020B0004020202020204" pitchFamily="34" charset="0"/>
            </a:rPr>
            <a:t>Magnetomotive Force (MMF)</a:t>
          </a:r>
        </a:p>
      </dsp:txBody>
      <dsp:txXfrm>
        <a:off x="349401" y="3995713"/>
        <a:ext cx="4384369" cy="586034"/>
      </dsp:txXfrm>
    </dsp:sp>
    <dsp:sp modelId="{D3CCB29D-1BD7-45BC-B267-41D7CD4C2FAB}">
      <dsp:nvSpPr>
        <dsp:cNvPr id="0" name=""/>
        <dsp:cNvSpPr/>
      </dsp:nvSpPr>
      <dsp:spPr>
        <a:xfrm>
          <a:off x="0" y="5316222"/>
          <a:ext cx="6353965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A74CA3-681A-4F21-82CD-D011450B34A8}">
      <dsp:nvSpPr>
        <dsp:cNvPr id="0" name=""/>
        <dsp:cNvSpPr/>
      </dsp:nvSpPr>
      <dsp:spPr>
        <a:xfrm>
          <a:off x="317698" y="4961930"/>
          <a:ext cx="4447775" cy="649440"/>
        </a:xfrm>
        <a:prstGeom prst="roundRect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8115" tIns="0" rIns="168115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kern="1200" dirty="0">
              <a:latin typeface="Aptos" panose="020B0004020202020204" pitchFamily="34" charset="0"/>
            </a:rPr>
            <a:t>Reluctance and Permeance</a:t>
          </a:r>
        </a:p>
      </dsp:txBody>
      <dsp:txXfrm>
        <a:off x="349401" y="4993633"/>
        <a:ext cx="4384369" cy="58603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3BBF0D-7820-4E89-93A8-32871BDA74B6}">
      <dsp:nvSpPr>
        <dsp:cNvPr id="0" name=""/>
        <dsp:cNvSpPr/>
      </dsp:nvSpPr>
      <dsp:spPr>
        <a:xfrm>
          <a:off x="0" y="528786"/>
          <a:ext cx="6900512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9F54BF-1442-47D7-AE35-AEDEDDBA3CBC}">
      <dsp:nvSpPr>
        <dsp:cNvPr id="0" name=""/>
        <dsp:cNvSpPr/>
      </dsp:nvSpPr>
      <dsp:spPr>
        <a:xfrm>
          <a:off x="345025" y="121132"/>
          <a:ext cx="5909943" cy="643814"/>
        </a:xfrm>
        <a:prstGeom prst="roundRect">
          <a:avLst/>
        </a:prstGeom>
        <a:solidFill>
          <a:schemeClr val="accent2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latin typeface="Aptos" panose="020B0004020202020204" pitchFamily="34" charset="0"/>
            </a:rPr>
            <a:t>Faradays Laws of Electromagnetic Induction</a:t>
          </a:r>
          <a:endParaRPr lang="en-US" sz="1600" kern="1200" dirty="0">
            <a:latin typeface="Aptos" panose="020B0004020202020204" pitchFamily="34" charset="0"/>
          </a:endParaRPr>
        </a:p>
      </dsp:txBody>
      <dsp:txXfrm>
        <a:off x="376453" y="152560"/>
        <a:ext cx="5847087" cy="580958"/>
      </dsp:txXfrm>
    </dsp:sp>
    <dsp:sp modelId="{5F02ABB0-5A59-4408-931A-D34199125C15}">
      <dsp:nvSpPr>
        <dsp:cNvPr id="0" name=""/>
        <dsp:cNvSpPr/>
      </dsp:nvSpPr>
      <dsp:spPr>
        <a:xfrm>
          <a:off x="0" y="1442624"/>
          <a:ext cx="6900512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C5D1FA-E57A-4149-9626-CE929D3CD57C}">
      <dsp:nvSpPr>
        <dsp:cNvPr id="0" name=""/>
        <dsp:cNvSpPr/>
      </dsp:nvSpPr>
      <dsp:spPr>
        <a:xfrm>
          <a:off x="345025" y="1018386"/>
          <a:ext cx="4830358" cy="660397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latin typeface="Aptos" panose="020B0004020202020204" pitchFamily="34" charset="0"/>
            </a:rPr>
            <a:t>Dynamically Induced EMF</a:t>
          </a:r>
          <a:endParaRPr lang="en-US" sz="1600" kern="1200">
            <a:latin typeface="Aptos" panose="020B0004020202020204" pitchFamily="34" charset="0"/>
          </a:endParaRPr>
        </a:p>
      </dsp:txBody>
      <dsp:txXfrm>
        <a:off x="377263" y="1050624"/>
        <a:ext cx="4765882" cy="595921"/>
      </dsp:txXfrm>
    </dsp:sp>
    <dsp:sp modelId="{D648D4BD-A9C2-4899-A1D7-C97CF3A1B483}">
      <dsp:nvSpPr>
        <dsp:cNvPr id="0" name=""/>
        <dsp:cNvSpPr/>
      </dsp:nvSpPr>
      <dsp:spPr>
        <a:xfrm>
          <a:off x="0" y="2264227"/>
          <a:ext cx="6900512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1CA477-077F-4A55-8421-46CC09655D3E}">
      <dsp:nvSpPr>
        <dsp:cNvPr id="0" name=""/>
        <dsp:cNvSpPr/>
      </dsp:nvSpPr>
      <dsp:spPr>
        <a:xfrm>
          <a:off x="345025" y="1932224"/>
          <a:ext cx="4830358" cy="568163"/>
        </a:xfrm>
        <a:prstGeom prst="roundRect">
          <a:avLst/>
        </a:prstGeom>
        <a:solidFill>
          <a:schemeClr val="accent4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latin typeface="Aptos" panose="020B0004020202020204" pitchFamily="34" charset="0"/>
            </a:rPr>
            <a:t>Flemings Right Hand Rule</a:t>
          </a:r>
          <a:endParaRPr lang="en-US" sz="1600" kern="1200" dirty="0">
            <a:latin typeface="Aptos" panose="020B0004020202020204" pitchFamily="34" charset="0"/>
          </a:endParaRPr>
        </a:p>
      </dsp:txBody>
      <dsp:txXfrm>
        <a:off x="372760" y="1959959"/>
        <a:ext cx="4774888" cy="512693"/>
      </dsp:txXfrm>
    </dsp:sp>
    <dsp:sp modelId="{49F7145A-70A9-4DF7-9004-D70E8DA7B54D}">
      <dsp:nvSpPr>
        <dsp:cNvPr id="0" name=""/>
        <dsp:cNvSpPr/>
      </dsp:nvSpPr>
      <dsp:spPr>
        <a:xfrm>
          <a:off x="0" y="2989987"/>
          <a:ext cx="6900512" cy="93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5556" tIns="333248" rIns="535556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 dirty="0">
              <a:latin typeface="Aptos" panose="020B0004020202020204" pitchFamily="34" charset="0"/>
            </a:rPr>
            <a:t>Self Induced EMF</a:t>
          </a:r>
          <a:endParaRPr lang="en-US" sz="1600" kern="1200" dirty="0">
            <a:latin typeface="Aptos" panose="020B0004020202020204" pitchFamily="34" charset="0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 dirty="0">
              <a:latin typeface="Aptos" panose="020B0004020202020204" pitchFamily="34" charset="0"/>
            </a:rPr>
            <a:t>Mutually Induced EMF</a:t>
          </a:r>
          <a:endParaRPr lang="en-US" sz="1600" kern="1200" dirty="0">
            <a:latin typeface="Aptos" panose="020B0004020202020204" pitchFamily="34" charset="0"/>
          </a:endParaRPr>
        </a:p>
      </dsp:txBody>
      <dsp:txXfrm>
        <a:off x="0" y="2989987"/>
        <a:ext cx="6900512" cy="932400"/>
      </dsp:txXfrm>
    </dsp:sp>
    <dsp:sp modelId="{099D163B-1919-4C79-8534-4ADD9957B4C1}">
      <dsp:nvSpPr>
        <dsp:cNvPr id="0" name=""/>
        <dsp:cNvSpPr/>
      </dsp:nvSpPr>
      <dsp:spPr>
        <a:xfrm>
          <a:off x="345025" y="2753827"/>
          <a:ext cx="4830358" cy="472320"/>
        </a:xfrm>
        <a:prstGeom prst="roundRect">
          <a:avLst/>
        </a:prstGeom>
        <a:solidFill>
          <a:schemeClr val="accent5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latin typeface="Aptos" panose="020B0004020202020204" pitchFamily="34" charset="0"/>
            </a:rPr>
            <a:t>Statically Induced EMF</a:t>
          </a:r>
          <a:endParaRPr lang="en-US" sz="1600" kern="1200" dirty="0">
            <a:latin typeface="Aptos" panose="020B0004020202020204" pitchFamily="34" charset="0"/>
          </a:endParaRPr>
        </a:p>
      </dsp:txBody>
      <dsp:txXfrm>
        <a:off x="368082" y="2776884"/>
        <a:ext cx="4784244" cy="426206"/>
      </dsp:txXfrm>
    </dsp:sp>
    <dsp:sp modelId="{C29FB621-C6B2-4F1E-AC4B-F1F4F1590260}">
      <dsp:nvSpPr>
        <dsp:cNvPr id="0" name=""/>
        <dsp:cNvSpPr/>
      </dsp:nvSpPr>
      <dsp:spPr>
        <a:xfrm>
          <a:off x="0" y="4403803"/>
          <a:ext cx="6900512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EA86F2-4CBD-4D26-AF78-8A343BC79757}">
      <dsp:nvSpPr>
        <dsp:cNvPr id="0" name=""/>
        <dsp:cNvSpPr/>
      </dsp:nvSpPr>
      <dsp:spPr>
        <a:xfrm>
          <a:off x="345025" y="4008787"/>
          <a:ext cx="4830358" cy="631175"/>
        </a:xfrm>
        <a:prstGeom prst="roundRect">
          <a:avLst/>
        </a:prstGeom>
        <a:solidFill>
          <a:schemeClr val="accent3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latin typeface="Aptos" panose="020B0004020202020204" pitchFamily="34" charset="0"/>
            </a:rPr>
            <a:t>Self and Mutual Inductance</a:t>
          </a:r>
          <a:endParaRPr lang="en-US" sz="1600" kern="1200">
            <a:latin typeface="Aptos" panose="020B0004020202020204" pitchFamily="34" charset="0"/>
          </a:endParaRPr>
        </a:p>
      </dsp:txBody>
      <dsp:txXfrm>
        <a:off x="375836" y="4039598"/>
        <a:ext cx="4768736" cy="569553"/>
      </dsp:txXfrm>
    </dsp:sp>
    <dsp:sp modelId="{A1485860-4264-49DB-A57B-8AE5EBA53FBB}">
      <dsp:nvSpPr>
        <dsp:cNvPr id="0" name=""/>
        <dsp:cNvSpPr/>
      </dsp:nvSpPr>
      <dsp:spPr>
        <a:xfrm>
          <a:off x="0" y="5255833"/>
          <a:ext cx="6900512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4E07CF-71D1-4979-99F9-CD59478CFDEA}">
      <dsp:nvSpPr>
        <dsp:cNvPr id="0" name=""/>
        <dsp:cNvSpPr/>
      </dsp:nvSpPr>
      <dsp:spPr>
        <a:xfrm>
          <a:off x="345025" y="4893403"/>
          <a:ext cx="4830358" cy="598590"/>
        </a:xfrm>
        <a:prstGeom prst="roundRect">
          <a:avLst/>
        </a:prstGeom>
        <a:solidFill>
          <a:schemeClr val="accent2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latin typeface="Aptos" panose="020B0004020202020204" pitchFamily="34" charset="0"/>
            </a:rPr>
            <a:t>Coefficient of Coupling</a:t>
          </a:r>
          <a:endParaRPr lang="en-US" sz="1600" kern="1200">
            <a:latin typeface="Aptos" panose="020B0004020202020204" pitchFamily="34" charset="0"/>
          </a:endParaRPr>
        </a:p>
      </dsp:txBody>
      <dsp:txXfrm>
        <a:off x="374246" y="4922624"/>
        <a:ext cx="4771916" cy="540148"/>
      </dsp:txXfrm>
    </dsp:sp>
    <dsp:sp modelId="{C57467C1-14BD-4C36-A105-1D13C917F1ED}">
      <dsp:nvSpPr>
        <dsp:cNvPr id="0" name=""/>
        <dsp:cNvSpPr/>
      </dsp:nvSpPr>
      <dsp:spPr>
        <a:xfrm>
          <a:off x="0" y="6072410"/>
          <a:ext cx="6900512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E8B32C-9616-486E-A7AD-90FF0A36DFA6}">
      <dsp:nvSpPr>
        <dsp:cNvPr id="0" name=""/>
        <dsp:cNvSpPr/>
      </dsp:nvSpPr>
      <dsp:spPr>
        <a:xfrm>
          <a:off x="345025" y="5745433"/>
          <a:ext cx="4830358" cy="563137"/>
        </a:xfrm>
        <a:prstGeom prst="roundRect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latin typeface="Aptos" panose="020B0004020202020204" pitchFamily="34" charset="0"/>
            </a:rPr>
            <a:t>Energy stored in Magnetic Field</a:t>
          </a:r>
          <a:endParaRPr lang="en-US" sz="1600" kern="1200">
            <a:latin typeface="Aptos" panose="020B0004020202020204" pitchFamily="34" charset="0"/>
          </a:endParaRPr>
        </a:p>
      </dsp:txBody>
      <dsp:txXfrm>
        <a:off x="372515" y="5772923"/>
        <a:ext cx="4775378" cy="5081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10T11:58:15.852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7759.51172"/>
      <inkml:brushProperty name="anchorY" value="-503.42087"/>
      <inkml:brushProperty name="scaleFactor" value="0.5"/>
    </inkml:brush>
  </inkml:definitions>
  <inkml:trace contextRef="#ctx0" brushRef="#br0">1 13 24575,'0'0'0,"0"-5"0,0-2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563032-AD22-49EB-9CBF-2C0F517C3D1D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79672B-6E5F-43F8-A222-C8E093F995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30286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79672B-6E5F-43F8-A222-C8E093F99596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53665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79672B-6E5F-43F8-A222-C8E093F99596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66659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79672B-6E5F-43F8-A222-C8E093F99596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59699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79672B-6E5F-43F8-A222-C8E093F99596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66958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28D5C6BA-2C65-494E-B10D-8F15A74CD2A6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88567EE9-316A-4CF7-AF6E-DF78DF12E5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336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5C6BA-2C65-494E-B10D-8F15A74CD2A6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67EE9-316A-4CF7-AF6E-DF78DF12E5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1548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28D5C6BA-2C65-494E-B10D-8F15A74CD2A6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88567EE9-316A-4CF7-AF6E-DF78DF12E5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69657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5C6BA-2C65-494E-B10D-8F15A74CD2A6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67EE9-316A-4CF7-AF6E-DF78DF12E5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691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5C6BA-2C65-494E-B10D-8F15A74CD2A6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67EE9-316A-4CF7-AF6E-DF78DF12E5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2624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5C6BA-2C65-494E-B10D-8F15A74CD2A6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67EE9-316A-4CF7-AF6E-DF78DF12E5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0212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5C6BA-2C65-494E-B10D-8F15A74CD2A6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67EE9-316A-4CF7-AF6E-DF78DF12E5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0042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5C6BA-2C65-494E-B10D-8F15A74CD2A6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8567EE9-316A-4CF7-AF6E-DF78DF12E5EE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102814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28D5C6BA-2C65-494E-B10D-8F15A74CD2A6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8567EE9-316A-4CF7-AF6E-DF78DF12E5EE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3589778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5C6BA-2C65-494E-B10D-8F15A74CD2A6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67EE9-316A-4CF7-AF6E-DF78DF12E5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5480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5C6BA-2C65-494E-B10D-8F15A74CD2A6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67EE9-316A-4CF7-AF6E-DF78DF12E5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2569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28D5C6BA-2C65-494E-B10D-8F15A74CD2A6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88567EE9-316A-4CF7-AF6E-DF78DF12E5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327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4.svg"/><Relationship Id="rId7" Type="http://schemas.openxmlformats.org/officeDocument/2006/relationships/diagramColors" Target="../diagrams/colors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7" Type="http://schemas.openxmlformats.org/officeDocument/2006/relationships/image" Target="../media/image10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0.png"/><Relationship Id="rId7" Type="http://schemas.openxmlformats.org/officeDocument/2006/relationships/image" Target="../media/image17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4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2.png"/><Relationship Id="rId18" Type="http://schemas.openxmlformats.org/officeDocument/2006/relationships/image" Target="../media/image4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12" Type="http://schemas.openxmlformats.org/officeDocument/2006/relationships/image" Target="../media/image41.png"/><Relationship Id="rId17" Type="http://schemas.openxmlformats.org/officeDocument/2006/relationships/image" Target="../media/image46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wmf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5" Type="http://schemas.openxmlformats.org/officeDocument/2006/relationships/image" Target="../media/image4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Relationship Id="rId14" Type="http://schemas.openxmlformats.org/officeDocument/2006/relationships/image" Target="../media/image4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61.png"/><Relationship Id="rId3" Type="http://schemas.openxmlformats.org/officeDocument/2006/relationships/image" Target="../media/image37.png"/><Relationship Id="rId7" Type="http://schemas.openxmlformats.org/officeDocument/2006/relationships/image" Target="../media/image55.png"/><Relationship Id="rId12" Type="http://schemas.openxmlformats.org/officeDocument/2006/relationships/image" Target="../media/image60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wmf"/><Relationship Id="rId11" Type="http://schemas.openxmlformats.org/officeDocument/2006/relationships/image" Target="../media/image59.png"/><Relationship Id="rId5" Type="http://schemas.openxmlformats.org/officeDocument/2006/relationships/image" Target="../media/image48.png"/><Relationship Id="rId10" Type="http://schemas.openxmlformats.org/officeDocument/2006/relationships/image" Target="../media/image58.png"/><Relationship Id="rId4" Type="http://schemas.openxmlformats.org/officeDocument/2006/relationships/image" Target="../media/image52.png"/><Relationship Id="rId9" Type="http://schemas.openxmlformats.org/officeDocument/2006/relationships/image" Target="../media/image51.png"/><Relationship Id="rId14" Type="http://schemas.openxmlformats.org/officeDocument/2006/relationships/image" Target="../media/image6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57.png"/><Relationship Id="rId7" Type="http://schemas.openxmlformats.org/officeDocument/2006/relationships/image" Target="../media/image72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70.png"/><Relationship Id="rId4" Type="http://schemas.openxmlformats.org/officeDocument/2006/relationships/image" Target="../media/image58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75.png"/><Relationship Id="rId7" Type="http://schemas.openxmlformats.org/officeDocument/2006/relationships/image" Target="../media/image79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png"/><Relationship Id="rId11" Type="http://schemas.openxmlformats.org/officeDocument/2006/relationships/image" Target="../media/image63.png"/><Relationship Id="rId5" Type="http://schemas.openxmlformats.org/officeDocument/2006/relationships/image" Target="../media/image77.png"/><Relationship Id="rId10" Type="http://schemas.openxmlformats.org/officeDocument/2006/relationships/image" Target="../media/image82.png"/><Relationship Id="rId4" Type="http://schemas.openxmlformats.org/officeDocument/2006/relationships/image" Target="../media/image76.png"/><Relationship Id="rId9" Type="http://schemas.openxmlformats.org/officeDocument/2006/relationships/image" Target="../media/image8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3" Type="http://schemas.openxmlformats.org/officeDocument/2006/relationships/image" Target="../media/image84.png"/><Relationship Id="rId7" Type="http://schemas.openxmlformats.org/officeDocument/2006/relationships/image" Target="../media/image88.png"/><Relationship Id="rId2" Type="http://schemas.openxmlformats.org/officeDocument/2006/relationships/image" Target="../media/image65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.png"/><Relationship Id="rId11" Type="http://schemas.openxmlformats.org/officeDocument/2006/relationships/image" Target="../media/image92.png"/><Relationship Id="rId5" Type="http://schemas.openxmlformats.org/officeDocument/2006/relationships/image" Target="../media/image86.png"/><Relationship Id="rId10" Type="http://schemas.openxmlformats.org/officeDocument/2006/relationships/image" Target="../media/image91.png"/><Relationship Id="rId4" Type="http://schemas.openxmlformats.org/officeDocument/2006/relationships/image" Target="../media/image85.png"/><Relationship Id="rId9" Type="http://schemas.openxmlformats.org/officeDocument/2006/relationships/image" Target="../media/image9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070A098-8F80-F07C-3A4F-58DD454A202C}"/>
              </a:ext>
            </a:extLst>
          </p:cNvPr>
          <p:cNvSpPr txBox="1"/>
          <p:nvPr/>
        </p:nvSpPr>
        <p:spPr>
          <a:xfrm>
            <a:off x="2634640" y="525265"/>
            <a:ext cx="7744771" cy="1055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  <a:spcAft>
                <a:spcPts val="600"/>
              </a:spcAft>
            </a:pPr>
            <a:r>
              <a:rPr lang="en-IN" sz="3200" b="1" dirty="0">
                <a:solidFill>
                  <a:srgbClr val="FF0000"/>
                </a:solidFill>
              </a:rPr>
              <a:t>  Dhole Patil Education Society</a:t>
            </a:r>
          </a:p>
          <a:p>
            <a:pPr algn="ctr">
              <a:lnSpc>
                <a:spcPts val="3600"/>
              </a:lnSpc>
              <a:spcAft>
                <a:spcPts val="600"/>
              </a:spcAft>
              <a:buNone/>
            </a:pPr>
            <a:r>
              <a:rPr lang="en-IN" sz="2800" b="1" i="0" dirty="0">
                <a:solidFill>
                  <a:srgbClr val="000000"/>
                </a:solidFill>
                <a:effectLst/>
              </a:rPr>
              <a:t>   Dhole Patil College of Engineering, Pune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8364524-FDCB-EEEC-95B1-150F08302F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3910" y="402521"/>
            <a:ext cx="1662881" cy="109456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4C63FF2-EB77-C302-BC94-8623E5B1335B}"/>
              </a:ext>
            </a:extLst>
          </p:cNvPr>
          <p:cNvSpPr/>
          <p:nvPr/>
        </p:nvSpPr>
        <p:spPr>
          <a:xfrm>
            <a:off x="2840476" y="2975406"/>
            <a:ext cx="669736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</a:t>
            </a:r>
            <a:r>
              <a:rPr lang="en-US" sz="2800" u="sng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Unit II : </a:t>
            </a:r>
            <a:r>
              <a:rPr lang="en-US" sz="2800" b="1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Electromagnetism</a:t>
            </a:r>
            <a:endParaRPr lang="en-US" sz="2800" u="sng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930F85-5C4F-105F-5B21-5A0CB89620A2}"/>
              </a:ext>
            </a:extLst>
          </p:cNvPr>
          <p:cNvSpPr txBox="1"/>
          <p:nvPr/>
        </p:nvSpPr>
        <p:spPr>
          <a:xfrm>
            <a:off x="1546948" y="1828800"/>
            <a:ext cx="81126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ahnschrift Condensed" panose="020B0502040204020203" pitchFamily="34" charset="0"/>
              </a:rPr>
              <a:t>Subject – Basic Electrical Engineering                                                </a:t>
            </a:r>
          </a:p>
          <a:p>
            <a:r>
              <a:rPr lang="en-IN" sz="2000" dirty="0">
                <a:latin typeface="Bahnschrift Condensed" panose="020B0502040204020203" pitchFamily="34" charset="0"/>
              </a:rPr>
              <a:t>First Year Engineering                                                                                      </a:t>
            </a:r>
            <a:r>
              <a:rPr lang="en-US" sz="2000" dirty="0">
                <a:latin typeface="Bahnschrift Condensed" panose="020B0502040204020203" pitchFamily="34" charset="0"/>
              </a:rPr>
              <a:t>Semester – I</a:t>
            </a:r>
            <a:r>
              <a:rPr lang="en-IN" sz="2000" dirty="0">
                <a:latin typeface="Bahnschrift Condensed" panose="020B0502040204020203" pitchFamily="34" charset="0"/>
              </a:rPr>
              <a:t> </a:t>
            </a:r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AD4797A3-E4B4-3D40-5F7A-8BFC9727B0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1570953"/>
              </p:ext>
            </p:extLst>
          </p:nvPr>
        </p:nvGraphicFramePr>
        <p:xfrm>
          <a:off x="1884767" y="3560181"/>
          <a:ext cx="8777592" cy="22178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482160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CE9B9-FA94-3694-CA9D-3C6CBA1CA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365" y="708365"/>
            <a:ext cx="2503712" cy="5571898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Lecture Planning</a:t>
            </a:r>
            <a:endParaRPr lang="en-IN" sz="3000" b="1" dirty="0">
              <a:solidFill>
                <a:schemeClr val="accent5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E7BC83B-1092-5D4B-65F1-ED29D7FAF0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22171" y="87086"/>
            <a:ext cx="8675915" cy="6662057"/>
          </a:xfrm>
        </p:spPr>
        <p:txBody>
          <a:bodyPr anchor="ctr">
            <a:noAutofit/>
          </a:bodyPr>
          <a:lstStyle/>
          <a:p>
            <a:pPr marL="342900" lvl="0" indent="-342900" algn="just">
              <a:lnSpc>
                <a:spcPts val="2000"/>
              </a:lnSpc>
              <a:spcAft>
                <a:spcPts val="200"/>
              </a:spcAft>
              <a:buFont typeface="Symbol" panose="05050102010706020507" pitchFamily="18" charset="2"/>
              <a:buChar char=""/>
            </a:pPr>
            <a:r>
              <a:rPr lang="en-US" sz="1500" b="1" kern="100" dirty="0">
                <a:solidFill>
                  <a:schemeClr val="accent2">
                    <a:lumMod val="50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Magnetic Circuits</a:t>
            </a:r>
            <a:endParaRPr lang="en-IN" sz="1500" b="1" kern="100" dirty="0">
              <a:solidFill>
                <a:schemeClr val="accent2">
                  <a:lumMod val="50000"/>
                </a:schemeClr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ts val="2000"/>
              </a:lnSpc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en-US" sz="1500" b="1" kern="100" dirty="0">
                <a:solidFill>
                  <a:srgbClr val="00133A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Concept of flux density, field strength, permeability, MMF, reluctance, their units, and relationships. </a:t>
            </a:r>
            <a:r>
              <a:rPr lang="en-IN" sz="1500" b="1" kern="100" dirty="0">
                <a:solidFill>
                  <a:srgbClr val="00133A"/>
                </a:solidFill>
                <a:effectLst/>
                <a:latin typeface="Aptos" panose="020B00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(Theory) (definitions, relation between Flux, </a:t>
            </a:r>
            <a:r>
              <a:rPr lang="en-IN" sz="1500" b="1" kern="100" dirty="0" err="1">
                <a:solidFill>
                  <a:srgbClr val="00133A"/>
                </a:solidFill>
                <a:effectLst/>
                <a:latin typeface="Aptos" panose="020B00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mmf</a:t>
            </a:r>
            <a:r>
              <a:rPr lang="en-IN" sz="1500" b="1" kern="100" dirty="0">
                <a:solidFill>
                  <a:srgbClr val="00133A"/>
                </a:solidFill>
                <a:effectLst/>
                <a:latin typeface="Aptos" panose="020B00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and reluctance)</a:t>
            </a:r>
            <a:endParaRPr lang="en-IN" sz="1500" b="1" kern="100" dirty="0">
              <a:solidFill>
                <a:srgbClr val="00133A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ts val="2000"/>
              </a:lnSpc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en-US" sz="1500" b="1" kern="100" dirty="0">
                <a:solidFill>
                  <a:srgbClr val="00133A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Simple series magnetic circuit (one magnetic material along with an air gap), comparison of electric and magnetic circuit. </a:t>
            </a:r>
            <a:r>
              <a:rPr lang="en-IN" sz="1500" b="1" kern="100" dirty="0">
                <a:solidFill>
                  <a:srgbClr val="00133A"/>
                </a:solidFill>
                <a:effectLst/>
                <a:latin typeface="Aptos" panose="020B00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(Theory)</a:t>
            </a:r>
            <a:endParaRPr lang="en-IN" sz="1500" b="1" kern="100" dirty="0">
              <a:solidFill>
                <a:srgbClr val="00133A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ts val="2000"/>
              </a:lnSpc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en-IN" sz="1500" b="1" kern="100" dirty="0" err="1">
                <a:solidFill>
                  <a:srgbClr val="FF0000"/>
                </a:solidFill>
                <a:effectLst/>
                <a:latin typeface="Aptos" panose="020B00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Numericals</a:t>
            </a:r>
            <a:r>
              <a:rPr lang="en-IN" sz="15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IN" sz="1500" b="1" kern="100" dirty="0">
                <a:solidFill>
                  <a:srgbClr val="00133A"/>
                </a:solidFill>
                <a:effectLst/>
                <a:latin typeface="Aptos" panose="020B00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To find flux, flux density, field strength, MMF, reluctance (Simple series magnetic circuit with and without air gap)</a:t>
            </a:r>
          </a:p>
          <a:p>
            <a:pPr marL="342900" lvl="0" indent="-342900" algn="just">
              <a:lnSpc>
                <a:spcPts val="2000"/>
              </a:lnSpc>
              <a:spcAft>
                <a:spcPts val="200"/>
              </a:spcAft>
              <a:buFont typeface="Symbol" panose="05050102010706020507" pitchFamily="18" charset="2"/>
              <a:buChar char=""/>
            </a:pPr>
            <a:r>
              <a:rPr lang="en-US" sz="1500" b="1" kern="100" dirty="0">
                <a:solidFill>
                  <a:schemeClr val="accent2">
                    <a:lumMod val="50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Electromagnetic Induction</a:t>
            </a:r>
            <a:endParaRPr lang="en-IN" sz="1500" b="1" kern="100" dirty="0">
              <a:solidFill>
                <a:schemeClr val="accent2">
                  <a:lumMod val="50000"/>
                </a:schemeClr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ts val="2000"/>
              </a:lnSpc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en-IN" sz="1500" b="1" kern="100" dirty="0">
                <a:solidFill>
                  <a:srgbClr val="00133A"/>
                </a:solidFill>
                <a:effectLst/>
                <a:latin typeface="Aptos" panose="020B00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Faradays Laws of electromagnetic induction, dynamically induced emf ( No numerical), Fleming’s right-hand rule, Statically (Self and mutually) Induced EMF (Theory)</a:t>
            </a:r>
            <a:endParaRPr lang="en-IN" sz="1500" b="1" kern="100" dirty="0">
              <a:solidFill>
                <a:srgbClr val="00133A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ts val="2000"/>
              </a:lnSpc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en-IN" sz="1500" b="1" kern="100" dirty="0">
                <a:solidFill>
                  <a:srgbClr val="00133A"/>
                </a:solidFill>
                <a:effectLst/>
                <a:latin typeface="Aptos" panose="020B00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Self and mutual inductance, derivation of coefficient of coupling of magnetically coupled two coils. Derivation for energy stored in magnetic field</a:t>
            </a:r>
            <a:endParaRPr lang="en-IN" sz="1500" b="1" kern="100" dirty="0">
              <a:solidFill>
                <a:srgbClr val="00133A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ts val="2000"/>
              </a:lnSpc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en-IN" sz="1500" b="1" kern="100" dirty="0" err="1">
                <a:solidFill>
                  <a:srgbClr val="FF0000"/>
                </a:solidFill>
                <a:effectLst/>
                <a:latin typeface="Aptos" panose="020B00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Numericals</a:t>
            </a:r>
            <a:r>
              <a:rPr lang="en-IN" sz="15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IN" sz="1500" b="1" kern="100" dirty="0">
                <a:solidFill>
                  <a:srgbClr val="00133A"/>
                </a:solidFill>
                <a:effectLst/>
                <a:latin typeface="Aptos" panose="020B00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To find self and mutually induced emf, self-inductance, Mutual inductance, Coefficient of coupling, energy stored.</a:t>
            </a:r>
            <a:endParaRPr lang="en-IN" sz="1500" b="1" kern="100" dirty="0">
              <a:solidFill>
                <a:srgbClr val="00133A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36F61D0-6DC2-B325-F0A8-397CD352E26B}"/>
              </a:ext>
            </a:extLst>
          </p:cNvPr>
          <p:cNvCxnSpPr>
            <a:cxnSpLocks/>
          </p:cNvCxnSpPr>
          <p:nvPr/>
        </p:nvCxnSpPr>
        <p:spPr>
          <a:xfrm>
            <a:off x="2797629" y="163286"/>
            <a:ext cx="0" cy="666205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09350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D7936-26BD-5279-C45F-B1F01727B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819" y="238619"/>
            <a:ext cx="8634535" cy="788761"/>
          </a:xfrm>
        </p:spPr>
        <p:txBody>
          <a:bodyPr>
            <a:normAutofit/>
          </a:bodyPr>
          <a:lstStyle/>
          <a:p>
            <a:pPr algn="ctr"/>
            <a:r>
              <a:rPr lang="en-US" sz="2500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Applications (Magic of Magnetism)</a:t>
            </a:r>
            <a:endParaRPr lang="en-IN" sz="2500" b="1" dirty="0">
              <a:solidFill>
                <a:schemeClr val="accent5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2F40DE9-657A-A011-DA4C-3710CAC746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572" y="1460673"/>
            <a:ext cx="3509498" cy="5212048"/>
          </a:xfrm>
        </p:spPr>
        <p:txBody>
          <a:bodyPr>
            <a:normAutofit/>
          </a:bodyPr>
          <a:lstStyle/>
          <a:p>
            <a:r>
              <a:rPr lang="en-US" sz="1500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Laptops &amp; Computers</a:t>
            </a:r>
          </a:p>
          <a:p>
            <a:r>
              <a:rPr lang="en-US" sz="1500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Robotics &amp; Automation (Sensors &amp; Actuators)</a:t>
            </a:r>
          </a:p>
          <a:p>
            <a:r>
              <a:rPr lang="en-IN" sz="1500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Maglev trains </a:t>
            </a:r>
          </a:p>
          <a:p>
            <a:r>
              <a:rPr lang="en-IN" sz="1500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Doorbells</a:t>
            </a:r>
          </a:p>
          <a:p>
            <a:r>
              <a:rPr lang="en-US" sz="1500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(MRI) machines</a:t>
            </a:r>
          </a:p>
          <a:p>
            <a:r>
              <a:rPr lang="en-IN" sz="1500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Credit cards</a:t>
            </a:r>
          </a:p>
          <a:p>
            <a:r>
              <a:rPr lang="en-US" sz="1500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Vacuum cleaners</a:t>
            </a:r>
          </a:p>
          <a:p>
            <a:r>
              <a:rPr lang="en-US" sz="1500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Blenders</a:t>
            </a:r>
          </a:p>
          <a:p>
            <a:r>
              <a:rPr lang="en-US" sz="1500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Washing machines</a:t>
            </a:r>
          </a:p>
          <a:p>
            <a:r>
              <a:rPr lang="en-IN" sz="1500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Hard drive</a:t>
            </a:r>
          </a:p>
          <a:p>
            <a:r>
              <a:rPr lang="en-US" sz="1500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Relays</a:t>
            </a:r>
          </a:p>
        </p:txBody>
      </p:sp>
      <p:pic>
        <p:nvPicPr>
          <p:cNvPr id="4" name="Picture 2" descr="C:\Users\admin\Desktop\Magnetic\AC-Generator.png">
            <a:extLst>
              <a:ext uri="{FF2B5EF4-FFF2-40B4-BE49-F238E27FC236}">
                <a16:creationId xmlns:a16="http://schemas.microsoft.com/office/drawing/2014/main" id="{6B5FDB1A-17AA-DC0D-EE41-6A4DA74680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44376" y="4240890"/>
            <a:ext cx="3657600" cy="2032000"/>
          </a:xfrm>
          <a:prstGeom prst="rect">
            <a:avLst/>
          </a:prstGeom>
          <a:noFill/>
        </p:spPr>
      </p:pic>
      <p:pic>
        <p:nvPicPr>
          <p:cNvPr id="5" name="Picture 8" descr="C:\Users\admin\Desktop\Magnetic\Motor.gif">
            <a:extLst>
              <a:ext uri="{FF2B5EF4-FFF2-40B4-BE49-F238E27FC236}">
                <a16:creationId xmlns:a16="http://schemas.microsoft.com/office/drawing/2014/main" id="{B35B3C7E-0C73-72D2-789D-47A1950AEE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552950" y="1070628"/>
            <a:ext cx="3086100" cy="2358372"/>
          </a:xfrm>
          <a:prstGeom prst="rect">
            <a:avLst/>
          </a:prstGeom>
          <a:noFill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5AE18BD-3C61-E04D-C355-E2B66ECD35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2010" y="1286791"/>
            <a:ext cx="2499928" cy="19260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DF92BF-2947-9934-3214-895DDD09DA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9712" y="3988866"/>
            <a:ext cx="3942288" cy="228402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B09CCD0E-71D7-84F3-68D9-967C2A6488A0}"/>
                  </a:ext>
                </a:extLst>
              </p14:cNvPr>
              <p14:cNvContentPartPr/>
              <p14:nvPr/>
            </p14:nvContentPartPr>
            <p14:xfrm>
              <a:off x="-261326" y="4066697"/>
              <a:ext cx="360" cy="50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B09CCD0E-71D7-84F3-68D9-967C2A6488A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-269966" y="4058057"/>
                <a:ext cx="18000" cy="22680"/>
              </a:xfrm>
              <a:prstGeom prst="rect">
                <a:avLst/>
              </a:prstGeom>
            </p:spPr>
          </p:pic>
        </mc:Fallback>
      </mc:AlternateContent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6E4AAA0-17FF-E35E-DD66-BA516D1A61B4}"/>
              </a:ext>
            </a:extLst>
          </p:cNvPr>
          <p:cNvCxnSpPr>
            <a:cxnSpLocks/>
          </p:cNvCxnSpPr>
          <p:nvPr/>
        </p:nvCxnSpPr>
        <p:spPr>
          <a:xfrm>
            <a:off x="4256312" y="1386610"/>
            <a:ext cx="0" cy="5212048"/>
          </a:xfrm>
          <a:prstGeom prst="line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0DE43A0-C3F0-719A-E339-B7268806DBA7}"/>
              </a:ext>
            </a:extLst>
          </p:cNvPr>
          <p:cNvSpPr txBox="1"/>
          <p:nvPr/>
        </p:nvSpPr>
        <p:spPr>
          <a:xfrm>
            <a:off x="5745263" y="2724114"/>
            <a:ext cx="70147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b="1" dirty="0">
                <a:solidFill>
                  <a:srgbClr val="002060"/>
                </a:solidFill>
                <a:latin typeface="Aptos" panose="020B0004020202020204" pitchFamily="34" charset="0"/>
              </a:rPr>
              <a:t>Motor</a:t>
            </a:r>
            <a:endParaRPr lang="en-IN" sz="1500" b="1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DE93E1-D8B9-2877-AE52-CE7AB2310AE3}"/>
              </a:ext>
            </a:extLst>
          </p:cNvPr>
          <p:cNvSpPr txBox="1"/>
          <p:nvPr/>
        </p:nvSpPr>
        <p:spPr>
          <a:xfrm>
            <a:off x="4653343" y="6078411"/>
            <a:ext cx="106644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b="1" dirty="0">
                <a:solidFill>
                  <a:srgbClr val="002060"/>
                </a:solidFill>
                <a:latin typeface="Aptos" panose="020B0004020202020204" pitchFamily="34" charset="0"/>
              </a:rPr>
              <a:t>Generator</a:t>
            </a:r>
            <a:endParaRPr lang="en-IN" sz="1500" b="1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EC534B-E20A-3984-8962-17B78C711350}"/>
              </a:ext>
            </a:extLst>
          </p:cNvPr>
          <p:cNvSpPr txBox="1"/>
          <p:nvPr/>
        </p:nvSpPr>
        <p:spPr>
          <a:xfrm>
            <a:off x="9627007" y="3275833"/>
            <a:ext cx="120097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b="1" dirty="0">
                <a:solidFill>
                  <a:srgbClr val="002060"/>
                </a:solidFill>
                <a:latin typeface="Aptos" panose="020B0004020202020204" pitchFamily="34" charset="0"/>
              </a:rPr>
              <a:t>Headphone</a:t>
            </a:r>
            <a:endParaRPr lang="en-IN" sz="1500" b="1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5265ED-1DBB-E8D5-D88D-079EC9CF2354}"/>
              </a:ext>
            </a:extLst>
          </p:cNvPr>
          <p:cNvSpPr txBox="1"/>
          <p:nvPr/>
        </p:nvSpPr>
        <p:spPr>
          <a:xfrm>
            <a:off x="10409831" y="5927245"/>
            <a:ext cx="124764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b="1" dirty="0">
                <a:solidFill>
                  <a:srgbClr val="002060"/>
                </a:solidFill>
                <a:latin typeface="Aptos" panose="020B0004020202020204" pitchFamily="34" charset="0"/>
              </a:rPr>
              <a:t>Transformer</a:t>
            </a:r>
            <a:endParaRPr lang="en-IN" sz="1500" b="1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5130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6821A-4B83-F0C4-C89F-94A2B9779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282" y="1499187"/>
            <a:ext cx="3418659" cy="758258"/>
          </a:xfrm>
        </p:spPr>
        <p:txBody>
          <a:bodyPr anchor="ctr">
            <a:noAutofit/>
          </a:bodyPr>
          <a:lstStyle/>
          <a:p>
            <a:pPr algn="ctr">
              <a:lnSpc>
                <a:spcPts val="2800"/>
              </a:lnSpc>
            </a:pPr>
            <a:r>
              <a:rPr lang="en-US" sz="1500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Terms related with Magnetic circuit </a:t>
            </a:r>
            <a:endParaRPr lang="en-IN" sz="1500" b="1" dirty="0">
              <a:solidFill>
                <a:schemeClr val="accent5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1981202-2C26-B959-2750-0A9EF8B47C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9631405"/>
              </p:ext>
            </p:extLst>
          </p:nvPr>
        </p:nvGraphicFramePr>
        <p:xfrm>
          <a:off x="4648018" y="486138"/>
          <a:ext cx="6353965" cy="58757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E1EA398A-54CF-3DA0-212F-E6B2B7694119}"/>
              </a:ext>
            </a:extLst>
          </p:cNvPr>
          <p:cNvSpPr txBox="1">
            <a:spLocks/>
          </p:cNvSpPr>
          <p:nvPr/>
        </p:nvSpPr>
        <p:spPr>
          <a:xfrm>
            <a:off x="504029" y="2483960"/>
            <a:ext cx="3670450" cy="35559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500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Laws of Magnetism</a:t>
            </a:r>
          </a:p>
          <a:p>
            <a:pPr>
              <a:lnSpc>
                <a:spcPts val="2000"/>
              </a:lnSpc>
            </a:pPr>
            <a:r>
              <a:rPr lang="en-US" sz="1500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Magnetic field</a:t>
            </a:r>
          </a:p>
          <a:p>
            <a:pPr>
              <a:lnSpc>
                <a:spcPts val="2000"/>
              </a:lnSpc>
            </a:pPr>
            <a:r>
              <a:rPr lang="en-US" sz="1500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Magnetic lines of force and their properties</a:t>
            </a:r>
          </a:p>
          <a:p>
            <a:pPr>
              <a:lnSpc>
                <a:spcPts val="2000"/>
              </a:lnSpc>
            </a:pPr>
            <a:r>
              <a:rPr lang="en-US" sz="1500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Magnetic flux</a:t>
            </a:r>
          </a:p>
          <a:p>
            <a:pPr>
              <a:lnSpc>
                <a:spcPts val="2000"/>
              </a:lnSpc>
            </a:pPr>
            <a:r>
              <a:rPr lang="en-US" sz="1500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Flux due to current carrying conductor </a:t>
            </a:r>
          </a:p>
          <a:p>
            <a:pPr>
              <a:lnSpc>
                <a:spcPts val="2000"/>
              </a:lnSpc>
            </a:pPr>
            <a:r>
              <a:rPr lang="en-US" sz="1500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Cross and dot conductor</a:t>
            </a:r>
          </a:p>
          <a:p>
            <a:pPr>
              <a:lnSpc>
                <a:spcPts val="2000"/>
              </a:lnSpc>
            </a:pPr>
            <a:r>
              <a:rPr lang="en-US" sz="1500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Right hand thumb rule</a:t>
            </a:r>
          </a:p>
          <a:p>
            <a:pPr>
              <a:lnSpc>
                <a:spcPts val="2000"/>
              </a:lnSpc>
            </a:pPr>
            <a:r>
              <a:rPr lang="en-US" sz="1500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Flemings left hand Rule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272DFB-0452-B705-7CFA-E160F7D9E019}"/>
              </a:ext>
            </a:extLst>
          </p:cNvPr>
          <p:cNvSpPr txBox="1"/>
          <p:nvPr/>
        </p:nvSpPr>
        <p:spPr>
          <a:xfrm>
            <a:off x="282281" y="1016542"/>
            <a:ext cx="3589327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500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Part A: Magnetic circuit </a:t>
            </a:r>
            <a:endParaRPr lang="en-IN" sz="2500" dirty="0">
              <a:solidFill>
                <a:schemeClr val="accent5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66241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http://www.animatedscience.co.uk/ks5_physics/general/Electricity%20&amp;%20Magnetism/Magnetic%20Fields_files/Image885.gif">
            <a:extLst>
              <a:ext uri="{FF2B5EF4-FFF2-40B4-BE49-F238E27FC236}">
                <a16:creationId xmlns:a16="http://schemas.microsoft.com/office/drawing/2014/main" id="{160F91C3-B608-BD99-412B-0A9349D3B9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6287" y="1304896"/>
            <a:ext cx="3238500" cy="1933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0C90535-9D8F-8551-2676-865DD67098E6}"/>
              </a:ext>
            </a:extLst>
          </p:cNvPr>
          <p:cNvCxnSpPr/>
          <p:nvPr/>
        </p:nvCxnSpPr>
        <p:spPr>
          <a:xfrm flipV="1">
            <a:off x="3067310" y="525536"/>
            <a:ext cx="0" cy="158417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F69842E-9AA1-F712-B1C5-919912C0A8F7}"/>
              </a:ext>
            </a:extLst>
          </p:cNvPr>
          <p:cNvCxnSpPr/>
          <p:nvPr/>
        </p:nvCxnSpPr>
        <p:spPr>
          <a:xfrm flipV="1">
            <a:off x="3067310" y="2541760"/>
            <a:ext cx="0" cy="158417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67714E8-1302-6CBD-68B6-D787528B7FB0}"/>
              </a:ext>
            </a:extLst>
          </p:cNvPr>
          <p:cNvCxnSpPr/>
          <p:nvPr/>
        </p:nvCxnSpPr>
        <p:spPr>
          <a:xfrm>
            <a:off x="1195102" y="2397744"/>
            <a:ext cx="57606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296C203-A2ED-7A1F-359E-1560B5CB85F3}"/>
              </a:ext>
            </a:extLst>
          </p:cNvPr>
          <p:cNvCxnSpPr/>
          <p:nvPr/>
        </p:nvCxnSpPr>
        <p:spPr>
          <a:xfrm>
            <a:off x="1347502" y="2271684"/>
            <a:ext cx="28803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134D734-0642-E174-428D-0A871060B836}"/>
              </a:ext>
            </a:extLst>
          </p:cNvPr>
          <p:cNvCxnSpPr/>
          <p:nvPr/>
        </p:nvCxnSpPr>
        <p:spPr>
          <a:xfrm flipV="1">
            <a:off x="1496084" y="525536"/>
            <a:ext cx="0" cy="173657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D20482-FC80-F516-BAAC-CCC0C1E50C41}"/>
              </a:ext>
            </a:extLst>
          </p:cNvPr>
          <p:cNvCxnSpPr/>
          <p:nvPr/>
        </p:nvCxnSpPr>
        <p:spPr>
          <a:xfrm flipH="1">
            <a:off x="1496084" y="525536"/>
            <a:ext cx="157122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68D74C7-A883-7DBC-8A5B-7853B4511B31}"/>
              </a:ext>
            </a:extLst>
          </p:cNvPr>
          <p:cNvCxnSpPr/>
          <p:nvPr/>
        </p:nvCxnSpPr>
        <p:spPr>
          <a:xfrm flipV="1">
            <a:off x="1483134" y="2397744"/>
            <a:ext cx="12950" cy="172819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C887FDE-327B-6E4A-A434-E5201E4FB5A1}"/>
              </a:ext>
            </a:extLst>
          </p:cNvPr>
          <p:cNvCxnSpPr/>
          <p:nvPr/>
        </p:nvCxnSpPr>
        <p:spPr>
          <a:xfrm flipH="1">
            <a:off x="1496084" y="4125936"/>
            <a:ext cx="157122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4887AE3-62AD-7DC9-B252-7A81B6990415}"/>
              </a:ext>
            </a:extLst>
          </p:cNvPr>
          <p:cNvSpPr txBox="1"/>
          <p:nvPr/>
        </p:nvSpPr>
        <p:spPr>
          <a:xfrm>
            <a:off x="3139317" y="2613768"/>
            <a:ext cx="1656415" cy="553998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1500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Current (conventional)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02D475-F2B7-285F-1697-BB605792107B}"/>
              </a:ext>
            </a:extLst>
          </p:cNvPr>
          <p:cNvSpPr txBox="1"/>
          <p:nvPr/>
        </p:nvSpPr>
        <p:spPr>
          <a:xfrm>
            <a:off x="4270651" y="1461640"/>
            <a:ext cx="1224136" cy="553998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1500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Magnetic field lines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A50790-C4A5-0AD4-D34B-2CFAB0AC1FFA}"/>
              </a:ext>
            </a:extLst>
          </p:cNvPr>
          <p:cNvSpPr txBox="1"/>
          <p:nvPr/>
        </p:nvSpPr>
        <p:spPr>
          <a:xfrm>
            <a:off x="3105871" y="1318872"/>
            <a:ext cx="612068" cy="323165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1500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Wire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1D6462-0822-F87D-BDB7-AB5ECD1FB61E}"/>
              </a:ext>
            </a:extLst>
          </p:cNvPr>
          <p:cNvSpPr txBox="1"/>
          <p:nvPr/>
        </p:nvSpPr>
        <p:spPr>
          <a:xfrm>
            <a:off x="5425530" y="512244"/>
            <a:ext cx="5955829" cy="5539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If an </a:t>
            </a:r>
            <a:r>
              <a:rPr lang="en-GB" sz="1500" b="1" u="sng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electric current </a:t>
            </a:r>
            <a:r>
              <a:rPr lang="en-GB" sz="1500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is passed through a </a:t>
            </a:r>
            <a:r>
              <a:rPr lang="en-GB" sz="1500" b="1" u="sng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wire</a:t>
            </a:r>
            <a:r>
              <a:rPr lang="en-GB" sz="1500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, a </a:t>
            </a:r>
            <a:r>
              <a:rPr lang="en-GB" sz="1500" b="1" u="sng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weak magnetic field </a:t>
            </a:r>
            <a:r>
              <a:rPr lang="en-GB" sz="1500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is produced.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477D074-F482-7B2A-9B1A-9D04533B373C}"/>
              </a:ext>
            </a:extLst>
          </p:cNvPr>
          <p:cNvSpPr txBox="1"/>
          <p:nvPr/>
        </p:nvSpPr>
        <p:spPr>
          <a:xfrm>
            <a:off x="6134996" y="1239167"/>
            <a:ext cx="3960440" cy="5539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b="1" u="sng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Field lines </a:t>
            </a:r>
            <a:r>
              <a:rPr lang="en-GB" sz="1500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can be followed and plotted using a </a:t>
            </a:r>
            <a:r>
              <a:rPr lang="en-GB" sz="1500" b="1" u="sng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plotting compass</a:t>
            </a:r>
            <a:r>
              <a:rPr lang="en-GB" sz="1500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691C28A-18F9-FB05-73BB-E2F0A23513D1}"/>
              </a:ext>
            </a:extLst>
          </p:cNvPr>
          <p:cNvSpPr txBox="1"/>
          <p:nvPr/>
        </p:nvSpPr>
        <p:spPr>
          <a:xfrm>
            <a:off x="7420919" y="4670201"/>
            <a:ext cx="3960440" cy="12464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Field features:</a:t>
            </a:r>
          </a:p>
          <a:p>
            <a:pPr marL="342900" indent="-342900">
              <a:buAutoNum type="arabicPeriod"/>
            </a:pPr>
            <a:r>
              <a:rPr lang="en-GB" sz="1500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The </a:t>
            </a:r>
            <a:r>
              <a:rPr lang="en-GB" sz="1500" b="1" u="sng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magnetic field lines </a:t>
            </a:r>
            <a:r>
              <a:rPr lang="en-GB" sz="1500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are </a:t>
            </a:r>
            <a:r>
              <a:rPr lang="en-GB" sz="1500" b="1" u="sng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circles</a:t>
            </a:r>
            <a:r>
              <a:rPr lang="en-GB" sz="1500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.</a:t>
            </a:r>
          </a:p>
          <a:p>
            <a:pPr marL="342900" indent="-342900">
              <a:buAutoNum type="arabicPeriod"/>
            </a:pPr>
            <a:r>
              <a:rPr lang="en-GB" sz="1500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The field is </a:t>
            </a:r>
            <a:r>
              <a:rPr lang="en-GB" sz="1500" b="1" u="sng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strongest closer </a:t>
            </a:r>
            <a:r>
              <a:rPr lang="en-GB" sz="1500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to the wire.</a:t>
            </a:r>
          </a:p>
          <a:p>
            <a:pPr marL="342900" indent="-342900">
              <a:buAutoNum type="arabicPeriod"/>
            </a:pPr>
            <a:r>
              <a:rPr lang="en-GB" sz="1500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Increasing the </a:t>
            </a:r>
            <a:r>
              <a:rPr lang="en-GB" sz="1500" b="1" u="sng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current</a:t>
            </a:r>
            <a:r>
              <a:rPr lang="en-GB" sz="1500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 increases the </a:t>
            </a:r>
            <a:r>
              <a:rPr lang="en-GB" sz="1500" b="1" u="sng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field strength</a:t>
            </a:r>
            <a:r>
              <a:rPr lang="en-GB" sz="1500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7DF23A3-C37D-A59A-8111-F3F566B7E540}"/>
              </a:ext>
            </a:extLst>
          </p:cNvPr>
          <p:cNvSpPr txBox="1"/>
          <p:nvPr/>
        </p:nvSpPr>
        <p:spPr>
          <a:xfrm>
            <a:off x="9407704" y="1889665"/>
            <a:ext cx="1872208" cy="20313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Comic Sans MS" panose="030F0702030302020204" pitchFamily="66" charset="0"/>
              </a:rPr>
              <a:t>The ‘dot’ represents the current flowing towards the observer (as shown in the diagram above)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39061F4E-7C32-5BA6-37AA-2C600EC952C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605000" y="1889665"/>
            <a:ext cx="2600688" cy="2619741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A81785FD-C142-DEBB-1376-2FBFC859EE5E}"/>
              </a:ext>
            </a:extLst>
          </p:cNvPr>
          <p:cNvSpPr txBox="1"/>
          <p:nvPr/>
        </p:nvSpPr>
        <p:spPr>
          <a:xfrm>
            <a:off x="1483134" y="4419145"/>
            <a:ext cx="1872208" cy="20313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Comic Sans MS" panose="030F0702030302020204" pitchFamily="66" charset="0"/>
              </a:rPr>
              <a:t>The ‘cross’ represents the current flowing away from the observer (the field direction is reversed).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83F8A2B8-FC29-FE1C-BE8B-B5994A3B0525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371534" y="3920990"/>
            <a:ext cx="2534004" cy="2610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7235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2400A-B54C-782A-74CC-E698FCAC9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161817" cy="592818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2000" b="1" u="sng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Terms related to magnetic circuits</a:t>
            </a:r>
            <a:endParaRPr lang="en-IN" sz="2000" b="1" u="sng" dirty="0">
              <a:solidFill>
                <a:schemeClr val="accent5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F179E8-C802-4D02-A145-A49158548253}"/>
              </a:ext>
            </a:extLst>
          </p:cNvPr>
          <p:cNvSpPr txBox="1"/>
          <p:nvPr/>
        </p:nvSpPr>
        <p:spPr>
          <a:xfrm>
            <a:off x="838200" y="1178358"/>
            <a:ext cx="17491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Flux Density :</a:t>
            </a:r>
            <a:endParaRPr lang="en-IN" sz="2000" b="1" dirty="0">
              <a:solidFill>
                <a:schemeClr val="accent5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8B29B5-C702-A887-7B4B-42E675A4399C}"/>
              </a:ext>
            </a:extLst>
          </p:cNvPr>
          <p:cNvSpPr txBox="1"/>
          <p:nvPr/>
        </p:nvSpPr>
        <p:spPr>
          <a:xfrm>
            <a:off x="838200" y="1586280"/>
            <a:ext cx="481148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1500" i="1" dirty="0">
                <a:solidFill>
                  <a:schemeClr val="accent5">
                    <a:lumMod val="75000"/>
                  </a:schemeClr>
                </a:solidFill>
                <a:effectLst/>
                <a:latin typeface="Aptos" panose="020B0004020202020204" pitchFamily="34" charset="0"/>
                <a:ea typeface="Calibri" panose="020F0502020204030204" pitchFamily="34" charset="0"/>
              </a:rPr>
              <a:t>It is defined as 'The flux per unit area in a plane at right angles to the flux is known as 'flux density'.</a:t>
            </a:r>
            <a:r>
              <a:rPr lang="en-IN" sz="1500" dirty="0">
                <a:solidFill>
                  <a:schemeClr val="accent5">
                    <a:lumMod val="75000"/>
                  </a:schemeClr>
                </a:solidFill>
                <a:effectLst/>
                <a:latin typeface="Aptos" panose="020B0004020202020204" pitchFamily="34" charset="0"/>
                <a:ea typeface="Calibri" panose="020F0502020204030204" pitchFamily="34" charset="0"/>
              </a:rPr>
              <a:t> </a:t>
            </a:r>
            <a:endParaRPr lang="en-IN" sz="1500" dirty="0">
              <a:solidFill>
                <a:schemeClr val="accent5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D9D5EE-03A6-C0B4-440D-36F70CAFEC0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963222" y="510764"/>
            <a:ext cx="2060785" cy="15874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2E1A6F5-7ADC-6113-DD1E-A2F47548C47F}"/>
                  </a:ext>
                </a:extLst>
              </p:cNvPr>
              <p:cNvSpPr txBox="1"/>
              <p:nvPr/>
            </p:nvSpPr>
            <p:spPr>
              <a:xfrm>
                <a:off x="3243943" y="2203326"/>
                <a:ext cx="1010031" cy="669542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sz="15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5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5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∅</m:t>
                          </m:r>
                        </m:num>
                        <m:den>
                          <m:r>
                            <a:rPr lang="en-US" sz="15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den>
                      </m:f>
                      <m:r>
                        <a:rPr lang="en-US" sz="15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US" sz="1500" b="1" dirty="0">
                  <a:solidFill>
                    <a:schemeClr val="accent5">
                      <a:lumMod val="75000"/>
                    </a:schemeClr>
                  </a:solidFill>
                  <a:latin typeface="Aptos" panose="020B0004020202020204" pitchFamily="34" charset="0"/>
                </a:endParaRPr>
              </a:p>
              <a:p>
                <a:endParaRPr lang="en-US" sz="1500" b="1" dirty="0">
                  <a:solidFill>
                    <a:schemeClr val="accent5">
                      <a:lumMod val="7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2E1A6F5-7ADC-6113-DD1E-A2F47548C4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943" y="2203326"/>
                <a:ext cx="1010031" cy="66954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69841D6-2EE1-1733-35E6-B2C214DBC2AB}"/>
                  </a:ext>
                </a:extLst>
              </p:cNvPr>
              <p:cNvSpPr/>
              <p:nvPr/>
            </p:nvSpPr>
            <p:spPr>
              <a:xfrm>
                <a:off x="5024438" y="2192297"/>
                <a:ext cx="1071562" cy="53065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5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5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𝑊𝑒𝑏𝑒𝑟</m:t>
                          </m:r>
                        </m:num>
                        <m:den>
                          <m:sSup>
                            <m:sSupPr>
                              <m:ctrlPr>
                                <a:rPr lang="en-US" sz="150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500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US" sz="1500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1500" dirty="0">
                  <a:solidFill>
                    <a:schemeClr val="accent5">
                      <a:lumMod val="7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69841D6-2EE1-1733-35E6-B2C214DBC2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4438" y="2192297"/>
                <a:ext cx="1071562" cy="53065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22DFF83-3D2C-2116-7292-6DB927FE65A0}"/>
              </a:ext>
            </a:extLst>
          </p:cNvPr>
          <p:cNvCxnSpPr/>
          <p:nvPr/>
        </p:nvCxnSpPr>
        <p:spPr>
          <a:xfrm>
            <a:off x="644574" y="3143794"/>
            <a:ext cx="111360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C607B2A-0803-23F6-D65F-7FCC3AC01E9C}"/>
              </a:ext>
            </a:extLst>
          </p:cNvPr>
          <p:cNvSpPr txBox="1"/>
          <p:nvPr/>
        </p:nvSpPr>
        <p:spPr>
          <a:xfrm>
            <a:off x="838200" y="3305496"/>
            <a:ext cx="29408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Magnetic Field Strength</a:t>
            </a:r>
            <a:endParaRPr lang="en-IN" sz="2000" b="1" dirty="0">
              <a:solidFill>
                <a:schemeClr val="accent5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39492A-7087-B317-0FF3-C2DD3344E88E}"/>
              </a:ext>
            </a:extLst>
          </p:cNvPr>
          <p:cNvSpPr txBox="1"/>
          <p:nvPr/>
        </p:nvSpPr>
        <p:spPr>
          <a:xfrm>
            <a:off x="792376" y="3990417"/>
            <a:ext cx="479854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1500" i="1" dirty="0">
                <a:solidFill>
                  <a:schemeClr val="accent5">
                    <a:lumMod val="75000"/>
                  </a:schemeClr>
                </a:solidFill>
                <a:effectLst/>
                <a:latin typeface="Aptos" panose="020B0004020202020204" pitchFamily="34" charset="0"/>
                <a:ea typeface="Calibri" panose="020F0502020204030204" pitchFamily="34" charset="0"/>
              </a:rPr>
              <a:t>It is defined as 'the force experienced by a unit N-pole (i.e. N-pole with 1 Wb of pole strength), when placed at any point in a magnetic field is known as magnetic field strength at that point</a:t>
            </a:r>
            <a:endParaRPr lang="en-IN" sz="1500" dirty="0">
              <a:solidFill>
                <a:schemeClr val="accent5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D918AD0-D339-FEBA-868C-0426DDF91395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985690" y="3663550"/>
            <a:ext cx="2381025" cy="2308322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1F576092-886D-D133-F3F4-FCD48F7BD939}"/>
              </a:ext>
            </a:extLst>
          </p:cNvPr>
          <p:cNvGrpSpPr/>
          <p:nvPr/>
        </p:nvGrpSpPr>
        <p:grpSpPr>
          <a:xfrm>
            <a:off x="9154884" y="4208741"/>
            <a:ext cx="2832930" cy="1338925"/>
            <a:chOff x="3735159" y="4295396"/>
            <a:chExt cx="4991271" cy="2112393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581742C0-5099-FDDA-A93A-219609A242C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3735159" y="4295396"/>
              <a:ext cx="4840467" cy="2101604"/>
            </a:xfrm>
            <a:prstGeom prst="rect">
              <a:avLst/>
            </a:prstGeom>
          </p:spPr>
        </p:pic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3112AF9-9A01-F872-EEEE-1050485677B8}"/>
                </a:ext>
              </a:extLst>
            </p:cNvPr>
            <p:cNvCxnSpPr/>
            <p:nvPr/>
          </p:nvCxnSpPr>
          <p:spPr>
            <a:xfrm>
              <a:off x="4670653" y="4603612"/>
              <a:ext cx="0" cy="229646"/>
            </a:xfrm>
            <a:prstGeom prst="line">
              <a:avLst/>
            </a:prstGeom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E57EF0D-698E-3727-103A-B84728967FA7}"/>
                </a:ext>
              </a:extLst>
            </p:cNvPr>
            <p:cNvCxnSpPr/>
            <p:nvPr/>
          </p:nvCxnSpPr>
          <p:spPr>
            <a:xfrm>
              <a:off x="7675110" y="4592726"/>
              <a:ext cx="0" cy="229646"/>
            </a:xfrm>
            <a:prstGeom prst="line">
              <a:avLst/>
            </a:prstGeom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CF640A92-F788-DAF2-459F-0CE466234474}"/>
                </a:ext>
              </a:extLst>
            </p:cNvPr>
            <p:cNvCxnSpPr/>
            <p:nvPr/>
          </p:nvCxnSpPr>
          <p:spPr>
            <a:xfrm>
              <a:off x="4670653" y="4707549"/>
              <a:ext cx="3004457" cy="0"/>
            </a:xfrm>
            <a:prstGeom prst="straightConnector1">
              <a:avLst/>
            </a:prstGeom>
            <a:ln>
              <a:solidFill>
                <a:schemeClr val="accent4">
                  <a:lumMod val="60000"/>
                  <a:lumOff val="40000"/>
                </a:schemeClr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35EF0A5-2327-0154-014F-D3C6D4027202}"/>
                </a:ext>
              </a:extLst>
            </p:cNvPr>
            <p:cNvSpPr txBox="1"/>
            <p:nvPr/>
          </p:nvSpPr>
          <p:spPr>
            <a:xfrm>
              <a:off x="6097362" y="4418946"/>
              <a:ext cx="412913" cy="50985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i="1" dirty="0">
                  <a:solidFill>
                    <a:schemeClr val="accent5">
                      <a:lumMod val="75000"/>
                    </a:schemeClr>
                  </a:solidFill>
                  <a:latin typeface="Aptos" panose="020B0004020202020204" pitchFamily="34" charset="0"/>
                </a:rPr>
                <a:t>l</a:t>
              </a:r>
              <a:endParaRPr lang="en-IN" sz="1500" i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DDC7F3A-9BFF-35FD-79FA-662DBE158616}"/>
                </a:ext>
              </a:extLst>
            </p:cNvPr>
            <p:cNvSpPr txBox="1"/>
            <p:nvPr/>
          </p:nvSpPr>
          <p:spPr>
            <a:xfrm>
              <a:off x="6480553" y="5897938"/>
              <a:ext cx="2245877" cy="50985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b="1" dirty="0">
                  <a:solidFill>
                    <a:schemeClr val="accent5">
                      <a:lumMod val="75000"/>
                    </a:schemeClr>
                  </a:solidFill>
                  <a:latin typeface="Aptos" panose="020B0004020202020204" pitchFamily="34" charset="0"/>
                </a:rPr>
                <a:t>With N turns</a:t>
              </a:r>
              <a:endParaRPr lang="en-IN" sz="1500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endParaRP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01D10D38-456C-ECE9-DE5F-FA606EBBD11B}"/>
              </a:ext>
            </a:extLst>
          </p:cNvPr>
          <p:cNvSpPr txBox="1"/>
          <p:nvPr/>
        </p:nvSpPr>
        <p:spPr>
          <a:xfrm>
            <a:off x="6040724" y="3305496"/>
            <a:ext cx="216424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For Straight Conductor</a:t>
            </a:r>
            <a:endParaRPr lang="en-IN" sz="1500" b="1" dirty="0">
              <a:solidFill>
                <a:schemeClr val="accent5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289C01F-9D3C-6450-4A66-424E06BCB14A}"/>
              </a:ext>
            </a:extLst>
          </p:cNvPr>
          <p:cNvSpPr txBox="1"/>
          <p:nvPr/>
        </p:nvSpPr>
        <p:spPr>
          <a:xfrm>
            <a:off x="9302253" y="3305496"/>
            <a:ext cx="173329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For Coil/ solenoid</a:t>
            </a:r>
            <a:endParaRPr lang="en-IN" sz="1500" b="1" dirty="0">
              <a:solidFill>
                <a:schemeClr val="accent5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80A626C-3F2F-B720-2395-44DB11BC544C}"/>
                  </a:ext>
                </a:extLst>
              </p:cNvPr>
              <p:cNvSpPr txBox="1"/>
              <p:nvPr/>
            </p:nvSpPr>
            <p:spPr>
              <a:xfrm>
                <a:off x="6327596" y="6106120"/>
                <a:ext cx="1413271" cy="4328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IN" sz="15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15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5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𝑰</m:t>
                          </m:r>
                        </m:num>
                        <m:den>
                          <m:r>
                            <a:rPr lang="en-US" sz="15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sz="15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𝝅</m:t>
                          </m:r>
                          <m:r>
                            <a:rPr lang="en-US" sz="15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den>
                      </m:f>
                      <m:r>
                        <a:rPr lang="en-US" sz="15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f>
                        <m:fPr>
                          <m:ctrlPr>
                            <a:rPr lang="en-US" sz="15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5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𝑨𝒎𝒑</m:t>
                          </m:r>
                          <m:r>
                            <a:rPr lang="en-US" sz="15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sz="15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𝒎𝒕𝒓</m:t>
                          </m:r>
                        </m:den>
                      </m:f>
                    </m:oMath>
                  </m:oMathPara>
                </a14:m>
                <a:endParaRPr lang="en-IN" sz="1500" b="1" dirty="0">
                  <a:solidFill>
                    <a:schemeClr val="accent5">
                      <a:lumMod val="7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80A626C-3F2F-B720-2395-44DB11BC54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7596" y="6106120"/>
                <a:ext cx="1413271" cy="432875"/>
              </a:xfrm>
              <a:prstGeom prst="rect">
                <a:avLst/>
              </a:prstGeom>
              <a:blipFill>
                <a:blip r:embed="rId7"/>
                <a:stretch>
                  <a:fillRect l="-3017" t="-4225" r="-1293" b="-1408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9B8C8ED-B047-0789-27ED-9615E35CD4AC}"/>
                  </a:ext>
                </a:extLst>
              </p:cNvPr>
              <p:cNvSpPr txBox="1"/>
              <p:nvPr/>
            </p:nvSpPr>
            <p:spPr>
              <a:xfrm>
                <a:off x="9361660" y="6106121"/>
                <a:ext cx="1902187" cy="4328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IN" sz="15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15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5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𝑵𝑰</m:t>
                          </m:r>
                        </m:num>
                        <m:den>
                          <m:r>
                            <a:rPr lang="en-US" sz="15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𝒍</m:t>
                          </m:r>
                        </m:den>
                      </m:f>
                      <m:r>
                        <a:rPr lang="en-US" sz="15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f>
                        <m:fPr>
                          <m:ctrlPr>
                            <a:rPr lang="en-US" sz="15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5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𝑨𝒎𝒑</m:t>
                          </m:r>
                          <m:r>
                            <a:rPr lang="en-US" sz="15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5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𝑻𝒖𝒓𝒏𝒔</m:t>
                          </m:r>
                          <m:r>
                            <a:rPr lang="en-US" sz="15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sz="15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𝒎𝒕𝒓</m:t>
                          </m:r>
                        </m:den>
                      </m:f>
                    </m:oMath>
                  </m:oMathPara>
                </a14:m>
                <a:endParaRPr lang="en-IN" sz="1500" b="1" dirty="0">
                  <a:solidFill>
                    <a:schemeClr val="accent5">
                      <a:lumMod val="7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9B8C8ED-B047-0789-27ED-9615E35CD4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1660" y="6106121"/>
                <a:ext cx="1902187" cy="432875"/>
              </a:xfrm>
              <a:prstGeom prst="rect">
                <a:avLst/>
              </a:prstGeom>
              <a:blipFill>
                <a:blip r:embed="rId8"/>
                <a:stretch>
                  <a:fillRect l="-1923" t="-4225" b="-1549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E8491B4-E15B-05C3-08B0-5E9AA94C7AE1}"/>
              </a:ext>
            </a:extLst>
          </p:cNvPr>
          <p:cNvCxnSpPr>
            <a:cxnSpLocks/>
          </p:cNvCxnSpPr>
          <p:nvPr/>
        </p:nvCxnSpPr>
        <p:spPr>
          <a:xfrm>
            <a:off x="8993615" y="3305496"/>
            <a:ext cx="0" cy="3377706"/>
          </a:xfrm>
          <a:prstGeom prst="line">
            <a:avLst/>
          </a:prstGeom>
          <a:ln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39F51E3-FE11-D46E-DD18-A9D21A48D2D4}"/>
              </a:ext>
            </a:extLst>
          </p:cNvPr>
          <p:cNvSpPr txBox="1"/>
          <p:nvPr/>
        </p:nvSpPr>
        <p:spPr>
          <a:xfrm>
            <a:off x="4581730" y="2259317"/>
            <a:ext cx="63511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Unit -</a:t>
            </a:r>
            <a:endParaRPr lang="en-IN" sz="1500" dirty="0">
              <a:solidFill>
                <a:schemeClr val="accent5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4397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5993D1B5-8158-A11E-80E4-C69F12A921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18288" y="388296"/>
            <a:ext cx="10710153" cy="762000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altLang="en-US" sz="2500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Rules to deicide the direction of the magnetic field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40B63CA-B038-1C6F-732F-FDCB916F7E5D}"/>
              </a:ext>
            </a:extLst>
          </p:cNvPr>
          <p:cNvSpPr txBox="1">
            <a:spLocks noChangeArrowheads="1"/>
          </p:cNvSpPr>
          <p:nvPr/>
        </p:nvSpPr>
        <p:spPr>
          <a:xfrm>
            <a:off x="588524" y="1257300"/>
            <a:ext cx="10617740" cy="48030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1500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A static distribution of charges produces an electric field</a:t>
            </a:r>
          </a:p>
          <a:p>
            <a:r>
              <a:rPr lang="en-US" altLang="en-US" sz="1500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Charges in </a:t>
            </a:r>
            <a:r>
              <a:rPr lang="en-US" altLang="en-US" sz="1500" i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motion</a:t>
            </a:r>
            <a:r>
              <a:rPr lang="en-US" altLang="en-US" sz="1500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 (an electrical current) produce a magnetic field</a:t>
            </a:r>
          </a:p>
          <a:p>
            <a:r>
              <a:rPr lang="en-US" altLang="en-US" sz="1500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The direction of the magnetic field is determined with the current associated with it &amp; there are two rules for it : </a:t>
            </a:r>
          </a:p>
          <a:p>
            <a:r>
              <a:rPr lang="en-US" altLang="en-US" sz="1500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1) Right Hand thumb rule :                                                                                       2)  Cork screw rule :  </a:t>
            </a:r>
          </a:p>
          <a:p>
            <a:endParaRPr lang="en-US" altLang="en-US" sz="1500" b="1" dirty="0">
              <a:solidFill>
                <a:schemeClr val="accent5">
                  <a:lumMod val="75000"/>
                </a:schemeClr>
              </a:solidFill>
              <a:latin typeface="Aptos" panose="020B0004020202020204" pitchFamily="34" charset="0"/>
            </a:endParaRPr>
          </a:p>
          <a:p>
            <a:endParaRPr lang="en-US" altLang="en-US" sz="1500" dirty="0">
              <a:solidFill>
                <a:schemeClr val="accent5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A2A6535-57E0-A61B-6315-B7FA650DEC76}"/>
              </a:ext>
            </a:extLst>
          </p:cNvPr>
          <p:cNvCxnSpPr>
            <a:cxnSpLocks/>
          </p:cNvCxnSpPr>
          <p:nvPr/>
        </p:nvCxnSpPr>
        <p:spPr>
          <a:xfrm>
            <a:off x="5897394" y="2247089"/>
            <a:ext cx="0" cy="3905656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13" name="Picture 6">
            <a:extLst>
              <a:ext uri="{FF2B5EF4-FFF2-40B4-BE49-F238E27FC236}">
                <a16:creationId xmlns:a16="http://schemas.microsoft.com/office/drawing/2014/main" id="{2CBC74D7-B2C8-D67D-E140-56C8964800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688" y="2835613"/>
            <a:ext cx="2541417" cy="2876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7">
            <a:extLst>
              <a:ext uri="{FF2B5EF4-FFF2-40B4-BE49-F238E27FC236}">
                <a16:creationId xmlns:a16="http://schemas.microsoft.com/office/drawing/2014/main" id="{501CF93C-6C21-C365-6C39-5ECA7D7D85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806" y="2994870"/>
            <a:ext cx="1684337" cy="3065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81D1F8E-4733-3D99-81B3-7FD9FC41C387}"/>
              </a:ext>
            </a:extLst>
          </p:cNvPr>
          <p:cNvSpPr txBox="1"/>
          <p:nvPr/>
        </p:nvSpPr>
        <p:spPr>
          <a:xfrm>
            <a:off x="3019090" y="3188793"/>
            <a:ext cx="2104487" cy="21698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Imagine gripping the wire with your </a:t>
            </a:r>
            <a:r>
              <a:rPr lang="en-GB" sz="1500" b="1" u="sng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right hand</a:t>
            </a:r>
            <a:r>
              <a:rPr lang="en-GB" sz="1500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 so that your </a:t>
            </a:r>
            <a:r>
              <a:rPr lang="en-GB" sz="1500" b="1" u="sng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thumb points </a:t>
            </a:r>
            <a:r>
              <a:rPr lang="en-GB" sz="1500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in the </a:t>
            </a:r>
            <a:r>
              <a:rPr lang="en-GB" sz="1500" b="1" u="sng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current</a:t>
            </a:r>
            <a:r>
              <a:rPr lang="en-GB" sz="1500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 direction (conventional).  Your </a:t>
            </a:r>
            <a:r>
              <a:rPr lang="en-GB" sz="1500" b="1" u="sng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fingers</a:t>
            </a:r>
            <a:r>
              <a:rPr lang="en-GB" sz="1500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 then point in the </a:t>
            </a:r>
            <a:r>
              <a:rPr lang="en-GB" sz="1500" b="1" u="sng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same direction </a:t>
            </a:r>
            <a:r>
              <a:rPr lang="en-GB" sz="1500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as the </a:t>
            </a:r>
            <a:r>
              <a:rPr lang="en-GB" sz="1500" b="1" u="sng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field lines</a:t>
            </a:r>
            <a:r>
              <a:rPr lang="en-GB" sz="1500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85049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EBC9784-F732-77DF-07FA-849E13E4E3D7}"/>
              </a:ext>
            </a:extLst>
          </p:cNvPr>
          <p:cNvSpPr txBox="1"/>
          <p:nvPr/>
        </p:nvSpPr>
        <p:spPr>
          <a:xfrm>
            <a:off x="4723137" y="323831"/>
            <a:ext cx="2032031" cy="47705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Permeability</a:t>
            </a:r>
            <a:endParaRPr lang="en-IN" sz="2500" b="1" dirty="0">
              <a:solidFill>
                <a:schemeClr val="accent5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F3E803D-E53D-C198-25C7-B812C9326FC1}"/>
                  </a:ext>
                </a:extLst>
              </p:cNvPr>
              <p:cNvSpPr txBox="1"/>
              <p:nvPr/>
            </p:nvSpPr>
            <p:spPr>
              <a:xfrm>
                <a:off x="973182" y="4102218"/>
                <a:ext cx="634789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5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  <m:sub>
                          <m:r>
                            <a:rPr lang="en-US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1500" b="1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500" b="1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1500" b="1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500" b="1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𝑯</m:t>
                      </m:r>
                    </m:oMath>
                  </m:oMathPara>
                </a14:m>
                <a:endParaRPr lang="en-US" sz="1500" b="1" dirty="0">
                  <a:solidFill>
                    <a:schemeClr val="accent5">
                      <a:lumMod val="7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F3E803D-E53D-C198-25C7-B812C9326F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182" y="4102218"/>
                <a:ext cx="634789" cy="230832"/>
              </a:xfrm>
              <a:prstGeom prst="rect">
                <a:avLst/>
              </a:prstGeom>
              <a:blipFill>
                <a:blip r:embed="rId2"/>
                <a:stretch>
                  <a:fillRect l="-6731" r="-6731" b="-131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C790BB6-E3FC-76DE-0BFF-FC29887D14EF}"/>
                  </a:ext>
                </a:extLst>
              </p:cNvPr>
              <p:cNvSpPr txBox="1"/>
              <p:nvPr/>
            </p:nvSpPr>
            <p:spPr>
              <a:xfrm>
                <a:off x="6782605" y="4183530"/>
                <a:ext cx="543418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sz="15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500" b="1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1500" b="1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500" b="1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𝑯</m:t>
                      </m:r>
                    </m:oMath>
                  </m:oMathPara>
                </a14:m>
                <a:endParaRPr lang="en-US" sz="1500" b="1" dirty="0">
                  <a:solidFill>
                    <a:schemeClr val="accent5">
                      <a:lumMod val="7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C790BB6-E3FC-76DE-0BFF-FC29887D14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2605" y="4183530"/>
                <a:ext cx="543418" cy="230832"/>
              </a:xfrm>
              <a:prstGeom prst="rect">
                <a:avLst/>
              </a:prstGeom>
              <a:blipFill>
                <a:blip r:embed="rId3"/>
                <a:stretch>
                  <a:fillRect l="-7865" r="-7865" b="-52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787B61E-EB14-FC10-6C68-F4E3B7386553}"/>
                  </a:ext>
                </a:extLst>
              </p:cNvPr>
              <p:cNvSpPr txBox="1"/>
              <p:nvPr/>
            </p:nvSpPr>
            <p:spPr>
              <a:xfrm>
                <a:off x="956889" y="4566422"/>
                <a:ext cx="1452769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5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  <m:sub>
                          <m:r>
                            <a:rPr lang="en-US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1500" b="1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500" b="1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𝝁</m:t>
                      </m:r>
                      <m:r>
                        <a:rPr lang="en-US" sz="1500" b="1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500" b="1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𝑯</m:t>
                      </m:r>
                      <m:r>
                        <a:rPr lang="en-US" sz="1500" b="1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1500" b="1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𝑯</m:t>
                      </m:r>
                    </m:oMath>
                  </m:oMathPara>
                </a14:m>
                <a:endParaRPr lang="en-US" sz="1500" b="1" dirty="0">
                  <a:solidFill>
                    <a:schemeClr val="accent5">
                      <a:lumMod val="7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787B61E-EB14-FC10-6C68-F4E3B73865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889" y="4566422"/>
                <a:ext cx="1452769" cy="230832"/>
              </a:xfrm>
              <a:prstGeom prst="rect">
                <a:avLst/>
              </a:prstGeom>
              <a:blipFill>
                <a:blip r:embed="rId4"/>
                <a:stretch>
                  <a:fillRect l="-2941" r="-2941" b="-2105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9A4246C-9029-AF0B-D27A-2205AB334176}"/>
                  </a:ext>
                </a:extLst>
              </p:cNvPr>
              <p:cNvSpPr txBox="1"/>
              <p:nvPr/>
            </p:nvSpPr>
            <p:spPr>
              <a:xfrm>
                <a:off x="6640742" y="4667563"/>
                <a:ext cx="744819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sz="15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500" b="1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𝝁</m:t>
                      </m:r>
                      <m:r>
                        <a:rPr lang="en-US" sz="1500" b="1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500" b="1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𝑯</m:t>
                      </m:r>
                    </m:oMath>
                  </m:oMathPara>
                </a14:m>
                <a:endParaRPr lang="en-US" sz="1500" b="1" dirty="0">
                  <a:solidFill>
                    <a:schemeClr val="accent5">
                      <a:lumMod val="7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9A4246C-9029-AF0B-D27A-2205AB3341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0742" y="4667563"/>
                <a:ext cx="744819" cy="230832"/>
              </a:xfrm>
              <a:prstGeom prst="rect">
                <a:avLst/>
              </a:prstGeom>
              <a:blipFill>
                <a:blip r:embed="rId5"/>
                <a:stretch>
                  <a:fillRect l="-5691" r="-4878" b="-2105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91DF7F8-379B-C182-747D-708C4FB4C986}"/>
                  </a:ext>
                </a:extLst>
              </p:cNvPr>
              <p:cNvSpPr txBox="1"/>
              <p:nvPr/>
            </p:nvSpPr>
            <p:spPr>
              <a:xfrm>
                <a:off x="10257743" y="2111606"/>
                <a:ext cx="1114601" cy="11378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5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</m:num>
                        <m:den>
                          <m:sSub>
                            <m:sSubPr>
                              <m:ctrlPr>
                                <a:rPr lang="en-US" sz="1500" b="1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500" b="1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  <m:sub>
                              <m:r>
                                <a:rPr lang="en-US" sz="1500" b="1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1500" b="1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  <m:r>
                            <a:rPr lang="en-US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𝑯</m:t>
                          </m:r>
                          <m:r>
                            <m:rPr>
                              <m:nor/>
                            </m:rPr>
                            <a:rPr lang="en-US" sz="1500" b="1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Aptos" panose="020B0004020202020204" pitchFamily="34" charset="0"/>
                            </a:rPr>
                            <m:t> </m:t>
                          </m:r>
                        </m:num>
                        <m:den>
                          <m:sSub>
                            <m:sSubPr>
                              <m:ctrlPr>
                                <a:rPr lang="en-US" sz="1500" b="1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500" b="1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sz="1500" b="1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  <m:r>
                            <a:rPr lang="en-US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𝑯</m:t>
                          </m:r>
                          <m:r>
                            <m:rPr>
                              <m:nor/>
                            </m:rPr>
                            <a:rPr lang="en-US" sz="1500" b="1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Aptos" panose="020B0004020202020204" pitchFamily="34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US" sz="1500" b="1" i="1" dirty="0">
                  <a:solidFill>
                    <a:schemeClr val="accent5">
                      <a:lumMod val="75000"/>
                    </a:schemeClr>
                  </a:solidFill>
                  <a:latin typeface="Aptos" panose="020B0004020202020204" pitchFamily="34" charset="0"/>
                </a:endParaRPr>
              </a:p>
              <a:p>
                <a:endParaRPr lang="en-US" sz="1500" b="1" i="1" dirty="0">
                  <a:solidFill>
                    <a:schemeClr val="accent5">
                      <a:lumMod val="75000"/>
                    </a:schemeClr>
                  </a:solidFill>
                  <a:latin typeface="Aptos" panose="020B00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US" sz="1500" b="1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  <m:r>
                            <a:rPr lang="en-US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500" b="1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Aptos" panose="020B0004020202020204" pitchFamily="34" charset="0"/>
                            </a:rPr>
                            <m:t> </m:t>
                          </m:r>
                        </m:num>
                        <m:den>
                          <m:sSub>
                            <m:sSubPr>
                              <m:ctrlPr>
                                <a:rPr lang="en-US" sz="1500" b="1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500" b="1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sz="1500" b="1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 sz="1500" b="1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Aptos" panose="020B0004020202020204" pitchFamily="34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US" sz="1500" b="1" dirty="0">
                  <a:solidFill>
                    <a:schemeClr val="accent5">
                      <a:lumMod val="7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91DF7F8-379B-C182-747D-708C4FB4C9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57743" y="2111606"/>
                <a:ext cx="1114601" cy="1137812"/>
              </a:xfrm>
              <a:prstGeom prst="rect">
                <a:avLst/>
              </a:prstGeom>
              <a:blipFill>
                <a:blip r:embed="rId6"/>
                <a:stretch>
                  <a:fillRect b="-42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C1F3AD1-3EBF-C027-6264-716D360F0BD2}"/>
                  </a:ext>
                </a:extLst>
              </p:cNvPr>
              <p:cNvSpPr/>
              <p:nvPr/>
            </p:nvSpPr>
            <p:spPr>
              <a:xfrm>
                <a:off x="10344368" y="3654458"/>
                <a:ext cx="751038" cy="3231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sz="1500" b="1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</m:sSub>
                    </m:oMath>
                  </m:oMathPara>
                </a14:m>
                <a:endParaRPr lang="en-US" sz="1500" b="1" dirty="0">
                  <a:solidFill>
                    <a:schemeClr val="accent5">
                      <a:lumMod val="7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C1F3AD1-3EBF-C027-6264-716D360F0B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44368" y="3654458"/>
                <a:ext cx="751038" cy="323165"/>
              </a:xfrm>
              <a:prstGeom prst="rect">
                <a:avLst/>
              </a:prstGeom>
              <a:blipFill>
                <a:blip r:embed="rId7"/>
                <a:stretch>
                  <a:fillRect b="-188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21187F80-EC8F-0509-9245-306B4A964C4E}"/>
                  </a:ext>
                </a:extLst>
              </p:cNvPr>
              <p:cNvSpPr/>
              <p:nvPr/>
            </p:nvSpPr>
            <p:spPr>
              <a:xfrm>
                <a:off x="6596634" y="6073034"/>
                <a:ext cx="1144288" cy="42466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500" b="1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𝝁</m:t>
                    </m:r>
                    <m:r>
                      <a:rPr lang="en-US" sz="1500" b="1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500" b="1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b="1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1500" b="1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</m:sub>
                    </m:sSub>
                    <m:sSub>
                      <m:sSubPr>
                        <m:ctrlPr>
                          <a:rPr lang="en-US" sz="1500" b="1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b="1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1500" b="1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sub>
                    </m:sSub>
                  </m:oMath>
                </a14:m>
                <a:r>
                  <a:rPr lang="en-US" sz="1500" b="1" dirty="0">
                    <a:solidFill>
                      <a:schemeClr val="accent5">
                        <a:lumMod val="75000"/>
                      </a:schemeClr>
                    </a:solidFill>
                    <a:latin typeface="Aptos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500" b="1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500" b="1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𝑯</m:t>
                        </m:r>
                      </m:num>
                      <m:den>
                        <m:r>
                          <a:rPr lang="en-US" sz="1500" b="1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𝒎</m:t>
                        </m:r>
                      </m:den>
                    </m:f>
                  </m:oMath>
                </a14:m>
                <a:endParaRPr lang="en-US" sz="1500" b="1" dirty="0">
                  <a:solidFill>
                    <a:schemeClr val="accent5">
                      <a:lumMod val="7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21187F80-EC8F-0509-9245-306B4A964C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6634" y="6073034"/>
                <a:ext cx="1144288" cy="42466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DFE238A-3289-DD0B-CDD9-9FECC3641516}"/>
              </a:ext>
            </a:extLst>
          </p:cNvPr>
          <p:cNvCxnSpPr>
            <a:cxnSpLocks/>
          </p:cNvCxnSpPr>
          <p:nvPr/>
        </p:nvCxnSpPr>
        <p:spPr>
          <a:xfrm flipH="1">
            <a:off x="4931273" y="1818522"/>
            <a:ext cx="14498" cy="3290989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4CD6091-B2B6-B18E-D9A7-66D331C53DDC}"/>
              </a:ext>
            </a:extLst>
          </p:cNvPr>
          <p:cNvCxnSpPr>
            <a:cxnSpLocks/>
          </p:cNvCxnSpPr>
          <p:nvPr/>
        </p:nvCxnSpPr>
        <p:spPr>
          <a:xfrm>
            <a:off x="195943" y="5136530"/>
            <a:ext cx="11582400" cy="54268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98E7449-674E-836E-05CB-2E4933DDF00A}"/>
              </a:ext>
            </a:extLst>
          </p:cNvPr>
          <p:cNvGrpSpPr/>
          <p:nvPr/>
        </p:nvGrpSpPr>
        <p:grpSpPr>
          <a:xfrm>
            <a:off x="347055" y="2099245"/>
            <a:ext cx="4366751" cy="1790663"/>
            <a:chOff x="718460" y="2531228"/>
            <a:chExt cx="4366751" cy="1528917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43DFA56A-91BD-DC9B-56DB-B7EF293454B6}"/>
                </a:ext>
              </a:extLst>
            </p:cNvPr>
            <p:cNvGrpSpPr/>
            <p:nvPr/>
          </p:nvGrpSpPr>
          <p:grpSpPr>
            <a:xfrm>
              <a:off x="718460" y="2531228"/>
              <a:ext cx="4366751" cy="1528917"/>
              <a:chOff x="718460" y="2531228"/>
              <a:chExt cx="4366751" cy="1528917"/>
            </a:xfrm>
          </p:grpSpPr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A40A912B-700C-9997-A1DB-D5042331EC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1596571" y="2991745"/>
                <a:ext cx="2394857" cy="933120"/>
              </a:xfrm>
              <a:prstGeom prst="rect">
                <a:avLst/>
              </a:prstGeom>
            </p:spPr>
          </p:pic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D1ABBDE2-7AAB-1E0C-E2D8-5D289AA110DF}"/>
                  </a:ext>
                </a:extLst>
              </p:cNvPr>
              <p:cNvSpPr/>
              <p:nvPr/>
            </p:nvSpPr>
            <p:spPr>
              <a:xfrm>
                <a:off x="1509483" y="3315421"/>
                <a:ext cx="2576290" cy="625204"/>
              </a:xfrm>
              <a:prstGeom prst="ellipse">
                <a:avLst/>
              </a:prstGeom>
              <a:noFill/>
              <a:ln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500">
                  <a:solidFill>
                    <a:schemeClr val="accent5">
                      <a:lumMod val="7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B45CD60B-D83F-B4D3-F8CD-42FAFA0DDD7F}"/>
                  </a:ext>
                </a:extLst>
              </p:cNvPr>
              <p:cNvSpPr/>
              <p:nvPr/>
            </p:nvSpPr>
            <p:spPr>
              <a:xfrm>
                <a:off x="1509483" y="2674457"/>
                <a:ext cx="2576290" cy="625204"/>
              </a:xfrm>
              <a:prstGeom prst="ellipse">
                <a:avLst/>
              </a:prstGeom>
              <a:noFill/>
              <a:ln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500">
                  <a:solidFill>
                    <a:schemeClr val="accent5">
                      <a:lumMod val="7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7FD8C941-723B-5338-2FBA-905F4CF24C34}"/>
                  </a:ext>
                </a:extLst>
              </p:cNvPr>
              <p:cNvSpPr/>
              <p:nvPr/>
            </p:nvSpPr>
            <p:spPr>
              <a:xfrm>
                <a:off x="1315241" y="2531228"/>
                <a:ext cx="2957515" cy="824976"/>
              </a:xfrm>
              <a:prstGeom prst="ellipse">
                <a:avLst/>
              </a:prstGeom>
              <a:noFill/>
              <a:ln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500">
                  <a:solidFill>
                    <a:schemeClr val="accent5">
                      <a:lumMod val="7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E4A4F1A1-21EF-22D9-EC84-12120F3A9A74}"/>
                  </a:ext>
                </a:extLst>
              </p:cNvPr>
              <p:cNvSpPr/>
              <p:nvPr/>
            </p:nvSpPr>
            <p:spPr>
              <a:xfrm>
                <a:off x="1322501" y="3235169"/>
                <a:ext cx="2957515" cy="824976"/>
              </a:xfrm>
              <a:prstGeom prst="ellipse">
                <a:avLst/>
              </a:prstGeom>
              <a:noFill/>
              <a:ln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500">
                  <a:solidFill>
                    <a:schemeClr val="accent5">
                      <a:lumMod val="7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33E61E25-180A-0BF7-B89E-48129B574BFD}"/>
                  </a:ext>
                </a:extLst>
              </p:cNvPr>
              <p:cNvCxnSpPr/>
              <p:nvPr/>
            </p:nvCxnSpPr>
            <p:spPr>
              <a:xfrm>
                <a:off x="885368" y="2958994"/>
                <a:ext cx="1030514" cy="332236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8F35CC34-CA0B-A25D-0699-E9E4C4CB28E5}"/>
                  </a:ext>
                </a:extLst>
              </p:cNvPr>
              <p:cNvCxnSpPr/>
              <p:nvPr/>
            </p:nvCxnSpPr>
            <p:spPr>
              <a:xfrm flipV="1">
                <a:off x="881105" y="3350761"/>
                <a:ext cx="918330" cy="294059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82343DF1-5AA2-11CD-BEE5-72C927AD8A2E}"/>
                  </a:ext>
                </a:extLst>
              </p:cNvPr>
              <p:cNvCxnSpPr/>
              <p:nvPr/>
            </p:nvCxnSpPr>
            <p:spPr>
              <a:xfrm flipH="1">
                <a:off x="3846283" y="2942925"/>
                <a:ext cx="1030514" cy="332236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58A4D93B-8B79-9600-EFAC-72FC43316C1F}"/>
                  </a:ext>
                </a:extLst>
              </p:cNvPr>
              <p:cNvCxnSpPr/>
              <p:nvPr/>
            </p:nvCxnSpPr>
            <p:spPr>
              <a:xfrm flipH="1" flipV="1">
                <a:off x="3842020" y="3334692"/>
                <a:ext cx="918330" cy="294059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3A250ECC-AF05-23F4-E591-E7DD223C776D}"/>
                  </a:ext>
                </a:extLst>
              </p:cNvPr>
              <p:cNvCxnSpPr/>
              <p:nvPr/>
            </p:nvCxnSpPr>
            <p:spPr>
              <a:xfrm>
                <a:off x="718460" y="3324691"/>
                <a:ext cx="1232013" cy="14514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6558A40D-9E66-ACD1-28DF-94711E43775A}"/>
                  </a:ext>
                </a:extLst>
              </p:cNvPr>
              <p:cNvCxnSpPr/>
              <p:nvPr/>
            </p:nvCxnSpPr>
            <p:spPr>
              <a:xfrm>
                <a:off x="3853198" y="3316149"/>
                <a:ext cx="1232013" cy="14514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6" name="Rounded Rectangle 64">
              <a:extLst>
                <a:ext uri="{FF2B5EF4-FFF2-40B4-BE49-F238E27FC236}">
                  <a16:creationId xmlns:a16="http://schemas.microsoft.com/office/drawing/2014/main" id="{7758F43A-FBA0-C850-F961-279D06E20282}"/>
                </a:ext>
              </a:extLst>
            </p:cNvPr>
            <p:cNvSpPr/>
            <p:nvPr/>
          </p:nvSpPr>
          <p:spPr>
            <a:xfrm>
              <a:off x="1123916" y="2877989"/>
              <a:ext cx="562654" cy="390961"/>
            </a:xfrm>
            <a:prstGeom prst="roundRect">
              <a:avLst/>
            </a:prstGeom>
            <a:noFill/>
            <a:ln w="28575">
              <a:solidFill>
                <a:srgbClr val="CC00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1FB5462-2ABE-898F-C0D3-BD4EA2BABC9F}"/>
              </a:ext>
            </a:extLst>
          </p:cNvPr>
          <p:cNvGrpSpPr/>
          <p:nvPr/>
        </p:nvGrpSpPr>
        <p:grpSpPr>
          <a:xfrm>
            <a:off x="5165160" y="1818522"/>
            <a:ext cx="4598628" cy="2089041"/>
            <a:chOff x="5993549" y="2251827"/>
            <a:chExt cx="4837855" cy="2126476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579BECC2-143A-4766-14B6-111F228B9EB7}"/>
                </a:ext>
              </a:extLst>
            </p:cNvPr>
            <p:cNvGrpSpPr/>
            <p:nvPr/>
          </p:nvGrpSpPr>
          <p:grpSpPr>
            <a:xfrm>
              <a:off x="5993549" y="2251827"/>
              <a:ext cx="4837855" cy="2126476"/>
              <a:chOff x="5993549" y="2251827"/>
              <a:chExt cx="4837855" cy="2126476"/>
            </a:xfrm>
          </p:grpSpPr>
          <p:pic>
            <p:nvPicPr>
              <p:cNvPr id="44" name="Picture 43">
                <a:extLst>
                  <a:ext uri="{FF2B5EF4-FFF2-40B4-BE49-F238E27FC236}">
                    <a16:creationId xmlns:a16="http://schemas.microsoft.com/office/drawing/2014/main" id="{8E8DED7D-20B0-0AFD-DE49-A9902163FA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7159398" y="3008363"/>
                <a:ext cx="2928031" cy="1062037"/>
              </a:xfrm>
              <a:prstGeom prst="rect">
                <a:avLst/>
              </a:prstGeom>
            </p:spPr>
          </p:pic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3449C82D-1E10-C4B2-6B1D-B496664206C1}"/>
                  </a:ext>
                </a:extLst>
              </p:cNvPr>
              <p:cNvSpPr/>
              <p:nvPr/>
            </p:nvSpPr>
            <p:spPr>
              <a:xfrm>
                <a:off x="7159397" y="2689735"/>
                <a:ext cx="2576290" cy="625204"/>
              </a:xfrm>
              <a:prstGeom prst="ellipse">
                <a:avLst/>
              </a:prstGeom>
              <a:noFill/>
              <a:ln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500">
                  <a:solidFill>
                    <a:schemeClr val="accent5">
                      <a:lumMod val="7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2B824263-2C49-590D-8D2A-F40AE6F90FEC}"/>
                  </a:ext>
                </a:extLst>
              </p:cNvPr>
              <p:cNvSpPr/>
              <p:nvPr/>
            </p:nvSpPr>
            <p:spPr>
              <a:xfrm>
                <a:off x="6965155" y="2546506"/>
                <a:ext cx="2957515" cy="824976"/>
              </a:xfrm>
              <a:prstGeom prst="ellipse">
                <a:avLst/>
              </a:prstGeom>
              <a:noFill/>
              <a:ln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500">
                  <a:solidFill>
                    <a:schemeClr val="accent5">
                      <a:lumMod val="7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6447B042-FC6A-E3E2-4D27-D08932B3EECC}"/>
                  </a:ext>
                </a:extLst>
              </p:cNvPr>
              <p:cNvSpPr/>
              <p:nvPr/>
            </p:nvSpPr>
            <p:spPr>
              <a:xfrm>
                <a:off x="7152138" y="3371482"/>
                <a:ext cx="2576290" cy="625204"/>
              </a:xfrm>
              <a:prstGeom prst="ellipse">
                <a:avLst/>
              </a:prstGeom>
              <a:noFill/>
              <a:ln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500">
                  <a:solidFill>
                    <a:schemeClr val="accent5">
                      <a:lumMod val="7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F662A56F-E90A-AF1D-A1F7-B95AE2C2B188}"/>
                  </a:ext>
                </a:extLst>
              </p:cNvPr>
              <p:cNvSpPr/>
              <p:nvPr/>
            </p:nvSpPr>
            <p:spPr>
              <a:xfrm>
                <a:off x="6965156" y="3291230"/>
                <a:ext cx="2957515" cy="824976"/>
              </a:xfrm>
              <a:prstGeom prst="ellipse">
                <a:avLst/>
              </a:prstGeom>
              <a:noFill/>
              <a:ln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500">
                  <a:solidFill>
                    <a:schemeClr val="accent5">
                      <a:lumMod val="7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BA16AC42-24F8-C2F5-488E-08E3182F15A8}"/>
                  </a:ext>
                </a:extLst>
              </p:cNvPr>
              <p:cNvSpPr/>
              <p:nvPr/>
            </p:nvSpPr>
            <p:spPr>
              <a:xfrm>
                <a:off x="6807200" y="2362138"/>
                <a:ext cx="3280229" cy="1008580"/>
              </a:xfrm>
              <a:prstGeom prst="ellipse">
                <a:avLst/>
              </a:prstGeom>
              <a:noFill/>
              <a:ln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500">
                  <a:solidFill>
                    <a:schemeClr val="accent5">
                      <a:lumMod val="7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5DC6E4A9-E4DE-267F-FCF1-F0BDD7082220}"/>
                  </a:ext>
                </a:extLst>
              </p:cNvPr>
              <p:cNvSpPr/>
              <p:nvPr/>
            </p:nvSpPr>
            <p:spPr>
              <a:xfrm>
                <a:off x="6814458" y="3254770"/>
                <a:ext cx="3280229" cy="1008580"/>
              </a:xfrm>
              <a:prstGeom prst="ellipse">
                <a:avLst/>
              </a:prstGeom>
              <a:noFill/>
              <a:ln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500">
                  <a:solidFill>
                    <a:schemeClr val="accent5">
                      <a:lumMod val="7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CE9ADC24-4E6D-14E4-78F4-91645B988111}"/>
                  </a:ext>
                </a:extLst>
              </p:cNvPr>
              <p:cNvSpPr/>
              <p:nvPr/>
            </p:nvSpPr>
            <p:spPr>
              <a:xfrm>
                <a:off x="6642211" y="2251827"/>
                <a:ext cx="3610205" cy="1173611"/>
              </a:xfrm>
              <a:prstGeom prst="ellipse">
                <a:avLst/>
              </a:prstGeom>
              <a:noFill/>
              <a:ln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500">
                  <a:solidFill>
                    <a:schemeClr val="accent5">
                      <a:lumMod val="7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C57DC35A-8872-2C98-A820-509D0EB99128}"/>
                  </a:ext>
                </a:extLst>
              </p:cNvPr>
              <p:cNvSpPr/>
              <p:nvPr/>
            </p:nvSpPr>
            <p:spPr>
              <a:xfrm>
                <a:off x="6649471" y="3204692"/>
                <a:ext cx="3610205" cy="1173611"/>
              </a:xfrm>
              <a:prstGeom prst="ellipse">
                <a:avLst/>
              </a:prstGeom>
              <a:noFill/>
              <a:ln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500">
                  <a:solidFill>
                    <a:schemeClr val="accent5">
                      <a:lumMod val="7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E9F58BB3-3B46-20A2-D6EC-BC6634E6FB49}"/>
                  </a:ext>
                </a:extLst>
              </p:cNvPr>
              <p:cNvSpPr/>
              <p:nvPr/>
            </p:nvSpPr>
            <p:spPr>
              <a:xfrm>
                <a:off x="7418500" y="2841819"/>
                <a:ext cx="2072144" cy="481070"/>
              </a:xfrm>
              <a:prstGeom prst="ellipse">
                <a:avLst/>
              </a:prstGeom>
              <a:noFill/>
              <a:ln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500">
                  <a:solidFill>
                    <a:schemeClr val="accent5">
                      <a:lumMod val="7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C8834AAF-A546-F5B5-E7D3-5479ABC410A7}"/>
                  </a:ext>
                </a:extLst>
              </p:cNvPr>
              <p:cNvSpPr/>
              <p:nvPr/>
            </p:nvSpPr>
            <p:spPr>
              <a:xfrm>
                <a:off x="7457677" y="3400982"/>
                <a:ext cx="2072144" cy="481070"/>
              </a:xfrm>
              <a:prstGeom prst="ellipse">
                <a:avLst/>
              </a:prstGeom>
              <a:noFill/>
              <a:ln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500">
                  <a:solidFill>
                    <a:schemeClr val="accent5">
                      <a:lumMod val="7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4B3F80AC-C58B-DDCA-57BF-C15AA6DAB0B0}"/>
                  </a:ext>
                </a:extLst>
              </p:cNvPr>
              <p:cNvCxnSpPr/>
              <p:nvPr/>
            </p:nvCxnSpPr>
            <p:spPr>
              <a:xfrm>
                <a:off x="6360883" y="2903570"/>
                <a:ext cx="1046303" cy="437955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FD99733B-4B46-DC14-B270-64F4C4706BC9}"/>
                  </a:ext>
                </a:extLst>
              </p:cNvPr>
              <p:cNvCxnSpPr/>
              <p:nvPr/>
            </p:nvCxnSpPr>
            <p:spPr>
              <a:xfrm>
                <a:off x="6123522" y="3071087"/>
                <a:ext cx="1326597" cy="262622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3BCB1C5F-FC6E-FDD0-8C5D-D49220AF269B}"/>
                  </a:ext>
                </a:extLst>
              </p:cNvPr>
              <p:cNvCxnSpPr/>
              <p:nvPr/>
            </p:nvCxnSpPr>
            <p:spPr>
              <a:xfrm flipV="1">
                <a:off x="6109359" y="3300616"/>
                <a:ext cx="1326855" cy="1749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61A1E336-6816-016A-6F8D-95ECDC53F90A}"/>
                  </a:ext>
                </a:extLst>
              </p:cNvPr>
              <p:cNvCxnSpPr/>
              <p:nvPr/>
            </p:nvCxnSpPr>
            <p:spPr>
              <a:xfrm flipV="1">
                <a:off x="6401437" y="3328486"/>
                <a:ext cx="918330" cy="294059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3A63295A-C55C-ACB2-400B-3CF235EE8ADE}"/>
                  </a:ext>
                </a:extLst>
              </p:cNvPr>
              <p:cNvCxnSpPr/>
              <p:nvPr/>
            </p:nvCxnSpPr>
            <p:spPr>
              <a:xfrm flipH="1">
                <a:off x="9786985" y="2913074"/>
                <a:ext cx="1030514" cy="332236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2EAD0A68-7FEB-7D8E-A419-EA3DD124FD89}"/>
                  </a:ext>
                </a:extLst>
              </p:cNvPr>
              <p:cNvCxnSpPr/>
              <p:nvPr/>
            </p:nvCxnSpPr>
            <p:spPr>
              <a:xfrm flipH="1">
                <a:off x="9504807" y="3047442"/>
                <a:ext cx="1326597" cy="262622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84B3886B-A407-E1D2-CDEC-F0EA110A9945}"/>
                  </a:ext>
                </a:extLst>
              </p:cNvPr>
              <p:cNvCxnSpPr/>
              <p:nvPr/>
            </p:nvCxnSpPr>
            <p:spPr>
              <a:xfrm flipH="1" flipV="1">
                <a:off x="9490644" y="3276971"/>
                <a:ext cx="1326855" cy="1749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0C48FC83-DCF1-F60D-CA8F-E7FBC4FE964D}"/>
                  </a:ext>
                </a:extLst>
              </p:cNvPr>
              <p:cNvCxnSpPr/>
              <p:nvPr/>
            </p:nvCxnSpPr>
            <p:spPr>
              <a:xfrm flipH="1" flipV="1">
                <a:off x="9782722" y="3304841"/>
                <a:ext cx="918330" cy="294059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01FC381C-9302-E68F-4DED-FE7AA1D0B26A}"/>
                  </a:ext>
                </a:extLst>
              </p:cNvPr>
              <p:cNvCxnSpPr/>
              <p:nvPr/>
            </p:nvCxnSpPr>
            <p:spPr>
              <a:xfrm>
                <a:off x="5993549" y="3294315"/>
                <a:ext cx="1232013" cy="14514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338EE336-B9BD-3E6A-03DE-1362BEB65888}"/>
                  </a:ext>
                </a:extLst>
              </p:cNvPr>
              <p:cNvCxnSpPr/>
              <p:nvPr/>
            </p:nvCxnSpPr>
            <p:spPr>
              <a:xfrm>
                <a:off x="9588205" y="3259999"/>
                <a:ext cx="1232013" cy="14514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3" name="Rounded Rectangle 62">
              <a:extLst>
                <a:ext uri="{FF2B5EF4-FFF2-40B4-BE49-F238E27FC236}">
                  <a16:creationId xmlns:a16="http://schemas.microsoft.com/office/drawing/2014/main" id="{B4E0820F-6874-D326-23F3-C59497482365}"/>
                </a:ext>
              </a:extLst>
            </p:cNvPr>
            <p:cNvSpPr/>
            <p:nvPr/>
          </p:nvSpPr>
          <p:spPr>
            <a:xfrm>
              <a:off x="6533834" y="2829855"/>
              <a:ext cx="646613" cy="464321"/>
            </a:xfrm>
            <a:prstGeom prst="roundRect">
              <a:avLst/>
            </a:prstGeom>
            <a:noFill/>
            <a:ln w="28575">
              <a:solidFill>
                <a:srgbClr val="CC00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endParaRPr>
            </a:p>
          </p:txBody>
        </p: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151D7113-25D0-7EE0-4777-2119AD75F026}"/>
              </a:ext>
            </a:extLst>
          </p:cNvPr>
          <p:cNvSpPr txBox="1"/>
          <p:nvPr/>
        </p:nvSpPr>
        <p:spPr>
          <a:xfrm>
            <a:off x="5676823" y="5295270"/>
            <a:ext cx="35584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Absolute </a:t>
            </a:r>
            <a:r>
              <a:rPr lang="en-US" sz="1500" b="1" u="sng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Permeability of magnetic material </a:t>
            </a:r>
            <a:endParaRPr lang="en-IN" sz="1500" b="1" u="sng" dirty="0">
              <a:solidFill>
                <a:schemeClr val="accent5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FEC974F-5592-1290-0B17-94102D505B5E}"/>
              </a:ext>
            </a:extLst>
          </p:cNvPr>
          <p:cNvSpPr txBox="1"/>
          <p:nvPr/>
        </p:nvSpPr>
        <p:spPr>
          <a:xfrm>
            <a:off x="1330497" y="5217817"/>
            <a:ext cx="244676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500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Absolute </a:t>
            </a:r>
            <a:r>
              <a:rPr lang="en-US" sz="1500" b="1" u="sng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Permeability </a:t>
            </a:r>
          </a:p>
          <a:p>
            <a:pPr algn="ctr"/>
            <a:r>
              <a:rPr lang="en-US" sz="1500" b="1" u="sng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of free space /air/ </a:t>
            </a:r>
            <a:r>
              <a:rPr lang="en-US" sz="1500" b="1" u="sng" dirty="0" err="1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vaccum</a:t>
            </a:r>
            <a:endParaRPr lang="en-IN" sz="1500" b="1" u="sng" dirty="0">
              <a:solidFill>
                <a:schemeClr val="accent5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3BABE68-720D-9F13-2235-567A2AE88945}"/>
              </a:ext>
            </a:extLst>
          </p:cNvPr>
          <p:cNvSpPr txBox="1"/>
          <p:nvPr/>
        </p:nvSpPr>
        <p:spPr>
          <a:xfrm>
            <a:off x="10337473" y="5365660"/>
            <a:ext cx="133254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500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Relative </a:t>
            </a:r>
          </a:p>
          <a:p>
            <a:pPr algn="ctr"/>
            <a:r>
              <a:rPr lang="en-US" sz="1500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Permeability </a:t>
            </a:r>
            <a:endParaRPr lang="en-IN" sz="1500" b="1" dirty="0">
              <a:solidFill>
                <a:schemeClr val="accent5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EB8A8E72-CFCC-6050-47B7-3A14115F49BD}"/>
              </a:ext>
            </a:extLst>
          </p:cNvPr>
          <p:cNvCxnSpPr>
            <a:cxnSpLocks/>
          </p:cNvCxnSpPr>
          <p:nvPr/>
        </p:nvCxnSpPr>
        <p:spPr>
          <a:xfrm flipH="1">
            <a:off x="9897331" y="1506967"/>
            <a:ext cx="27465" cy="3656697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4E3DB34C-4C8B-CC80-A036-1B0F41136F2D}"/>
              </a:ext>
            </a:extLst>
          </p:cNvPr>
          <p:cNvSpPr txBox="1"/>
          <p:nvPr/>
        </p:nvSpPr>
        <p:spPr>
          <a:xfrm>
            <a:off x="1590884" y="1356531"/>
            <a:ext cx="139275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Air Cored Coil</a:t>
            </a:r>
            <a:endParaRPr lang="en-IN" sz="1500" b="1" dirty="0">
              <a:solidFill>
                <a:schemeClr val="accent5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576F4D7-B421-1FE4-CAA0-3B2E9A81C646}"/>
              </a:ext>
            </a:extLst>
          </p:cNvPr>
          <p:cNvSpPr txBox="1"/>
          <p:nvPr/>
        </p:nvSpPr>
        <p:spPr>
          <a:xfrm>
            <a:off x="6425798" y="1306912"/>
            <a:ext cx="149797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Iron Cored Coil</a:t>
            </a:r>
            <a:endParaRPr lang="en-IN" sz="1500" b="1" dirty="0">
              <a:solidFill>
                <a:schemeClr val="accent5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0CE464E-6A7E-53DF-DCE4-69025C1F397B}"/>
                  </a:ext>
                </a:extLst>
              </p:cNvPr>
              <p:cNvSpPr txBox="1"/>
              <p:nvPr/>
            </p:nvSpPr>
            <p:spPr>
              <a:xfrm>
                <a:off x="1029220" y="6065568"/>
                <a:ext cx="2777081" cy="5245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5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15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5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𝟒</m:t>
                      </m:r>
                      <m:r>
                        <a:rPr lang="en-US" sz="15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a:rPr lang="en-US" sz="15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sSup>
                        <m:sSupPr>
                          <m:ctrlPr>
                            <a:rPr lang="en-US" sz="15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5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𝟏𝟎</m:t>
                          </m:r>
                        </m:e>
                        <m:sup>
                          <m:r>
                            <a:rPr lang="en-US" sz="15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5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𝟕</m:t>
                          </m:r>
                        </m:sup>
                      </m:sSup>
                      <m:r>
                        <a:rPr lang="en-US" sz="15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sz="15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5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𝑯</m:t>
                          </m:r>
                        </m:num>
                        <m:den>
                          <m:r>
                            <a:rPr lang="en-US" sz="15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</m:t>
                          </m:r>
                        </m:den>
                      </m:f>
                    </m:oMath>
                  </m:oMathPara>
                </a14:m>
                <a:endParaRPr lang="en-IN" sz="1500" dirty="0">
                  <a:solidFill>
                    <a:schemeClr val="accent5">
                      <a:lumMod val="7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0CE464E-6A7E-53DF-DCE4-69025C1F39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220" y="6065568"/>
                <a:ext cx="2777081" cy="52450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DD8BD04-7A75-4527-7B44-32DE318310C4}"/>
                  </a:ext>
                </a:extLst>
              </p:cNvPr>
              <p:cNvSpPr txBox="1"/>
              <p:nvPr/>
            </p:nvSpPr>
            <p:spPr>
              <a:xfrm>
                <a:off x="10647104" y="6073034"/>
                <a:ext cx="542213" cy="3231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5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</m:sSub>
                    </m:oMath>
                  </m:oMathPara>
                </a14:m>
                <a:endParaRPr lang="en-IN" sz="1500" dirty="0">
                  <a:solidFill>
                    <a:schemeClr val="accent5">
                      <a:lumMod val="7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DD8BD04-7A75-4527-7B44-32DE318310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7104" y="6073034"/>
                <a:ext cx="542213" cy="323165"/>
              </a:xfrm>
              <a:prstGeom prst="rect">
                <a:avLst/>
              </a:prstGeom>
              <a:blipFill>
                <a:blip r:embed="rId12"/>
                <a:stretch>
                  <a:fillRect b="-188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5DFC003A-0C82-500C-97DA-C31788335026}"/>
              </a:ext>
            </a:extLst>
          </p:cNvPr>
          <p:cNvSpPr txBox="1"/>
          <p:nvPr/>
        </p:nvSpPr>
        <p:spPr>
          <a:xfrm>
            <a:off x="509700" y="844827"/>
            <a:ext cx="11417897" cy="405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1500" b="1" i="1" kern="100" dirty="0">
                <a:solidFill>
                  <a:schemeClr val="accent5">
                    <a:lumMod val="75000"/>
                  </a:schemeClr>
                </a:solidFill>
                <a:effectLst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is defined as ability or ease with which the magnetic flux gets established in a given medium. </a:t>
            </a:r>
            <a:endParaRPr lang="en-IN" sz="1500" b="1" kern="100" dirty="0">
              <a:solidFill>
                <a:schemeClr val="accent5">
                  <a:lumMod val="75000"/>
                </a:schemeClr>
              </a:solidFill>
              <a:effectLst/>
              <a:latin typeface="Aptos" panose="020B00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43714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2C1A0-5791-3C1B-DC06-521FE19C5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8434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sz="2500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Relation between MMF, Reluctance and Flux</a:t>
            </a:r>
            <a:endParaRPr lang="en-IN" sz="2500" b="1" dirty="0">
              <a:solidFill>
                <a:schemeClr val="accent5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65B65AD-847E-D685-B248-BA7A82B16778}"/>
                  </a:ext>
                </a:extLst>
              </p:cNvPr>
              <p:cNvSpPr txBox="1"/>
              <p:nvPr/>
            </p:nvSpPr>
            <p:spPr>
              <a:xfrm>
                <a:off x="9649981" y="2535454"/>
                <a:ext cx="1177940" cy="43069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𝑰</m:t>
                      </m:r>
                      <m:r>
                        <a:rPr lang="en-US" sz="15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𝑬</m:t>
                          </m:r>
                        </m:num>
                        <m:den>
                          <m:r>
                            <a:rPr lang="en-US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den>
                      </m:f>
                    </m:oMath>
                  </m:oMathPara>
                </a14:m>
                <a:endParaRPr lang="en-US" sz="1500" b="1" dirty="0">
                  <a:solidFill>
                    <a:schemeClr val="accent5">
                      <a:lumMod val="7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65B65AD-847E-D685-B248-BA7A82B167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9981" y="2535454"/>
                <a:ext cx="1177940" cy="430695"/>
              </a:xfrm>
              <a:prstGeom prst="rect">
                <a:avLst/>
              </a:prstGeom>
              <a:blipFill>
                <a:blip r:embed="rId3"/>
                <a:stretch>
                  <a:fillRect t="-1408" b="-1408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18049DF-2BC0-E944-08E6-7A08C4F3DA41}"/>
                  </a:ext>
                </a:extLst>
              </p:cNvPr>
              <p:cNvSpPr txBox="1"/>
              <p:nvPr/>
            </p:nvSpPr>
            <p:spPr>
              <a:xfrm>
                <a:off x="3689666" y="2342375"/>
                <a:ext cx="2849563" cy="4806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∅</m:t>
                      </m:r>
                      <m:r>
                        <a:rPr lang="en-US" sz="1500" b="1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𝑴𝑴𝑭</m:t>
                          </m:r>
                          <m:r>
                            <a:rPr lang="en-US" sz="15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en-US" sz="15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  <m:r>
                            <a:rPr lang="en-US" sz="15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𝑹𝒆𝒍𝒖𝒄𝒕𝒂𝒏𝒄𝒆</m:t>
                          </m:r>
                          <m:r>
                            <a:rPr lang="en-US" sz="15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en-US" sz="15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  <m:r>
                            <a:rPr lang="en-US" sz="15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1500" b="1" dirty="0">
                  <a:solidFill>
                    <a:schemeClr val="accent5">
                      <a:lumMod val="7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18049DF-2BC0-E944-08E6-7A08C4F3DA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9666" y="2342375"/>
                <a:ext cx="2849563" cy="48064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BE3D168-86D2-B73D-6F92-00FA1B139114}"/>
                  </a:ext>
                </a:extLst>
              </p:cNvPr>
              <p:cNvSpPr txBox="1"/>
              <p:nvPr/>
            </p:nvSpPr>
            <p:spPr>
              <a:xfrm>
                <a:off x="4676882" y="3291146"/>
                <a:ext cx="642227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sz="1500" b="1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500" b="1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∅</m:t>
                      </m:r>
                      <m:r>
                        <a:rPr lang="en-US" sz="15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</m:oMath>
                  </m:oMathPara>
                </a14:m>
                <a:endParaRPr lang="en-US" sz="1500" b="1" dirty="0">
                  <a:solidFill>
                    <a:schemeClr val="accent5">
                      <a:lumMod val="7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BE3D168-86D2-B73D-6F92-00FA1B1391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6882" y="3291146"/>
                <a:ext cx="642227" cy="230832"/>
              </a:xfrm>
              <a:prstGeom prst="rect">
                <a:avLst/>
              </a:prstGeom>
              <a:blipFill>
                <a:blip r:embed="rId5"/>
                <a:stretch>
                  <a:fillRect l="-6604" r="-5660" b="-131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1A36D77-1B26-0A19-2E4A-DBA25E7A2032}"/>
              </a:ext>
            </a:extLst>
          </p:cNvPr>
          <p:cNvCxnSpPr>
            <a:cxnSpLocks/>
          </p:cNvCxnSpPr>
          <p:nvPr/>
        </p:nvCxnSpPr>
        <p:spPr>
          <a:xfrm flipH="1">
            <a:off x="6539229" y="1372695"/>
            <a:ext cx="9876" cy="2585603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9E7EBAB-1193-B6C5-1E02-30AFEA94271F}"/>
              </a:ext>
            </a:extLst>
          </p:cNvPr>
          <p:cNvGrpSpPr/>
          <p:nvPr/>
        </p:nvGrpSpPr>
        <p:grpSpPr>
          <a:xfrm>
            <a:off x="598756" y="1729802"/>
            <a:ext cx="2960821" cy="2084565"/>
            <a:chOff x="1669703" y="1697812"/>
            <a:chExt cx="2960821" cy="2084565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BED625D3-DA01-F2DF-832B-EE6FB644E7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69703" y="1797111"/>
              <a:ext cx="2960821" cy="1985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9DEF6971-8930-8EBA-0321-3D75C9198524}"/>
                    </a:ext>
                  </a:extLst>
                </p:cNvPr>
                <p:cNvSpPr txBox="1"/>
                <p:nvPr/>
              </p:nvSpPr>
              <p:spPr>
                <a:xfrm>
                  <a:off x="4132919" y="3413045"/>
                  <a:ext cx="468086" cy="3231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500" b="1" i="1" kern="120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 b="1" i="1" kern="120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sz="1500" b="1" i="1" kern="120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𝒓</m:t>
                            </m:r>
                          </m:sub>
                        </m:sSub>
                      </m:oMath>
                    </m:oMathPara>
                  </a14:m>
                  <a:endParaRPr lang="en-IN" sz="1500" dirty="0">
                    <a:solidFill>
                      <a:schemeClr val="accent5">
                        <a:lumMod val="75000"/>
                      </a:schemeClr>
                    </a:solidFill>
                    <a:latin typeface="Aptos" panose="020B0004020202020204" pitchFamily="34" charset="0"/>
                  </a:endParaRPr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9DEF6971-8930-8EBA-0321-3D75C91985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32919" y="3413045"/>
                  <a:ext cx="468086" cy="323165"/>
                </a:xfrm>
                <a:prstGeom prst="rect">
                  <a:avLst/>
                </a:prstGeom>
                <a:blipFill>
                  <a:blip r:embed="rId7"/>
                  <a:stretch>
                    <a:fillRect b="-188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843770F-6C46-AFF9-5AEE-2F6F4979FF6F}"/>
                </a:ext>
              </a:extLst>
            </p:cNvPr>
            <p:cNvSpPr txBox="1"/>
            <p:nvPr/>
          </p:nvSpPr>
          <p:spPr>
            <a:xfrm>
              <a:off x="2808515" y="1697812"/>
              <a:ext cx="234360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i="1" dirty="0">
                  <a:solidFill>
                    <a:schemeClr val="accent5">
                      <a:lumMod val="75000"/>
                    </a:schemeClr>
                  </a:solidFill>
                  <a:latin typeface="Aptos" panose="020B0004020202020204" pitchFamily="34" charset="0"/>
                </a:rPr>
                <a:t>l</a:t>
              </a:r>
              <a:endParaRPr lang="en-IN" sz="1500" i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endParaRP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A4C09034-FE4F-FDAA-D865-76B92EA2FFE7}"/>
                </a:ext>
              </a:extLst>
            </p:cNvPr>
            <p:cNvCxnSpPr>
              <a:stCxn id="5" idx="3"/>
            </p:cNvCxnSpPr>
            <p:nvPr/>
          </p:nvCxnSpPr>
          <p:spPr>
            <a:xfrm>
              <a:off x="3042875" y="1859395"/>
              <a:ext cx="107238" cy="32863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CC2B4071-E107-97F6-B6EF-50CCEB11734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93271" y="2206792"/>
            <a:ext cx="2412544" cy="168580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A51E352-228B-5B61-96A2-E648DD0C0F9A}"/>
              </a:ext>
            </a:extLst>
          </p:cNvPr>
          <p:cNvSpPr txBox="1"/>
          <p:nvPr/>
        </p:nvSpPr>
        <p:spPr>
          <a:xfrm>
            <a:off x="2607359" y="1282234"/>
            <a:ext cx="21053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Magnetic Circuit</a:t>
            </a:r>
            <a:endParaRPr lang="en-IN" sz="2000" b="1" i="1" dirty="0">
              <a:solidFill>
                <a:schemeClr val="accent5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68BA51-0FDC-75C4-B348-EB2EE2EBE86A}"/>
              </a:ext>
            </a:extLst>
          </p:cNvPr>
          <p:cNvSpPr txBox="1"/>
          <p:nvPr/>
        </p:nvSpPr>
        <p:spPr>
          <a:xfrm>
            <a:off x="7836504" y="1372695"/>
            <a:ext cx="19322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Electric Circuit</a:t>
            </a:r>
            <a:endParaRPr lang="en-IN" sz="2000" b="1" i="1" dirty="0">
              <a:solidFill>
                <a:schemeClr val="accent5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BC4523E-AD80-8330-8FA4-4898DBBB5DB4}"/>
                  </a:ext>
                </a:extLst>
              </p:cNvPr>
              <p:cNvSpPr txBox="1"/>
              <p:nvPr/>
            </p:nvSpPr>
            <p:spPr>
              <a:xfrm>
                <a:off x="385336" y="4291005"/>
                <a:ext cx="2212144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𝑴𝒂𝒈𝒏𝒆𝒕𝒐𝒎𝒐𝒕𝒊𝒗𝒆</m:t>
                      </m:r>
                      <m:r>
                        <a:rPr lang="en-US" sz="15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5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𝑭𝒐𝒓𝒄𝒆</m:t>
                      </m:r>
                      <m:r>
                        <a:rPr lang="en-US" sz="15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en-US" sz="1500" b="1" i="1" dirty="0">
                  <a:solidFill>
                    <a:schemeClr val="accent5">
                      <a:lumMod val="7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BC4523E-AD80-8330-8FA4-4898DBBB5D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336" y="4291005"/>
                <a:ext cx="2212144" cy="230832"/>
              </a:xfrm>
              <a:prstGeom prst="rect">
                <a:avLst/>
              </a:prstGeom>
              <a:blipFill>
                <a:blip r:embed="rId9"/>
                <a:stretch>
                  <a:fillRect l="-2479" b="-315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CEC6CD2-B8B2-6431-ED59-103FC8F11BCE}"/>
                  </a:ext>
                </a:extLst>
              </p:cNvPr>
              <p:cNvSpPr txBox="1"/>
              <p:nvPr/>
            </p:nvSpPr>
            <p:spPr>
              <a:xfrm>
                <a:off x="4220557" y="5974598"/>
                <a:ext cx="937180" cy="4773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  <m:r>
                        <a:rPr lang="en-US" sz="15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𝒍</m:t>
                          </m:r>
                        </m:num>
                        <m:den>
                          <m:sSub>
                            <m:sSubPr>
                              <m:ctrlPr>
                                <a:rPr lang="en-US" sz="1500" b="1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500" b="1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sz="1500" b="1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500" b="1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500" b="1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sz="1500" b="1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sub>
                          </m:sSub>
                          <m:r>
                            <a:rPr lang="en-US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den>
                      </m:f>
                    </m:oMath>
                  </m:oMathPara>
                </a14:m>
                <a:endParaRPr lang="en-US" sz="1500" b="1" dirty="0">
                  <a:solidFill>
                    <a:schemeClr val="accent5">
                      <a:lumMod val="7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CEC6CD2-B8B2-6431-ED59-103FC8F11B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0557" y="5974598"/>
                <a:ext cx="937180" cy="4773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A675C28A-AABE-6E9A-4320-44EF84673BB9}"/>
                  </a:ext>
                </a:extLst>
              </p:cNvPr>
              <p:cNvSpPr/>
              <p:nvPr/>
            </p:nvSpPr>
            <p:spPr>
              <a:xfrm flipH="1">
                <a:off x="5474362" y="5963915"/>
                <a:ext cx="901225" cy="5395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𝑵𝑰</m:t>
                          </m:r>
                        </m:num>
                        <m:den>
                          <m:r>
                            <a:rPr lang="en-US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∅</m:t>
                          </m:r>
                        </m:den>
                      </m:f>
                    </m:oMath>
                  </m:oMathPara>
                </a14:m>
                <a:endParaRPr lang="en-US" sz="1500" b="1" dirty="0">
                  <a:solidFill>
                    <a:schemeClr val="accent5">
                      <a:lumMod val="7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A675C28A-AABE-6E9A-4320-44EF84673B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474362" y="5963915"/>
                <a:ext cx="901225" cy="539571"/>
              </a:xfrm>
              <a:prstGeom prst="rect">
                <a:avLst/>
              </a:prstGeom>
              <a:blipFill>
                <a:blip r:embed="rId11"/>
                <a:stretch>
                  <a:fillRect b="-33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B5AAFF3B-60D7-5DDF-2FB3-5895DF522229}"/>
                  </a:ext>
                </a:extLst>
              </p:cNvPr>
              <p:cNvSpPr/>
              <p:nvPr/>
            </p:nvSpPr>
            <p:spPr>
              <a:xfrm>
                <a:off x="6271328" y="6004825"/>
                <a:ext cx="1159292" cy="52514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5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𝑨𝒎𝒑</m:t>
                          </m:r>
                          <m:r>
                            <a:rPr lang="en-US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𝑻𝒖𝒓𝒏</m:t>
                          </m:r>
                        </m:num>
                        <m:den>
                          <m:r>
                            <a:rPr lang="en-US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𝑾𝒆𝒃𝒆𝒓</m:t>
                          </m:r>
                        </m:den>
                      </m:f>
                    </m:oMath>
                  </m:oMathPara>
                </a14:m>
                <a:endParaRPr lang="en-US" sz="1500" b="1" dirty="0">
                  <a:solidFill>
                    <a:schemeClr val="accent5">
                      <a:lumMod val="7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B5AAFF3B-60D7-5DDF-2FB3-5895DF5222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1328" y="6004825"/>
                <a:ext cx="1159292" cy="525144"/>
              </a:xfrm>
              <a:prstGeom prst="rect">
                <a:avLst/>
              </a:prstGeom>
              <a:blipFill>
                <a:blip r:embed="rId12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D4EED3B-97FA-034D-1020-3EA84F1D42A1}"/>
              </a:ext>
            </a:extLst>
          </p:cNvPr>
          <p:cNvCxnSpPr>
            <a:cxnSpLocks/>
          </p:cNvCxnSpPr>
          <p:nvPr/>
        </p:nvCxnSpPr>
        <p:spPr>
          <a:xfrm>
            <a:off x="509355" y="4056464"/>
            <a:ext cx="1117328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1D97FA9E-BFA5-3CED-339C-4497755B9E23}"/>
                  </a:ext>
                </a:extLst>
              </p:cNvPr>
              <p:cNvSpPr/>
              <p:nvPr/>
            </p:nvSpPr>
            <p:spPr>
              <a:xfrm>
                <a:off x="9124306" y="6033746"/>
                <a:ext cx="536236" cy="52597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5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den>
                      </m:f>
                    </m:oMath>
                  </m:oMathPara>
                </a14:m>
                <a:endParaRPr lang="en-US" sz="1500" b="1" dirty="0">
                  <a:solidFill>
                    <a:schemeClr val="accent5">
                      <a:lumMod val="7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1D97FA9E-BFA5-3CED-339C-4497755B9E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4306" y="6033746"/>
                <a:ext cx="536236" cy="525978"/>
              </a:xfrm>
              <a:prstGeom prst="rect">
                <a:avLst/>
              </a:prstGeom>
              <a:blipFill>
                <a:blip r:embed="rId13"/>
                <a:stretch>
                  <a:fillRect b="-232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7E8FD21B-3CC0-C99C-82E8-7F04C31ABDC6}"/>
                  </a:ext>
                </a:extLst>
              </p:cNvPr>
              <p:cNvSpPr/>
              <p:nvPr/>
            </p:nvSpPr>
            <p:spPr>
              <a:xfrm>
                <a:off x="9952289" y="5997302"/>
                <a:ext cx="1159292" cy="5696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5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𝑾𝒆𝒃𝒆𝒓</m:t>
                          </m:r>
                        </m:num>
                        <m:den>
                          <m:r>
                            <a:rPr lang="en-US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𝑨𝒎𝒑</m:t>
                          </m:r>
                          <m:r>
                            <a:rPr lang="en-US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𝑻𝒖𝒓𝒏</m:t>
                          </m:r>
                        </m:den>
                      </m:f>
                    </m:oMath>
                  </m:oMathPara>
                </a14:m>
                <a:endParaRPr lang="en-US" sz="1500" b="1" dirty="0">
                  <a:solidFill>
                    <a:schemeClr val="accent5">
                      <a:lumMod val="7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7E8FD21B-3CC0-C99C-82E8-7F04C31ABD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2289" y="5997302"/>
                <a:ext cx="1159292" cy="569643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A310C34-5BE4-AD2E-AE95-470A45210BFE}"/>
                  </a:ext>
                </a:extLst>
              </p:cNvPr>
              <p:cNvSpPr txBox="1"/>
              <p:nvPr/>
            </p:nvSpPr>
            <p:spPr>
              <a:xfrm>
                <a:off x="384367" y="6123542"/>
                <a:ext cx="2950380" cy="3231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sz="1500" b="1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500" b="1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𝑵𝑰</m:t>
                      </m:r>
                      <m:r>
                        <a:rPr lang="en-US" sz="15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5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∅ </m:t>
                      </m:r>
                      <m:r>
                        <a:rPr lang="en-US" sz="15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  <m:r>
                        <a:rPr lang="en-US" sz="15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</m:t>
                      </m:r>
                      <m:r>
                        <a:rPr lang="en-US" sz="15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𝑨𝒎𝒑</m:t>
                      </m:r>
                      <m:r>
                        <a:rPr lang="en-US" sz="15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5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𝑻𝒖𝒓𝒏</m:t>
                      </m:r>
                    </m:oMath>
                  </m:oMathPara>
                </a14:m>
                <a:endParaRPr lang="en-US" sz="1500" b="1" dirty="0">
                  <a:solidFill>
                    <a:schemeClr val="accent5">
                      <a:lumMod val="7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A310C34-5BE4-AD2E-AE95-470A45210B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367" y="6123542"/>
                <a:ext cx="2950380" cy="323165"/>
              </a:xfrm>
              <a:prstGeom prst="rect">
                <a:avLst/>
              </a:prstGeom>
              <a:blipFill>
                <a:blip r:embed="rId15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FA4BB533-6A7A-52A8-1807-AFD4C246390F}"/>
              </a:ext>
            </a:extLst>
          </p:cNvPr>
          <p:cNvSpPr txBox="1"/>
          <p:nvPr/>
        </p:nvSpPr>
        <p:spPr>
          <a:xfrm>
            <a:off x="364080" y="4695091"/>
            <a:ext cx="341730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</a:pPr>
            <a:r>
              <a:rPr lang="en-IN" sz="1500" i="1" kern="100" dirty="0">
                <a:solidFill>
                  <a:schemeClr val="accent5">
                    <a:lumMod val="75000"/>
                  </a:schemeClr>
                </a:solidFill>
                <a:effectLst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is the force required to produce or create flux in a magnetic circuit.</a:t>
            </a:r>
            <a:endParaRPr lang="en-IN" sz="1500" kern="100" dirty="0">
              <a:solidFill>
                <a:schemeClr val="accent5">
                  <a:lumMod val="75000"/>
                </a:schemeClr>
              </a:solidFill>
              <a:effectLst/>
              <a:latin typeface="Aptos" panose="020B00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F692E37-E0EB-AA90-1F40-2FE31F50B300}"/>
                  </a:ext>
                </a:extLst>
              </p:cNvPr>
              <p:cNvSpPr txBox="1"/>
              <p:nvPr/>
            </p:nvSpPr>
            <p:spPr>
              <a:xfrm>
                <a:off x="5526686" y="4275627"/>
                <a:ext cx="1480726" cy="3231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 b="1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𝐑𝐞𝐥𝐮𝐜𝐭𝐚𝐧𝐜𝐞</m:t>
                      </m:r>
                    </m:oMath>
                  </m:oMathPara>
                </a14:m>
                <a:endParaRPr lang="en-IN" sz="1500" dirty="0">
                  <a:solidFill>
                    <a:schemeClr val="accent5">
                      <a:lumMod val="7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F692E37-E0EB-AA90-1F40-2FE31F50B3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6686" y="4275627"/>
                <a:ext cx="1480726" cy="32316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08F4095-E832-3AB2-B0B3-13FCF1C6A7E9}"/>
              </a:ext>
            </a:extLst>
          </p:cNvPr>
          <p:cNvCxnSpPr/>
          <p:nvPr/>
        </p:nvCxnSpPr>
        <p:spPr>
          <a:xfrm>
            <a:off x="3929743" y="4230005"/>
            <a:ext cx="0" cy="23526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BE36680-9AE9-BF2F-6B7E-4C07228CC8C2}"/>
                  </a:ext>
                </a:extLst>
              </p:cNvPr>
              <p:cNvSpPr txBox="1"/>
              <p:nvPr/>
            </p:nvSpPr>
            <p:spPr>
              <a:xfrm>
                <a:off x="9124306" y="4187956"/>
                <a:ext cx="1619355" cy="3231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𝑷𝒆𝒓𝒎𝒆𝒂𝒏𝒄𝒆</m:t>
                      </m:r>
                    </m:oMath>
                  </m:oMathPara>
                </a14:m>
                <a:endParaRPr lang="en-IN" sz="1500" dirty="0">
                  <a:solidFill>
                    <a:schemeClr val="accent5">
                      <a:lumMod val="7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BE36680-9AE9-BF2F-6B7E-4C07228CC8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4306" y="4187956"/>
                <a:ext cx="1619355" cy="32316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5E1D75A-B85B-DB5B-83D4-135125357105}"/>
              </a:ext>
            </a:extLst>
          </p:cNvPr>
          <p:cNvCxnSpPr/>
          <p:nvPr/>
        </p:nvCxnSpPr>
        <p:spPr>
          <a:xfrm>
            <a:off x="8206618" y="4299879"/>
            <a:ext cx="0" cy="23526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CBA9ED2-4DA6-0955-9CB2-5513C3ED8BFC}"/>
                  </a:ext>
                </a:extLst>
              </p:cNvPr>
              <p:cNvSpPr txBox="1"/>
              <p:nvPr/>
            </p:nvSpPr>
            <p:spPr>
              <a:xfrm>
                <a:off x="4154405" y="4639876"/>
                <a:ext cx="3883187" cy="7848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IN" sz="1500" i="1" dirty="0"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Aptos" panose="020B0004020202020204" pitchFamily="34" charset="0"/>
                    <a:ea typeface="Calibri" panose="020F0502020204030204" pitchFamily="34" charset="0"/>
                  </a:rPr>
                  <a:t>The opposition offered by the magnetic material to the passage of magnetic flux</a:t>
                </a:r>
                <a14:m>
                  <m:oMath xmlns:m="http://schemas.openxmlformats.org/officeDocument/2006/math">
                    <m:r>
                      <a:rPr lang="en-IN" sz="1500" i="1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(∅)</m:t>
                    </m:r>
                  </m:oMath>
                </a14:m>
                <a:r>
                  <a:rPr lang="en-IN" sz="1500" i="1" dirty="0"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Aptos" panose="020B0004020202020204" pitchFamily="34" charset="0"/>
                    <a:ea typeface="Calibri" panose="020F0502020204030204" pitchFamily="34" charset="0"/>
                  </a:rPr>
                  <a:t> is called as it's reluctance</a:t>
                </a:r>
                <a:endParaRPr lang="en-IN" sz="1500" dirty="0">
                  <a:solidFill>
                    <a:schemeClr val="accent5">
                      <a:lumMod val="7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CBA9ED2-4DA6-0955-9CB2-5513C3ED8B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4405" y="4639876"/>
                <a:ext cx="3883187" cy="784830"/>
              </a:xfrm>
              <a:prstGeom prst="rect">
                <a:avLst/>
              </a:prstGeom>
              <a:blipFill>
                <a:blip r:embed="rId18"/>
                <a:stretch>
                  <a:fillRect l="-627" t="-775" r="-470" b="-852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81C70E83-F16A-6328-CD97-AAE6706D2A68}"/>
              </a:ext>
            </a:extLst>
          </p:cNvPr>
          <p:cNvSpPr txBox="1"/>
          <p:nvPr/>
        </p:nvSpPr>
        <p:spPr>
          <a:xfrm>
            <a:off x="8360453" y="4629559"/>
            <a:ext cx="3635602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500" i="1" dirty="0">
                <a:solidFill>
                  <a:schemeClr val="accent5">
                    <a:lumMod val="75000"/>
                  </a:schemeClr>
                </a:solidFill>
                <a:effectLst/>
                <a:latin typeface="Aptos" panose="020B0004020202020204" pitchFamily="34" charset="0"/>
                <a:ea typeface="Calibri" panose="020F0502020204030204" pitchFamily="34" charset="0"/>
              </a:rPr>
              <a:t>It is reciprocal of reluctance and is defined as ease or readiness with which magnetic flux gets developed </a:t>
            </a:r>
            <a:endParaRPr lang="en-IN" sz="1500" dirty="0">
              <a:solidFill>
                <a:schemeClr val="accent5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41014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2C1A0-5791-3C1B-DC06-521FE19C5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19687"/>
            <a:ext cx="10058400" cy="867087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sz="2500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Comparison between Magnetic and Electric Circuit</a:t>
            </a:r>
            <a:endParaRPr lang="en-IN" sz="2500" b="1" dirty="0">
              <a:solidFill>
                <a:schemeClr val="accent5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F63EAFC-FA38-D2B5-97F1-2C21EC0C66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1248996"/>
              </p:ext>
            </p:extLst>
          </p:nvPr>
        </p:nvGraphicFramePr>
        <p:xfrm>
          <a:off x="838200" y="1690688"/>
          <a:ext cx="10583730" cy="4823528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5351973">
                  <a:extLst>
                    <a:ext uri="{9D8B030D-6E8A-4147-A177-3AD203B41FA5}">
                      <a16:colId xmlns:a16="http://schemas.microsoft.com/office/drawing/2014/main" val="696874281"/>
                    </a:ext>
                  </a:extLst>
                </a:gridCol>
                <a:gridCol w="5231757">
                  <a:extLst>
                    <a:ext uri="{9D8B030D-6E8A-4147-A177-3AD203B41FA5}">
                      <a16:colId xmlns:a16="http://schemas.microsoft.com/office/drawing/2014/main" val="3665112993"/>
                    </a:ext>
                  </a:extLst>
                </a:gridCol>
              </a:tblGrid>
              <a:tr h="56629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ptos" panose="020B0004020202020204" pitchFamily="34" charset="0"/>
                        </a:rPr>
                        <a:t>Magnetic Circuit</a:t>
                      </a:r>
                      <a:endParaRPr lang="en-IN" sz="2000" dirty="0">
                        <a:latin typeface="Aptos" panose="020B0004020202020204" pitchFamily="34" charset="0"/>
                      </a:endParaRPr>
                    </a:p>
                  </a:txBody>
                  <a:tcPr>
                    <a:solidFill>
                      <a:srgbClr val="0012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>
                          <a:latin typeface="Aptos" panose="020B0004020202020204" pitchFamily="34" charset="0"/>
                        </a:rPr>
                        <a:t>Electric Circuit</a:t>
                      </a:r>
                      <a:endParaRPr lang="en-IN" sz="2500" dirty="0">
                        <a:latin typeface="Aptos" panose="020B0004020202020204" pitchFamily="34" charset="0"/>
                      </a:endParaRPr>
                    </a:p>
                  </a:txBody>
                  <a:tcPr>
                    <a:solidFill>
                      <a:srgbClr val="0012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1390698"/>
                  </a:ext>
                </a:extLst>
              </a:tr>
              <a:tr h="205235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4578427"/>
                  </a:ext>
                </a:extLst>
              </a:tr>
              <a:tr h="494063">
                <a:tc gridSpan="2"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Aptos" panose="020B0004020202020204" pitchFamily="34" charset="0"/>
                        </a:rPr>
                        <a:t>List Similarities </a:t>
                      </a:r>
                      <a:endParaRPr lang="en-IN" sz="1500" b="1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9597991"/>
                  </a:ext>
                </a:extLst>
              </a:tr>
              <a:tr h="562432">
                <a:tc>
                  <a:txBody>
                    <a:bodyPr/>
                    <a:lstStyle/>
                    <a:p>
                      <a:r>
                        <a:rPr lang="en-US" sz="15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Aptos" panose="020B0004020202020204" pitchFamily="34" charset="0"/>
                        </a:rPr>
                        <a:t>F, </a:t>
                      </a:r>
                      <a:r>
                        <a:rPr lang="el-GR" sz="15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Aptos" panose="020B0004020202020204" pitchFamily="34" charset="0"/>
                        </a:rPr>
                        <a:t>ϕ</a:t>
                      </a:r>
                      <a:r>
                        <a:rPr lang="en-US" sz="15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Aptos" panose="020B0004020202020204" pitchFamily="34" charset="0"/>
                        </a:rPr>
                        <a:t>, S, F=</a:t>
                      </a:r>
                      <a:r>
                        <a:rPr lang="el-GR" sz="15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Aptos" panose="020B0004020202020204" pitchFamily="34" charset="0"/>
                        </a:rPr>
                        <a:t>ϕ</a:t>
                      </a:r>
                      <a:r>
                        <a:rPr lang="en-US" sz="15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Aptos" panose="020B0004020202020204" pitchFamily="34" charset="0"/>
                        </a:rPr>
                        <a:t> S, S=, Permeance, ….</a:t>
                      </a:r>
                      <a:endParaRPr lang="en-IN" sz="1500" b="1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Aptos" panose="020B0004020202020204" pitchFamily="34" charset="0"/>
                        </a:rPr>
                        <a:t>E, I, R, E=IR, R=, G, ….</a:t>
                      </a:r>
                      <a:endParaRPr lang="en-IN" sz="1500" b="1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2197992"/>
                  </a:ext>
                </a:extLst>
              </a:tr>
              <a:tr h="58596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Aptos" panose="020B0004020202020204" pitchFamily="34" charset="0"/>
                        </a:rPr>
                        <a:t>List Dissimilarities</a:t>
                      </a:r>
                      <a:endParaRPr lang="en-IN" sz="1500" b="1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4721202"/>
                  </a:ext>
                </a:extLst>
              </a:tr>
              <a:tr h="562432">
                <a:tc gridSpan="2">
                  <a:txBody>
                    <a:bodyPr/>
                    <a:lstStyle/>
                    <a:p>
                      <a:pPr algn="l"/>
                      <a:r>
                        <a:rPr lang="en-US" sz="15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Aptos" panose="020B0004020202020204" pitchFamily="34" charset="0"/>
                        </a:rPr>
                        <a:t>Flow of current  &amp; flux set up, Energy Required, Insulation provision</a:t>
                      </a:r>
                      <a:endParaRPr lang="en-IN" sz="1500" b="1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1350756"/>
                  </a:ext>
                </a:extLst>
              </a:tr>
            </a:tbl>
          </a:graphicData>
        </a:graphic>
      </p:graphicFrame>
      <p:pic>
        <p:nvPicPr>
          <p:cNvPr id="5" name="Picture 4" descr="addtional">
            <a:extLst>
              <a:ext uri="{FF2B5EF4-FFF2-40B4-BE49-F238E27FC236}">
                <a16:creationId xmlns:a16="http://schemas.microsoft.com/office/drawing/2014/main" id="{69C75CDB-0FDA-B53A-EEFA-91DF1C691F6E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446117" y="2288137"/>
            <a:ext cx="2811860" cy="19284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D962918-4437-7F9E-916F-E7A741D754A5}"/>
              </a:ext>
            </a:extLst>
          </p:cNvPr>
          <p:cNvCxnSpPr/>
          <p:nvPr/>
        </p:nvCxnSpPr>
        <p:spPr>
          <a:xfrm>
            <a:off x="6096000" y="1690688"/>
            <a:ext cx="0" cy="239157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315075F-578F-A49B-53EA-94AAD5A86658}"/>
              </a:ext>
            </a:extLst>
          </p:cNvPr>
          <p:cNvCxnSpPr>
            <a:cxnSpLocks/>
          </p:cNvCxnSpPr>
          <p:nvPr/>
        </p:nvCxnSpPr>
        <p:spPr>
          <a:xfrm>
            <a:off x="6096000" y="4814047"/>
            <a:ext cx="0" cy="5244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CDA1964C-92B5-D87C-884D-D3BAC6D70C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1171" y="2461770"/>
            <a:ext cx="2412544" cy="1685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1814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04D33F15-D808-034B-75DF-7A6DF4398A3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49501905"/>
                  </p:ext>
                </p:extLst>
              </p:nvPr>
            </p:nvGraphicFramePr>
            <p:xfrm>
              <a:off x="424543" y="1458686"/>
              <a:ext cx="11479928" cy="5123397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57086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503359">
                      <a:extLst>
                        <a:ext uri="{9D8B030D-6E8A-4147-A177-3AD203B41FA5}">
                          <a16:colId xmlns:a16="http://schemas.microsoft.com/office/drawing/2014/main" val="18119003"/>
                        </a:ext>
                      </a:extLst>
                    </a:gridCol>
                    <a:gridCol w="293920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466497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62147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effectLst/>
                              <a:latin typeface="Aptos" panose="020B00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60136" marR="6013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𝐌𝐚𝐠𝐧𝐞𝐭𝐨𝐦𝐨𝐭𝐢𝐯𝐞</m:t>
                                </m:r>
                                <m:r>
                                  <a:rPr lang="en-US" sz="1800" b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800" b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𝐅𝐨𝐫𝐜𝐞</m:t>
                                </m:r>
                                <m:r>
                                  <a:rPr lang="en-US" sz="1800" b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sz="1800" b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𝐌𝐌𝐅</m:t>
                                </m:r>
                              </m:oMath>
                            </m:oMathPara>
                          </a14:m>
                          <a:endParaRPr lang="en-US" sz="1800" b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effectLst/>
                            <a:latin typeface="Aptos" panose="020B000402020202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0136" marR="6013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𝑭</m:t>
                                </m:r>
                                <m:r>
                                  <a:rPr lang="en-US" sz="1800" b="1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800" b="1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𝑵𝑰</m:t>
                                </m:r>
                                <m:r>
                                  <a:rPr lang="en-US" sz="1800" b="1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800" b="1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𝜱</m:t>
                                </m:r>
                                <m:r>
                                  <a:rPr lang="en-US" sz="1800" b="1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sz="1800" b="1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800" b="1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𝑯𝒍</m:t>
                                </m:r>
                              </m:oMath>
                            </m:oMathPara>
                          </a14:m>
                          <a:endParaRPr lang="en-US" sz="1800" b="1" i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0136" marR="6013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𝐀𝐦𝐩</m:t>
                                </m:r>
                                <m:r>
                                  <a:rPr lang="en-US" sz="1800" b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800" b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𝐓𝐮𝐫𝐧</m:t>
                                </m:r>
                              </m:oMath>
                            </m:oMathPara>
                          </a14:m>
                          <a:endParaRPr lang="en-US" sz="1800" b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effectLst/>
                            <a:latin typeface="Aptos" panose="020B000402020202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0136" marR="6013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  <a:tr h="175399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effectLst/>
                              <a:latin typeface="Aptos" panose="020B00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60136" marR="6013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800" b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𝐌𝐚𝐠𝐧𝐞𝐭𝐢𝐜</m:t>
                              </m:r>
                              <m:r>
                                <a:rPr lang="en-US" sz="1800" b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800" b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𝐅𝐢𝐞𝐥𝐝</m:t>
                              </m:r>
                              <m:r>
                                <a:rPr lang="en-US" sz="1800" b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800" b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𝐬𝐭𝐫𝐞𝐧𝐠𝐭𝐡</m:t>
                              </m:r>
                              <m:r>
                                <a:rPr lang="en-US" sz="1800" b="1" i="0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sz="1800" b="1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effectLst/>
                              <a:latin typeface="Aptos" panose="020B0004020202020204" pitchFamily="34" charset="0"/>
                            </a:rPr>
                            <a:t>/ </a:t>
                          </a:r>
                        </a:p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effectLst/>
                              <a:latin typeface="Aptos" panose="020B0004020202020204" pitchFamily="34" charset="0"/>
                            </a:rPr>
                            <a:t>Magnetic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1" i="0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𝐟𝐢𝐞𝐥𝐝</m:t>
                              </m:r>
                              <m:r>
                                <a:rPr lang="en-US" sz="1800" b="1" i="0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800" b="1" i="0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𝐈𝐧𝐭𝐞𝐧𝐬𝐢𝐭𝐲</m:t>
                              </m:r>
                            </m:oMath>
                          </a14:m>
                          <a:r>
                            <a:rPr lang="en-US" sz="1800" b="1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effectLst/>
                              <a:latin typeface="Aptos" panose="020B00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 /</a:t>
                          </a:r>
                          <a:endParaRPr lang="en-US" sz="1800" b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effectLst/>
                            <a:latin typeface="Aptos" panose="020B0004020202020204" pitchFamily="34" charset="0"/>
                          </a:endParaRPr>
                        </a:p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0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𝐌𝐚𝐠𝐧𝐞𝐭𝐢𝐳𝐢𝐧𝐠</m:t>
                                </m:r>
                                <m:r>
                                  <a:rPr lang="en-US" sz="1800" b="1" i="0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800" b="1" i="0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𝐅𝐨𝐫𝐜𝐞</m:t>
                                </m:r>
                              </m:oMath>
                            </m:oMathPara>
                          </a14:m>
                          <a:endParaRPr lang="en-US" sz="1800" b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effectLst/>
                            <a:latin typeface="Aptos" panose="020B000402020202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0136" marR="6013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𝑯</m:t>
                                </m:r>
                                <m:r>
                                  <a:rPr lang="en-US" sz="1800" b="1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1800" b="1" i="1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𝑵𝑰</m:t>
                                    </m:r>
                                  </m:num>
                                  <m:den>
                                    <m:r>
                                      <a:rPr lang="en-US" sz="1800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𝒍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800" b="1" i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effectLst/>
                            <a:latin typeface="Aptos" panose="020B000402020202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/>
                          <a:endParaRPr lang="en-US" sz="1800" b="1" i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0136" marR="6013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800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 b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𝐍𝐞𝐰𝐭𝐨𝐧</m:t>
                                    </m:r>
                                  </m:num>
                                  <m:den>
                                    <m:r>
                                      <a:rPr lang="en-US" sz="1800" b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𝐖𝐞𝐛𝐞𝐫</m:t>
                                    </m:r>
                                  </m:den>
                                </m:f>
                                <m:r>
                                  <a:rPr lang="en-US" sz="1800" b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800" b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𝐨𝐫</m:t>
                                </m:r>
                                <m:r>
                                  <a:rPr lang="en-US" sz="1800" b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f>
                                  <m:fPr>
                                    <m:ctrlPr>
                                      <a:rPr lang="en-US" sz="1800" b="1" i="1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 b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𝐀𝐦𝐩</m:t>
                                    </m:r>
                                  </m:num>
                                  <m:den>
                                    <m:r>
                                      <a:rPr lang="en-US" sz="1800" b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𝐦𝐭𝐫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800" b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effectLst/>
                            <a:latin typeface="Aptos" panose="020B000402020202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0136" marR="6013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33009556"/>
                      </a:ext>
                    </a:extLst>
                  </a:tr>
                  <a:tr h="92226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effectLst/>
                              <a:latin typeface="Aptos" panose="020B00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60136" marR="6013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𝐌𝐚𝐠𝐧𝐞𝐭𝐢𝐜</m:t>
                                </m:r>
                                <m:r>
                                  <a:rPr lang="en-US" sz="1800" b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800" b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𝐅𝐥𝐮𝐱</m:t>
                                </m:r>
                                <m:r>
                                  <a:rPr lang="en-US" sz="1800" b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r>
                                  <a:rPr lang="en-US" sz="1800" b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𝐝𝐞𝐧𝐬𝐢𝐭𝐲</m:t>
                                </m:r>
                              </m:oMath>
                            </m:oMathPara>
                          </a14:m>
                          <a:endParaRPr lang="en-US" sz="1800" b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effectLst/>
                            <a:latin typeface="Aptos" panose="020B000402020202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0136" marR="6013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lang="en-US" sz="1800" b="1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1800" b="1" i="1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𝜱</m:t>
                                    </m:r>
                                  </m:num>
                                  <m:den>
                                    <m:r>
                                      <a:rPr lang="en-US" sz="1800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den>
                                </m:f>
                                <m:r>
                                  <a:rPr lang="en-US" sz="1800" b="1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800" b="1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𝝁</m:t>
                                </m:r>
                                <m:r>
                                  <a:rPr lang="en-US" sz="1800" b="1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𝑯</m:t>
                                </m:r>
                                <m:r>
                                  <a:rPr lang="en-US" sz="1800" b="1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1800" b="1" i="1" kern="120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kern="1200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𝝁</m:t>
                                    </m:r>
                                  </m:e>
                                  <m:sub>
                                    <m:r>
                                      <a:rPr lang="en-US" sz="1800" b="1" i="1" kern="1200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800" b="1" i="1" kern="120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kern="1200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𝝁</m:t>
                                    </m:r>
                                  </m:e>
                                  <m:sub>
                                    <m:r>
                                      <a:rPr lang="en-US" sz="1800" b="1" i="1" kern="1200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</m:sub>
                                </m:sSub>
                                <m:r>
                                  <a:rPr lang="en-US" sz="1800" b="1" i="1" kern="1200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𝑯</m:t>
                                </m:r>
                              </m:oMath>
                            </m:oMathPara>
                          </a14:m>
                          <a:endParaRPr lang="en-US" sz="1800" b="1" i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effectLst/>
                            <a:latin typeface="Aptos" panose="020B000402020202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0136" marR="6013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800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 b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𝐖𝐞𝐛𝐞𝐫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sz="1800" b="1" i="1">
                                            <a:solidFill>
                                              <a:schemeClr val="accent5">
                                                <a:lumMod val="75000"/>
                                              </a:schemeClr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800" b="1" smtClean="0">
                                            <a:solidFill>
                                              <a:schemeClr val="accent5">
                                                <a:lumMod val="75000"/>
                                              </a:schemeClr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𝐦</m:t>
                                        </m:r>
                                      </m:e>
                                      <m:sup>
                                        <m:r>
                                          <a:rPr lang="en-US" sz="1800" b="1" smtClean="0">
                                            <a:solidFill>
                                              <a:schemeClr val="accent5">
                                                <a:lumMod val="75000"/>
                                              </a:schemeClr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sup>
                                    </m:sSup>
                                  </m:den>
                                </m:f>
                                <m:r>
                                  <a:rPr lang="en-US" sz="1800" b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800" b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𝐨𝐫</m:t>
                                </m:r>
                                <m:r>
                                  <a:rPr lang="en-US" sz="1800" b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800" b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𝐓𝐞𝐬𝐥𝐚</m:t>
                                </m:r>
                              </m:oMath>
                            </m:oMathPara>
                          </a14:m>
                          <a:endParaRPr lang="en-US" sz="1800" b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effectLst/>
                            <a:latin typeface="Aptos" panose="020B000402020202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0136" marR="6013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45898595"/>
                      </a:ext>
                    </a:extLst>
                  </a:tr>
                  <a:tr h="91353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effectLst/>
                              <a:latin typeface="Aptos" panose="020B00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marL="60136" marR="6013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𝐑𝐞𝐥𝐮𝐜𝐭𝐚𝐧𝐜𝐞</m:t>
                                </m:r>
                              </m:oMath>
                            </m:oMathPara>
                          </a14:m>
                          <a:endParaRPr lang="en-US" sz="1800" b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effectLst/>
                            <a:latin typeface="Aptos" panose="020B000402020202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0136" marR="6013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kern="1200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sz="1800" b="1" i="1" kern="12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1800" b="1" i="1" kern="120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 b="1" i="1" kern="1200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𝒍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1800" b="1" i="1" kern="1200">
                                            <a:solidFill>
                                              <a:schemeClr val="accent5">
                                                <a:lumMod val="75000"/>
                                              </a:schemeClr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b="1" i="1" kern="1200" smtClean="0">
                                            <a:solidFill>
                                              <a:schemeClr val="accent5">
                                                <a:lumMod val="75000"/>
                                              </a:schemeClr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𝝁</m:t>
                                        </m:r>
                                      </m:e>
                                      <m:sub>
                                        <m:r>
                                          <a:rPr lang="en-US" sz="1800" b="1" i="1" kern="1200" smtClean="0">
                                            <a:solidFill>
                                              <a:schemeClr val="accent5">
                                                <a:lumMod val="75000"/>
                                              </a:schemeClr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𝟎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1800" b="1" i="1" kern="1200">
                                            <a:solidFill>
                                              <a:schemeClr val="accent5">
                                                <a:lumMod val="75000"/>
                                              </a:schemeClr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b="1" i="1" kern="1200" smtClean="0">
                                            <a:solidFill>
                                              <a:schemeClr val="accent5">
                                                <a:lumMod val="75000"/>
                                              </a:schemeClr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𝝁</m:t>
                                        </m:r>
                                      </m:e>
                                      <m:sub>
                                        <m:r>
                                          <a:rPr lang="en-US" sz="1800" b="1" i="1" kern="1200" smtClean="0">
                                            <a:solidFill>
                                              <a:schemeClr val="accent5">
                                                <a:lumMod val="75000"/>
                                              </a:schemeClr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𝒓</m:t>
                                        </m:r>
                                      </m:sub>
                                    </m:sSub>
                                    <m:r>
                                      <a:rPr lang="en-US" sz="1800" b="1" i="1" kern="1200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800" b="1" i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0136" marR="6013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800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 b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𝐀𝐦𝐩</m:t>
                                    </m:r>
                                    <m:r>
                                      <a:rPr lang="en-US" sz="1800" b="1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sz="1800" b="1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𝐓𝐮𝐫𝐧</m:t>
                                    </m:r>
                                  </m:num>
                                  <m:den>
                                    <m:r>
                                      <a:rPr lang="en-US" sz="1800" b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𝐖𝐞𝐛𝐞𝐫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800" b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effectLst/>
                            <a:latin typeface="Aptos" panose="020B000402020202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0136" marR="6013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32780088"/>
                      </a:ext>
                    </a:extLst>
                  </a:tr>
                  <a:tr h="91211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effectLst/>
                              <a:latin typeface="Aptos" panose="020B00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60136" marR="6013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𝐏𝐞𝐫𝐦𝐞𝐚𝐛𝐢𝐥𝐢𝐭𝐲</m:t>
                                </m:r>
                              </m:oMath>
                            </m:oMathPara>
                          </a14:m>
                          <a:endParaRPr lang="en-US" sz="1800" b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effectLst/>
                            <a:latin typeface="Aptos" panose="020B000402020202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0136" marR="6013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𝝁</m:t>
                                </m:r>
                                <m:r>
                                  <a:rPr lang="en-US" sz="1800" b="1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1800" b="1" i="1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sSub>
                                      <m:sSubPr>
                                        <m:ctrlPr>
                                          <a:rPr lang="en-US" sz="1800" b="1" i="1" smtClean="0">
                                            <a:solidFill>
                                              <a:schemeClr val="accent5">
                                                <a:lumMod val="75000"/>
                                              </a:schemeClr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b="1" i="1" smtClean="0">
                                            <a:solidFill>
                                              <a:schemeClr val="accent5">
                                                <a:lumMod val="75000"/>
                                              </a:schemeClr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𝝁</m:t>
                                        </m:r>
                                      </m:e>
                                      <m:sub>
                                        <m:r>
                                          <a:rPr lang="en-US" sz="1800" b="1" i="1" smtClean="0">
                                            <a:solidFill>
                                              <a:schemeClr val="accent5">
                                                <a:lumMod val="75000"/>
                                              </a:schemeClr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𝟎</m:t>
                                        </m:r>
                                      </m:sub>
                                    </m:sSub>
                                    <m:r>
                                      <a:rPr lang="en-US" sz="1800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𝝁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b="1" i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effectLst/>
                            <a:latin typeface="Aptos" panose="020B000402020202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0136" marR="6013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800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 b="1" i="0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𝐇𝐞𝐧𝐫𝐲</m:t>
                                    </m:r>
                                  </m:num>
                                  <m:den>
                                    <m:r>
                                      <a:rPr lang="en-US" sz="1800" b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𝐦𝐭𝐫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800" b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effectLst/>
                            <a:latin typeface="Aptos" panose="020B000402020202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0136" marR="6013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2605197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04D33F15-D808-034B-75DF-7A6DF4398A3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49501905"/>
                  </p:ext>
                </p:extLst>
              </p:nvPr>
            </p:nvGraphicFramePr>
            <p:xfrm>
              <a:off x="424543" y="1458686"/>
              <a:ext cx="11479928" cy="5123397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57086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503359">
                      <a:extLst>
                        <a:ext uri="{9D8B030D-6E8A-4147-A177-3AD203B41FA5}">
                          <a16:colId xmlns:a16="http://schemas.microsoft.com/office/drawing/2014/main" val="18119003"/>
                        </a:ext>
                      </a:extLst>
                    </a:gridCol>
                    <a:gridCol w="293920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466497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62147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effectLst/>
                              <a:latin typeface="Aptos" panose="020B00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60136" marR="6013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0136" marR="6013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520" t="-980" r="-98450" b="-726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0136" marR="6013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7054" t="-980" r="-84440" b="-726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0136" marR="6013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5432" t="-980" r="-494" b="-7264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  <a:tr h="175399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effectLst/>
                              <a:latin typeface="Aptos" panose="020B00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60136" marR="6013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0136" marR="6013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520" t="-35764" r="-98450" b="-1572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0136" marR="6013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7054" t="-35764" r="-84440" b="-1572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0136" marR="6013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5432" t="-35764" r="-494" b="-1572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33009556"/>
                      </a:ext>
                    </a:extLst>
                  </a:tr>
                  <a:tr h="92226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effectLst/>
                              <a:latin typeface="Aptos" panose="020B00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60136" marR="6013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0136" marR="6013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520" t="-258940" r="-9845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0136" marR="6013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7054" t="-258940" r="-8444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0136" marR="6013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5432" t="-258940" r="-494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5898595"/>
                      </a:ext>
                    </a:extLst>
                  </a:tr>
                  <a:tr h="91353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effectLst/>
                              <a:latin typeface="Aptos" panose="020B00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marL="60136" marR="6013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0136" marR="6013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520" t="-361333" r="-98450" b="-10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0136" marR="6013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7054" t="-361333" r="-84440" b="-10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0136" marR="6013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5432" t="-361333" r="-494" b="-101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32780088"/>
                      </a:ext>
                    </a:extLst>
                  </a:tr>
                  <a:tr h="91211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effectLst/>
                              <a:latin typeface="Aptos" panose="020B00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60136" marR="6013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0136" marR="6013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520" t="-461333" r="-98450" b="-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0136" marR="6013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7054" t="-461333" r="-84440" b="-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0136" marR="6013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5432" t="-461333" r="-494" b="-1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2605197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15821759-2755-197A-9B21-626864ABC9AC}"/>
              </a:ext>
            </a:extLst>
          </p:cNvPr>
          <p:cNvSpPr txBox="1"/>
          <p:nvPr/>
        </p:nvSpPr>
        <p:spPr>
          <a:xfrm>
            <a:off x="424543" y="577551"/>
            <a:ext cx="3447066" cy="47705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rtlCol="0">
            <a:spAutoFit/>
          </a:bodyPr>
          <a:lstStyle/>
          <a:p>
            <a:pPr algn="ctr"/>
            <a:r>
              <a:rPr lang="en-US" sz="2500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Formulae : </a:t>
            </a:r>
            <a:endParaRPr lang="en-IN" sz="2500" b="1" dirty="0">
              <a:solidFill>
                <a:schemeClr val="accent5">
                  <a:lumMod val="75000"/>
                </a:schemeClr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55449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C9363B1-059C-2A32-64E9-281BCF979161}"/>
                  </a:ext>
                </a:extLst>
              </p:cNvPr>
              <p:cNvSpPr txBox="1"/>
              <p:nvPr/>
            </p:nvSpPr>
            <p:spPr>
              <a:xfrm>
                <a:off x="5271122" y="3005009"/>
                <a:ext cx="1341445" cy="4321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∅</m:t>
                      </m:r>
                      <m:r>
                        <a:rPr lang="en-US" sz="15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5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5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𝑵𝑰</m:t>
                          </m:r>
                        </m:num>
                        <m:den>
                          <m:r>
                            <a:rPr lang="en-US" sz="15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den>
                      </m:f>
                    </m:oMath>
                  </m:oMathPara>
                </a14:m>
                <a:endParaRPr lang="en-IN" sz="1500" b="1" dirty="0">
                  <a:solidFill>
                    <a:schemeClr val="accent5">
                      <a:lumMod val="7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C9363B1-059C-2A32-64E9-281BCF9791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1122" y="3005009"/>
                <a:ext cx="1341445" cy="432170"/>
              </a:xfrm>
              <a:prstGeom prst="rect">
                <a:avLst/>
              </a:prstGeom>
              <a:blipFill>
                <a:blip r:embed="rId2"/>
                <a:stretch>
                  <a:fillRect t="-1408" b="-1408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DDD755D7-0AEE-0DD1-2133-4A078D854A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7162" y="1136897"/>
            <a:ext cx="2545301" cy="189754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D8762E9-3F76-6CEC-A716-57D94311790E}"/>
                  </a:ext>
                </a:extLst>
              </p:cNvPr>
              <p:cNvSpPr txBox="1"/>
              <p:nvPr/>
            </p:nvSpPr>
            <p:spPr>
              <a:xfrm>
                <a:off x="10388652" y="1807468"/>
                <a:ext cx="1948375" cy="43069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𝑰</m:t>
                      </m:r>
                      <m:r>
                        <a:rPr lang="en-US" sz="15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5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5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𝑬</m:t>
                          </m:r>
                        </m:num>
                        <m:den>
                          <m:r>
                            <a:rPr lang="en-US" sz="15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den>
                      </m:f>
                    </m:oMath>
                  </m:oMathPara>
                </a14:m>
                <a:endParaRPr lang="en-IN" sz="1500" b="1" dirty="0">
                  <a:solidFill>
                    <a:schemeClr val="accent5">
                      <a:lumMod val="7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D8762E9-3F76-6CEC-A716-57D9431179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8652" y="1807468"/>
                <a:ext cx="1948375" cy="430695"/>
              </a:xfrm>
              <a:prstGeom prst="rect">
                <a:avLst/>
              </a:prstGeom>
              <a:blipFill>
                <a:blip r:embed="rId4"/>
                <a:stretch>
                  <a:fillRect t="-1429" b="-1428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32AC0E7C-7FFB-47F5-DD48-B077E28D7A4C}"/>
              </a:ext>
            </a:extLst>
          </p:cNvPr>
          <p:cNvGrpSpPr/>
          <p:nvPr/>
        </p:nvGrpSpPr>
        <p:grpSpPr>
          <a:xfrm>
            <a:off x="1162356" y="999639"/>
            <a:ext cx="3026403" cy="2291838"/>
            <a:chOff x="585454" y="759121"/>
            <a:chExt cx="3885068" cy="2963793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514BA69-8A17-99B0-9E79-A3814B69913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5454" y="759121"/>
              <a:ext cx="3885068" cy="2963793"/>
            </a:xfrm>
            <a:prstGeom prst="rect">
              <a:avLst/>
            </a:prstGeom>
          </p:spPr>
        </p:pic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48266ED-63CD-C31F-814D-FB4330E055B5}"/>
                </a:ext>
              </a:extLst>
            </p:cNvPr>
            <p:cNvCxnSpPr/>
            <p:nvPr/>
          </p:nvCxnSpPr>
          <p:spPr>
            <a:xfrm flipH="1">
              <a:off x="1915886" y="2786743"/>
              <a:ext cx="315685" cy="337457"/>
            </a:xfrm>
            <a:prstGeom prst="straightConnector1">
              <a:avLst/>
            </a:prstGeom>
            <a:ln w="25400">
              <a:solidFill>
                <a:srgbClr val="C0000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B432005-B024-5052-E7C8-7401835FE54A}"/>
                </a:ext>
              </a:extLst>
            </p:cNvPr>
            <p:cNvSpPr txBox="1"/>
            <p:nvPr/>
          </p:nvSpPr>
          <p:spPr>
            <a:xfrm>
              <a:off x="2187830" y="2548039"/>
              <a:ext cx="418148" cy="4179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sz="1500" b="1" dirty="0">
                  <a:solidFill>
                    <a:schemeClr val="accent5">
                      <a:lumMod val="75000"/>
                    </a:schemeClr>
                  </a:solidFill>
                  <a:latin typeface="Aptos" panose="020B0004020202020204" pitchFamily="34" charset="0"/>
                </a:rPr>
                <a:t>ϕ</a:t>
              </a:r>
              <a:endParaRPr lang="en-IN" sz="1500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29C7F5A-3594-34BF-3244-B4074F09481E}"/>
              </a:ext>
            </a:extLst>
          </p:cNvPr>
          <p:cNvGrpSpPr/>
          <p:nvPr/>
        </p:nvGrpSpPr>
        <p:grpSpPr>
          <a:xfrm>
            <a:off x="1132081" y="4278614"/>
            <a:ext cx="3230304" cy="2151381"/>
            <a:chOff x="761436" y="3879834"/>
            <a:chExt cx="3918210" cy="2528400"/>
          </a:xfrm>
        </p:grpSpPr>
        <p:pic>
          <p:nvPicPr>
            <p:cNvPr id="16" name="Picture 2">
              <a:extLst>
                <a:ext uri="{FF2B5EF4-FFF2-40B4-BE49-F238E27FC236}">
                  <a16:creationId xmlns:a16="http://schemas.microsoft.com/office/drawing/2014/main" id="{38A3F7DE-6E62-FA23-C591-90EFD6209F4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1436" y="3879834"/>
              <a:ext cx="3918210" cy="2528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D33C018A-D44B-7C85-A18A-D2BDA8357802}"/>
                </a:ext>
              </a:extLst>
            </p:cNvPr>
            <p:cNvCxnSpPr/>
            <p:nvPr/>
          </p:nvCxnSpPr>
          <p:spPr>
            <a:xfrm flipH="1">
              <a:off x="1940482" y="5729206"/>
              <a:ext cx="270859" cy="294076"/>
            </a:xfrm>
            <a:prstGeom prst="straightConnector1">
              <a:avLst/>
            </a:prstGeom>
            <a:ln w="25400">
              <a:solidFill>
                <a:srgbClr val="C0000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43F71B0-7164-3375-A8B1-1F8A3E541F79}"/>
                </a:ext>
              </a:extLst>
            </p:cNvPr>
            <p:cNvSpPr txBox="1"/>
            <p:nvPr/>
          </p:nvSpPr>
          <p:spPr>
            <a:xfrm>
              <a:off x="2173810" y="5521188"/>
              <a:ext cx="395095" cy="3797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sz="1500" b="1" dirty="0">
                  <a:solidFill>
                    <a:schemeClr val="accent5">
                      <a:lumMod val="75000"/>
                    </a:schemeClr>
                  </a:solidFill>
                  <a:latin typeface="Aptos" panose="020B0004020202020204" pitchFamily="34" charset="0"/>
                </a:rPr>
                <a:t>ϕ</a:t>
              </a:r>
              <a:endParaRPr lang="en-IN" sz="1500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endParaRP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9061BB93-131B-4885-CB8D-2C8975B3E9A6}"/>
                </a:ext>
              </a:extLst>
            </p:cNvPr>
            <p:cNvCxnSpPr/>
            <p:nvPr/>
          </p:nvCxnSpPr>
          <p:spPr>
            <a:xfrm flipH="1">
              <a:off x="3732282" y="4947959"/>
              <a:ext cx="270859" cy="294076"/>
            </a:xfrm>
            <a:prstGeom prst="straightConnector1">
              <a:avLst/>
            </a:prstGeom>
            <a:ln w="25400">
              <a:solidFill>
                <a:srgbClr val="C0000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6F0D808-019C-7C00-7DA2-BE62E7EA26B9}"/>
                </a:ext>
              </a:extLst>
            </p:cNvPr>
            <p:cNvSpPr txBox="1"/>
            <p:nvPr/>
          </p:nvSpPr>
          <p:spPr>
            <a:xfrm>
              <a:off x="3965612" y="4739941"/>
              <a:ext cx="560368" cy="3797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sz="1500" b="1" dirty="0">
                  <a:solidFill>
                    <a:schemeClr val="accent5">
                      <a:lumMod val="75000"/>
                    </a:schemeClr>
                  </a:solidFill>
                  <a:latin typeface="Aptos" panose="020B0004020202020204" pitchFamily="34" charset="0"/>
                </a:rPr>
                <a:t>ϕ</a:t>
              </a:r>
              <a:r>
                <a:rPr lang="en-US" sz="1500" b="1" baseline="-25000" dirty="0">
                  <a:solidFill>
                    <a:schemeClr val="accent5">
                      <a:lumMod val="75000"/>
                    </a:schemeClr>
                  </a:solidFill>
                  <a:latin typeface="Aptos" panose="020B0004020202020204" pitchFamily="34" charset="0"/>
                </a:rPr>
                <a:t>ag</a:t>
              </a:r>
              <a:endParaRPr lang="en-IN" sz="1500" b="1" baseline="-25000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5AE7762-D00B-3AB5-3F69-0310976C2C2F}"/>
                  </a:ext>
                </a:extLst>
              </p:cNvPr>
              <p:cNvSpPr txBox="1"/>
              <p:nvPr/>
            </p:nvSpPr>
            <p:spPr>
              <a:xfrm>
                <a:off x="4044513" y="5926570"/>
                <a:ext cx="2491888" cy="50058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500" b="1" dirty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Aptos" panose="020B0004020202020204" pitchFamily="34" charset="0"/>
                          <a:ea typeface="Cambria Math" panose="02040503050406030204" pitchFamily="18" charset="0"/>
                        </a:rPr>
                        <m:t>∅</m:t>
                      </m:r>
                      <m:r>
                        <a:rPr lang="en-US" sz="1500" b="1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1500" b="1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Aptos" panose="020B0004020202020204" pitchFamily="34" charset="0"/>
                              <a:ea typeface="Cambria Math" panose="02040503050406030204" pitchFamily="18" charset="0"/>
                            </a:rPr>
                            <m:t>∅</m:t>
                          </m:r>
                        </m:e>
                        <m:sub>
                          <m:r>
                            <a:rPr lang="en-US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𝒂𝒈</m:t>
                          </m:r>
                        </m:sub>
                      </m:sSub>
                      <m:r>
                        <a:rPr lang="en-US" sz="15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5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5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𝑵𝑰</m:t>
                          </m:r>
                        </m:num>
                        <m:den>
                          <m:sSub>
                            <m:sSubPr>
                              <m:ctrlPr>
                                <a:rPr lang="en-US" sz="1500" b="1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500" b="1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US" sz="1500" b="1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sz="15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500" b="1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500" b="1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US" sz="1500" b="1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𝒂𝒈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sz="1500" b="1" dirty="0">
                  <a:solidFill>
                    <a:schemeClr val="accent5">
                      <a:lumMod val="7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5AE7762-D00B-3AB5-3F69-0310976C2C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4513" y="5926570"/>
                <a:ext cx="2491888" cy="500586"/>
              </a:xfrm>
              <a:prstGeom prst="rect">
                <a:avLst/>
              </a:prstGeom>
              <a:blipFill>
                <a:blip r:embed="rId7"/>
                <a:stretch>
                  <a:fillRect t="-1220" b="-97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20CB272-A8E1-E441-675A-A6D89CEE5C13}"/>
                  </a:ext>
                </a:extLst>
              </p:cNvPr>
              <p:cNvSpPr txBox="1"/>
              <p:nvPr/>
            </p:nvSpPr>
            <p:spPr>
              <a:xfrm>
                <a:off x="10243625" y="5919544"/>
                <a:ext cx="1948375" cy="50058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𝑰</m:t>
                      </m:r>
                      <m:r>
                        <a:rPr lang="en-US" sz="15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5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5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𝑬</m:t>
                          </m:r>
                        </m:num>
                        <m:den>
                          <m:sSub>
                            <m:sSubPr>
                              <m:ctrlPr>
                                <a:rPr lang="en-US" sz="1500" b="1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500" b="1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sz="1500" b="1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sz="15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500" b="1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500" b="1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sz="1500" b="1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𝒂𝒈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sz="1500" b="1" dirty="0">
                  <a:solidFill>
                    <a:schemeClr val="accent5">
                      <a:lumMod val="7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20CB272-A8E1-E441-675A-A6D89CEE5C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3625" y="5919544"/>
                <a:ext cx="1948375" cy="500586"/>
              </a:xfrm>
              <a:prstGeom prst="rect">
                <a:avLst/>
              </a:prstGeom>
              <a:blipFill>
                <a:blip r:embed="rId8"/>
                <a:stretch>
                  <a:fillRect t="-1220" b="-97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5" name="Picture 24">
            <a:extLst>
              <a:ext uri="{FF2B5EF4-FFF2-40B4-BE49-F238E27FC236}">
                <a16:creationId xmlns:a16="http://schemas.microsoft.com/office/drawing/2014/main" id="{9BF9421B-B5B5-7F1F-2907-1ACE46F7401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83821" y="3922314"/>
            <a:ext cx="2858837" cy="2178761"/>
          </a:xfrm>
          <a:prstGeom prst="rect">
            <a:avLst/>
          </a:prstGeom>
        </p:spPr>
      </p:pic>
      <p:sp>
        <p:nvSpPr>
          <p:cNvPr id="26" name="Title 1">
            <a:extLst>
              <a:ext uri="{FF2B5EF4-FFF2-40B4-BE49-F238E27FC236}">
                <a16:creationId xmlns:a16="http://schemas.microsoft.com/office/drawing/2014/main" id="{B8771646-85BA-A223-017E-0C363FA29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944" y="318213"/>
            <a:ext cx="11149373" cy="589134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Series Magnetic circuit with and without air gap</a:t>
            </a:r>
            <a:endParaRPr lang="en-IN" sz="2000" b="1" dirty="0">
              <a:solidFill>
                <a:schemeClr val="accent5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8703E7F-F43C-94C4-CF13-7003AB546006}"/>
              </a:ext>
            </a:extLst>
          </p:cNvPr>
          <p:cNvCxnSpPr>
            <a:cxnSpLocks/>
          </p:cNvCxnSpPr>
          <p:nvPr/>
        </p:nvCxnSpPr>
        <p:spPr>
          <a:xfrm>
            <a:off x="683600" y="3795211"/>
            <a:ext cx="11223172" cy="0"/>
          </a:xfrm>
          <a:prstGeom prst="line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CEA4227-F24C-8F57-6E37-4D2CEAA535CD}"/>
              </a:ext>
            </a:extLst>
          </p:cNvPr>
          <p:cNvCxnSpPr>
            <a:cxnSpLocks/>
          </p:cNvCxnSpPr>
          <p:nvPr/>
        </p:nvCxnSpPr>
        <p:spPr>
          <a:xfrm>
            <a:off x="6901544" y="1219658"/>
            <a:ext cx="0" cy="207181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55DD88F-E172-3C26-B436-57FBCEC790FF}"/>
              </a:ext>
            </a:extLst>
          </p:cNvPr>
          <p:cNvCxnSpPr>
            <a:cxnSpLocks/>
          </p:cNvCxnSpPr>
          <p:nvPr/>
        </p:nvCxnSpPr>
        <p:spPr>
          <a:xfrm>
            <a:off x="6923315" y="4367099"/>
            <a:ext cx="0" cy="207181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48F4F29-CECC-754D-3F62-D9FB18C9EAB8}"/>
                  </a:ext>
                </a:extLst>
              </p:cNvPr>
              <p:cNvSpPr txBox="1"/>
              <p:nvPr/>
            </p:nvSpPr>
            <p:spPr>
              <a:xfrm>
                <a:off x="4203706" y="1130267"/>
                <a:ext cx="1341445" cy="3231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sz="1500" b="1" i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500" b="1" i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Cambria Math" panose="02040503050406030204" pitchFamily="18" charset="0"/>
                        </a:rPr>
                        <m:t>𝑵𝑰</m:t>
                      </m:r>
                    </m:oMath>
                  </m:oMathPara>
                </a14:m>
                <a:endParaRPr lang="en-IN" sz="1500" dirty="0">
                  <a:solidFill>
                    <a:schemeClr val="accent5">
                      <a:lumMod val="7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48F4F29-CECC-754D-3F62-D9FB18C9EA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3706" y="1130267"/>
                <a:ext cx="1341445" cy="3231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76CE3C5-B55F-86C6-FE15-A65498E7C075}"/>
                  </a:ext>
                </a:extLst>
              </p:cNvPr>
              <p:cNvSpPr txBox="1"/>
              <p:nvPr/>
            </p:nvSpPr>
            <p:spPr>
              <a:xfrm>
                <a:off x="5290457" y="1670341"/>
                <a:ext cx="1341445" cy="5245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US" sz="1500" b="1" i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5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𝑵𝑰</m:t>
                          </m:r>
                        </m:num>
                        <m:den>
                          <m:r>
                            <a:rPr lang="en-US" sz="15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𝒍</m:t>
                          </m:r>
                        </m:den>
                      </m:f>
                    </m:oMath>
                  </m:oMathPara>
                </a14:m>
                <a:endParaRPr lang="en-IN" sz="1500" dirty="0">
                  <a:solidFill>
                    <a:schemeClr val="accent5">
                      <a:lumMod val="7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76CE3C5-B55F-86C6-FE15-A65498E7C0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0457" y="1670341"/>
                <a:ext cx="1341445" cy="524503"/>
              </a:xfrm>
              <a:prstGeom prst="rect">
                <a:avLst/>
              </a:prstGeom>
              <a:blipFill>
                <a:blip r:embed="rId11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1A65F4C-7D3B-53B0-0281-9CD6BC2B41DB}"/>
                  </a:ext>
                </a:extLst>
              </p:cNvPr>
              <p:cNvSpPr txBox="1"/>
              <p:nvPr/>
            </p:nvSpPr>
            <p:spPr>
              <a:xfrm>
                <a:off x="4181528" y="2220867"/>
                <a:ext cx="1630272" cy="5696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 b="1" i="1" kern="120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Cambria Math" panose="02040503050406030204" pitchFamily="18" charset="0"/>
                        </a:rPr>
                        <m:t>𝑺</m:t>
                      </m:r>
                      <m:r>
                        <a:rPr lang="en-US" sz="1500" b="1" i="1" kern="120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500" b="1" i="1" kern="12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500" b="1" i="1" kern="120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𝒍</m:t>
                          </m:r>
                        </m:num>
                        <m:den>
                          <m:sSub>
                            <m:sSubPr>
                              <m:ctrlPr>
                                <a:rPr lang="en-US" sz="1500" b="1" i="1" kern="12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500" b="1" i="1" kern="1200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sz="1500" b="1" i="1" kern="1200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500" b="1" i="1" kern="12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500" b="1" i="1" kern="1200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sz="1500" b="1" i="1" kern="1200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sub>
                          </m:sSub>
                          <m:r>
                            <a:rPr lang="en-US" sz="1500" b="1" i="1" kern="120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𝒂</m:t>
                          </m:r>
                        </m:den>
                      </m:f>
                    </m:oMath>
                  </m:oMathPara>
                </a14:m>
                <a:endParaRPr lang="en-US" sz="1500" b="1" i="1" dirty="0">
                  <a:solidFill>
                    <a:schemeClr val="accent5">
                      <a:lumMod val="75000"/>
                    </a:schemeClr>
                  </a:solidFill>
                  <a:effectLst/>
                  <a:latin typeface="Aptos" panose="020B00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1A65F4C-7D3B-53B0-0281-9CD6BC2B41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1528" y="2220867"/>
                <a:ext cx="1630272" cy="56964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E8C4428-E350-7CA1-AFA2-A2D6974D9FB4}"/>
                  </a:ext>
                </a:extLst>
              </p:cNvPr>
              <p:cNvSpPr txBox="1"/>
              <p:nvPr/>
            </p:nvSpPr>
            <p:spPr>
              <a:xfrm>
                <a:off x="4856411" y="4101197"/>
                <a:ext cx="1630272" cy="5995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500" b="1" i="1" kern="120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b="1" i="1" kern="120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sz="1500" b="1" i="1" kern="120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sz="1500" b="1" i="1" kern="120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500" b="1" i="1" kern="12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500" b="1" i="1" kern="1200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500" b="1" i="1" kern="1200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</m:e>
                            <m:sub>
                              <m:r>
                                <a:rPr lang="en-US" sz="1500" b="1" i="1" kern="1200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500" b="1" i="1" kern="12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500" b="1" i="1" kern="1200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sz="1500" b="1" i="1" kern="1200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500" b="1" i="1" kern="12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500" b="1" i="1" kern="1200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sz="1500" b="1" i="1" kern="1200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  <m:r>
                                <a:rPr lang="en-US" sz="1500" b="1" i="1" kern="1200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500" b="1" i="1" kern="1200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sz="1500" b="1" i="1" kern="1200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b>
                          </m:sSub>
                          <m:r>
                            <a:rPr lang="en-US" sz="1500" b="1" i="1" kern="120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𝒂</m:t>
                          </m:r>
                        </m:den>
                      </m:f>
                    </m:oMath>
                  </m:oMathPara>
                </a14:m>
                <a:endParaRPr lang="en-US" sz="1500" b="1" i="1" dirty="0">
                  <a:solidFill>
                    <a:schemeClr val="accent5">
                      <a:lumMod val="75000"/>
                    </a:schemeClr>
                  </a:solidFill>
                  <a:effectLst/>
                  <a:latin typeface="Aptos" panose="020B00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E8C4428-E350-7CA1-AFA2-A2D6974D9F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6411" y="4101197"/>
                <a:ext cx="1630272" cy="599588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3152A9D-56D4-0944-5538-EEDC664BCC95}"/>
                  </a:ext>
                </a:extLst>
              </p:cNvPr>
              <p:cNvSpPr txBox="1"/>
              <p:nvPr/>
            </p:nvSpPr>
            <p:spPr>
              <a:xfrm>
                <a:off x="4699167" y="4954160"/>
                <a:ext cx="1932735" cy="6094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500" b="1" i="1" kern="120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b="1" i="1" kern="120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sz="1500" b="1" i="1" kern="120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𝒂𝒈</m:t>
                          </m:r>
                        </m:sub>
                      </m:sSub>
                      <m:r>
                        <a:rPr lang="en-US" sz="1500" b="1" i="1" kern="120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500" b="1" i="1" kern="12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500" b="1" i="1" kern="1200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500" b="1" i="1" kern="1200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</m:e>
                            <m:sub>
                              <m:r>
                                <a:rPr lang="en-US" sz="1500" b="1" i="1" kern="1200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𝒂𝒈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500" b="1" i="1" kern="12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500" b="1" i="1" kern="1200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sz="1500" b="1" i="1" kern="1200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500" b="1" i="1" kern="12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500" b="1" i="1" kern="1200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sz="1500" b="1" i="1" kern="1200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  <m:r>
                                <a:rPr lang="en-US" sz="1500" b="1" i="1" kern="1200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500" b="1" i="1" kern="1200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𝒂𝒈</m:t>
                              </m:r>
                              <m:r>
                                <a:rPr lang="en-US" sz="1500" b="1" i="1" kern="1200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b>
                          </m:sSub>
                          <m:r>
                            <a:rPr lang="en-US" sz="1500" b="1" i="1" kern="120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𝒂</m:t>
                          </m:r>
                        </m:den>
                      </m:f>
                    </m:oMath>
                  </m:oMathPara>
                </a14:m>
                <a:endParaRPr lang="en-US" sz="1500" b="1" i="1" dirty="0">
                  <a:solidFill>
                    <a:schemeClr val="accent5">
                      <a:lumMod val="75000"/>
                    </a:schemeClr>
                  </a:solidFill>
                  <a:effectLst/>
                  <a:latin typeface="Aptos" panose="020B00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3152A9D-56D4-0944-5538-EEDC664BCC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9167" y="4954160"/>
                <a:ext cx="1932735" cy="60946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06206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1784E-7BA0-79A3-63D3-46976A436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1" y="640823"/>
            <a:ext cx="2682132" cy="5583148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>
            <a:normAutofit/>
          </a:bodyPr>
          <a:lstStyle/>
          <a:p>
            <a:r>
              <a:rPr lang="en-US" sz="2500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Electromagnetic       </a:t>
            </a:r>
            <a:br>
              <a:rPr lang="en-US" sz="2500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</a:br>
            <a:r>
              <a:rPr lang="en-US" sz="2500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       Induction</a:t>
            </a:r>
            <a:endParaRPr lang="en-IN" sz="2500" b="1" dirty="0">
              <a:solidFill>
                <a:schemeClr val="accent5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C1A5D90-8E9F-2386-B2FF-C18862CBD1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12667729"/>
              </p:ext>
            </p:extLst>
          </p:nvPr>
        </p:nvGraphicFramePr>
        <p:xfrm>
          <a:off x="4648018" y="174171"/>
          <a:ext cx="6900512" cy="65967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61C9874-9EE3-C042-412F-BF2B12F6113B}"/>
              </a:ext>
            </a:extLst>
          </p:cNvPr>
          <p:cNvCxnSpPr>
            <a:cxnSpLocks/>
          </p:cNvCxnSpPr>
          <p:nvPr/>
        </p:nvCxnSpPr>
        <p:spPr>
          <a:xfrm>
            <a:off x="4147457" y="457200"/>
            <a:ext cx="0" cy="6313714"/>
          </a:xfrm>
          <a:prstGeom prst="line">
            <a:avLst/>
          </a:prstGeom>
          <a:ln w="25400" cap="sq" cmpd="thickThin">
            <a:solidFill>
              <a:schemeClr val="accent2">
                <a:lumMod val="5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F551117-A4D6-3267-9EA9-EE5D67EF8C2A}"/>
              </a:ext>
            </a:extLst>
          </p:cNvPr>
          <p:cNvSpPr txBox="1"/>
          <p:nvPr/>
        </p:nvSpPr>
        <p:spPr>
          <a:xfrm>
            <a:off x="1447801" y="2504106"/>
            <a:ext cx="1295399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500" b="1" dirty="0">
                <a:solidFill>
                  <a:srgbClr val="002060"/>
                </a:solidFill>
                <a:latin typeface="Aptos" panose="020B0004020202020204" pitchFamily="34" charset="0"/>
              </a:rPr>
              <a:t>Part B:</a:t>
            </a:r>
            <a:endParaRPr lang="en-IN" sz="2500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70012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7D606-DFBA-5298-390D-58FBA3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988" y="442948"/>
            <a:ext cx="7299023" cy="688792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2500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     Faradays Laws of Electromagnetic Induction:</a:t>
            </a:r>
            <a:endParaRPr lang="en-IN" sz="2500" b="1" dirty="0">
              <a:solidFill>
                <a:schemeClr val="accent5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0541E3-A306-C519-28A0-1C9D4178B5C5}"/>
              </a:ext>
            </a:extLst>
          </p:cNvPr>
          <p:cNvSpPr/>
          <p:nvPr/>
        </p:nvSpPr>
        <p:spPr>
          <a:xfrm>
            <a:off x="729342" y="1483552"/>
            <a:ext cx="6716486" cy="929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First Law: 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Whenever the magnetic flux linking with a conductor or a coil changes, an </a:t>
            </a:r>
            <a:r>
              <a:rPr lang="en-US" b="1" dirty="0" err="1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emf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 gets induced in it. </a:t>
            </a:r>
            <a:endParaRPr lang="en-IN" b="1" dirty="0">
              <a:solidFill>
                <a:schemeClr val="accent5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5A1C76-84EC-F1AD-5F0C-2123FB89DC71}"/>
              </a:ext>
            </a:extLst>
          </p:cNvPr>
          <p:cNvSpPr/>
          <p:nvPr/>
        </p:nvSpPr>
        <p:spPr>
          <a:xfrm>
            <a:off x="642256" y="2587513"/>
            <a:ext cx="6716486" cy="13450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Second Law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: The magnitude of EMF induced in a conductor or coil is directly proportional to the rate of change of flux linkages. 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6EE6A58-CE40-4975-5A7D-8527E3B64BE9}"/>
              </a:ext>
            </a:extLst>
          </p:cNvPr>
          <p:cNvGrpSpPr/>
          <p:nvPr/>
        </p:nvGrpSpPr>
        <p:grpSpPr>
          <a:xfrm>
            <a:off x="7934460" y="2900215"/>
            <a:ext cx="3639540" cy="3324135"/>
            <a:chOff x="8489313" y="729827"/>
            <a:chExt cx="3639540" cy="3324135"/>
          </a:xfrm>
        </p:grpSpPr>
        <p:pic>
          <p:nvPicPr>
            <p:cNvPr id="9" name="Picture 8" descr="http://www.electricalunits.com/Image/Basic-electrical/Lenzes-Law2.png">
              <a:extLst>
                <a:ext uri="{FF2B5EF4-FFF2-40B4-BE49-F238E27FC236}">
                  <a16:creationId xmlns:a16="http://schemas.microsoft.com/office/drawing/2014/main" id="{DD1FC6F5-15D5-842C-41AE-4925145852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8489313" y="729827"/>
              <a:ext cx="3639540" cy="1773407"/>
            </a:xfrm>
            <a:prstGeom prst="rect">
              <a:avLst/>
            </a:prstGeom>
            <a:noFill/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FA5267C-8616-F63D-24C0-AC1C59F88EDB}"/>
                </a:ext>
              </a:extLst>
            </p:cNvPr>
            <p:cNvSpPr/>
            <p:nvPr/>
          </p:nvSpPr>
          <p:spPr>
            <a:xfrm>
              <a:off x="10000058" y="1392841"/>
              <a:ext cx="46839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Aptos" panose="020B0004020202020204" pitchFamily="34" charset="0"/>
                  <a:cs typeface="Times New Roman" panose="02020603050405020304" pitchFamily="18" charset="0"/>
                </a:rPr>
                <a:t>Φ</a:t>
              </a:r>
              <a:r>
                <a:rPr lang="en-US" baseline="-25000" dirty="0">
                  <a:solidFill>
                    <a:schemeClr val="accent5">
                      <a:lumMod val="75000"/>
                    </a:schemeClr>
                  </a:solidFill>
                  <a:latin typeface="Aptos" panose="020B0004020202020204" pitchFamily="34" charset="0"/>
                </a:rPr>
                <a:t>1 </a:t>
              </a:r>
              <a:endParaRPr lang="en-IN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endParaRPr>
            </a:p>
          </p:txBody>
        </p:sp>
        <p:pic>
          <p:nvPicPr>
            <p:cNvPr id="11" name="Picture 2" descr="http://www.electricalunits.com/Image/Basic-electrical/Lenzes-Law1.png">
              <a:extLst>
                <a:ext uri="{FF2B5EF4-FFF2-40B4-BE49-F238E27FC236}">
                  <a16:creationId xmlns:a16="http://schemas.microsoft.com/office/drawing/2014/main" id="{88F10D41-8A13-30BC-13D2-B82977E9AB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8534072" y="2161684"/>
              <a:ext cx="3414796" cy="1892278"/>
            </a:xfrm>
            <a:prstGeom prst="rect">
              <a:avLst/>
            </a:prstGeom>
            <a:noFill/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9772C1E-020E-46ED-B859-BBB7090F4360}"/>
                </a:ext>
              </a:extLst>
            </p:cNvPr>
            <p:cNvSpPr/>
            <p:nvPr/>
          </p:nvSpPr>
          <p:spPr>
            <a:xfrm>
              <a:off x="9758646" y="2310841"/>
              <a:ext cx="48282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Aptos" panose="020B0004020202020204" pitchFamily="34" charset="0"/>
                  <a:cs typeface="Times New Roman" panose="02020603050405020304" pitchFamily="18" charset="0"/>
                </a:rPr>
                <a:t>Φ</a:t>
              </a:r>
              <a:r>
                <a:rPr lang="en-US" baseline="-25000" dirty="0">
                  <a:solidFill>
                    <a:schemeClr val="accent5">
                      <a:lumMod val="75000"/>
                    </a:schemeClr>
                  </a:solidFill>
                  <a:latin typeface="Aptos" panose="020B0004020202020204" pitchFamily="34" charset="0"/>
                </a:rPr>
                <a:t>2</a:t>
              </a:r>
              <a:r>
                <a:rPr lang="en-US" dirty="0">
                  <a:solidFill>
                    <a:schemeClr val="accent5">
                      <a:lumMod val="75000"/>
                    </a:schemeClr>
                  </a:solidFill>
                  <a:latin typeface="Aptos" panose="020B0004020202020204" pitchFamily="34" charset="0"/>
                </a:rPr>
                <a:t> </a:t>
              </a:r>
              <a:endParaRPr lang="en-IN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BC5FD03-080C-BD71-315E-4F5D55248818}"/>
                  </a:ext>
                </a:extLst>
              </p:cNvPr>
              <p:cNvSpPr txBox="1"/>
              <p:nvPr/>
            </p:nvSpPr>
            <p:spPr>
              <a:xfrm>
                <a:off x="2550142" y="4586418"/>
                <a:ext cx="1537443" cy="52828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∅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en-IN" dirty="0">
                  <a:solidFill>
                    <a:schemeClr val="accent5">
                      <a:lumMod val="7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BC5FD03-080C-BD71-315E-4F5D552488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0142" y="4586418"/>
                <a:ext cx="1537443" cy="5282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CFC52CD-B422-4448-4983-02144918C78D}"/>
                  </a:ext>
                </a:extLst>
              </p:cNvPr>
              <p:cNvSpPr txBox="1"/>
              <p:nvPr/>
            </p:nvSpPr>
            <p:spPr>
              <a:xfrm>
                <a:off x="2104219" y="5597371"/>
                <a:ext cx="1537443" cy="52828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∅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en-IN" dirty="0">
                  <a:solidFill>
                    <a:schemeClr val="accent5">
                      <a:lumMod val="7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CFC52CD-B422-4448-4983-02144918C7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4219" y="5597371"/>
                <a:ext cx="1537443" cy="52828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8A7E18E4-0199-D4B7-950F-1D99BD81AD1E}"/>
              </a:ext>
            </a:extLst>
          </p:cNvPr>
          <p:cNvSpPr txBox="1"/>
          <p:nvPr/>
        </p:nvSpPr>
        <p:spPr>
          <a:xfrm>
            <a:off x="4235540" y="5768562"/>
            <a:ext cx="1454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(Lenz’s Law)</a:t>
            </a:r>
            <a:endParaRPr lang="en-IN" b="1" dirty="0">
              <a:solidFill>
                <a:schemeClr val="accent5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40FADF-A43C-EE10-6D8C-F90B647981B4}"/>
              </a:ext>
            </a:extLst>
          </p:cNvPr>
          <p:cNvSpPr txBox="1"/>
          <p:nvPr/>
        </p:nvSpPr>
        <p:spPr>
          <a:xfrm>
            <a:off x="3983435" y="4743508"/>
            <a:ext cx="5799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volt</a:t>
            </a:r>
            <a:endParaRPr lang="en-IN" b="1" dirty="0">
              <a:solidFill>
                <a:schemeClr val="accent5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751BCC-53AC-6CC3-7B01-62F187FCF6FC}"/>
              </a:ext>
            </a:extLst>
          </p:cNvPr>
          <p:cNvSpPr txBox="1"/>
          <p:nvPr/>
        </p:nvSpPr>
        <p:spPr>
          <a:xfrm>
            <a:off x="3612549" y="5768562"/>
            <a:ext cx="5799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volt</a:t>
            </a:r>
            <a:endParaRPr lang="en-IN" b="1" dirty="0">
              <a:solidFill>
                <a:schemeClr val="accent5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86527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7280F-AFE4-3C8F-FF49-734E1C6C9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2" y="127676"/>
            <a:ext cx="5127170" cy="815247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Dynamically Induced EMF</a:t>
            </a:r>
            <a:endParaRPr lang="en-IN" sz="2000" b="1" dirty="0">
              <a:solidFill>
                <a:schemeClr val="accent5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C72FFB6-1D04-856F-EAB6-8B4299F2EA9D}"/>
                  </a:ext>
                </a:extLst>
              </p:cNvPr>
              <p:cNvSpPr/>
              <p:nvPr/>
            </p:nvSpPr>
            <p:spPr>
              <a:xfrm>
                <a:off x="2745922" y="1958652"/>
                <a:ext cx="2804496" cy="3231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5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15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</m:sub>
                      </m:sSub>
                      <m:r>
                        <a:rPr lang="en-IN" sz="1500" b="1" i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1500" b="1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𝑩𝒍𝒗</m:t>
                      </m:r>
                      <m:r>
                        <a:rPr lang="en-IN" sz="1500" b="1" i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1500" b="1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𝒔𝒊𝒏</m:t>
                      </m:r>
                      <m:r>
                        <a:rPr lang="en-IN" sz="1500" b="1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n-IN" sz="1500" b="1" i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IN" sz="1500" b="1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𝒗𝒐𝒍𝒕</m:t>
                      </m:r>
                    </m:oMath>
                  </m:oMathPara>
                </a14:m>
                <a:endParaRPr lang="en-IN" sz="1500" b="1" dirty="0">
                  <a:solidFill>
                    <a:schemeClr val="accent5">
                      <a:lumMod val="7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C72FFB6-1D04-856F-EAB6-8B4299F2EA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5922" y="1958652"/>
                <a:ext cx="2804496" cy="3231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32E98679-FEE3-4A7B-ADD8-DA06F7A0206D}"/>
              </a:ext>
            </a:extLst>
          </p:cNvPr>
          <p:cNvGrpSpPr/>
          <p:nvPr/>
        </p:nvGrpSpPr>
        <p:grpSpPr>
          <a:xfrm>
            <a:off x="506186" y="1067061"/>
            <a:ext cx="2209800" cy="2130247"/>
            <a:chOff x="9187545" y="1696440"/>
            <a:chExt cx="2209800" cy="2130247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3A7A1433-1A97-46AF-43FE-17E871AE937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9187545" y="1696440"/>
              <a:ext cx="2209800" cy="2130247"/>
            </a:xfrm>
            <a:prstGeom prst="rect">
              <a:avLst/>
            </a:prstGeom>
          </p:spPr>
        </p:pic>
        <p:sp>
          <p:nvSpPr>
            <p:cNvPr id="16" name="Can 121">
              <a:extLst>
                <a:ext uri="{FF2B5EF4-FFF2-40B4-BE49-F238E27FC236}">
                  <a16:creationId xmlns:a16="http://schemas.microsoft.com/office/drawing/2014/main" id="{5804E51D-9D3C-7BEE-8219-A2685CC7B1AA}"/>
                </a:ext>
              </a:extLst>
            </p:cNvPr>
            <p:cNvSpPr/>
            <p:nvPr/>
          </p:nvSpPr>
          <p:spPr>
            <a:xfrm rot="1920000">
              <a:off x="10531509" y="1792031"/>
              <a:ext cx="78133" cy="1169122"/>
            </a:xfrm>
            <a:prstGeom prst="can">
              <a:avLst/>
            </a:prstGeom>
            <a:solidFill>
              <a:schemeClr val="accent2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50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endParaRPr>
            </a:p>
          </p:txBody>
        </p:sp>
      </p:grpSp>
      <p:sp>
        <p:nvSpPr>
          <p:cNvPr id="17" name="Title 1">
            <a:extLst>
              <a:ext uri="{FF2B5EF4-FFF2-40B4-BE49-F238E27FC236}">
                <a16:creationId xmlns:a16="http://schemas.microsoft.com/office/drawing/2014/main" id="{1F716371-5D10-8ABB-C702-30EFBD80BEAC}"/>
              </a:ext>
            </a:extLst>
          </p:cNvPr>
          <p:cNvSpPr txBox="1">
            <a:spLocks/>
          </p:cNvSpPr>
          <p:nvPr/>
        </p:nvSpPr>
        <p:spPr>
          <a:xfrm>
            <a:off x="6270173" y="94255"/>
            <a:ext cx="4985655" cy="81524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Statically Induced EMF</a:t>
            </a:r>
            <a:endParaRPr lang="en-IN" sz="2000" b="1" dirty="0">
              <a:solidFill>
                <a:schemeClr val="accent5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AA7521F-5A6A-21ED-54FD-A61E2EE94D38}"/>
              </a:ext>
            </a:extLst>
          </p:cNvPr>
          <p:cNvCxnSpPr/>
          <p:nvPr/>
        </p:nvCxnSpPr>
        <p:spPr>
          <a:xfrm>
            <a:off x="5508172" y="119743"/>
            <a:ext cx="0" cy="642257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CE50AFC-3E9F-A923-6702-C7DAEEE2D477}"/>
              </a:ext>
            </a:extLst>
          </p:cNvPr>
          <p:cNvGrpSpPr/>
          <p:nvPr/>
        </p:nvGrpSpPr>
        <p:grpSpPr>
          <a:xfrm>
            <a:off x="6134099" y="1722032"/>
            <a:ext cx="3248478" cy="1749531"/>
            <a:chOff x="1214665" y="1955502"/>
            <a:chExt cx="3248478" cy="1749531"/>
          </a:xfrm>
        </p:grpSpPr>
        <p:pic>
          <p:nvPicPr>
            <p:cNvPr id="21" name="Picture 2">
              <a:extLst>
                <a:ext uri="{FF2B5EF4-FFF2-40B4-BE49-F238E27FC236}">
                  <a16:creationId xmlns:a16="http://schemas.microsoft.com/office/drawing/2014/main" id="{CFD403E6-4F77-2396-386E-575BFA4056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14665" y="1955502"/>
              <a:ext cx="3248478" cy="17495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245558F-54DB-796B-0B4F-5261621C5366}"/>
                </a:ext>
              </a:extLst>
            </p:cNvPr>
            <p:cNvSpPr txBox="1"/>
            <p:nvPr/>
          </p:nvSpPr>
          <p:spPr>
            <a:xfrm>
              <a:off x="2597588" y="2551731"/>
              <a:ext cx="653143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dirty="0">
                  <a:solidFill>
                    <a:schemeClr val="accent5">
                      <a:lumMod val="75000"/>
                    </a:schemeClr>
                  </a:solidFill>
                  <a:latin typeface="Aptos" panose="020B0004020202020204" pitchFamily="34" charset="0"/>
                </a:rPr>
                <a:t>e</a:t>
              </a:r>
              <a:r>
                <a:rPr lang="en-US" sz="1500" baseline="-25000" dirty="0">
                  <a:solidFill>
                    <a:schemeClr val="accent5">
                      <a:lumMod val="75000"/>
                    </a:schemeClr>
                  </a:solidFill>
                  <a:latin typeface="Aptos" panose="020B0004020202020204" pitchFamily="34" charset="0"/>
                </a:rPr>
                <a:t>s</a:t>
              </a:r>
              <a:endParaRPr lang="en-IN" sz="1500" baseline="-25000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endParaRPr>
            </a:p>
          </p:txBody>
        </p:sp>
      </p:grpSp>
      <p:sp>
        <p:nvSpPr>
          <p:cNvPr id="23" name="Title 1">
            <a:extLst>
              <a:ext uri="{FF2B5EF4-FFF2-40B4-BE49-F238E27FC236}">
                <a16:creationId xmlns:a16="http://schemas.microsoft.com/office/drawing/2014/main" id="{0F8E4DAD-24A7-589C-09FF-59C18FAEE448}"/>
              </a:ext>
            </a:extLst>
          </p:cNvPr>
          <p:cNvSpPr txBox="1">
            <a:spLocks/>
          </p:cNvSpPr>
          <p:nvPr/>
        </p:nvSpPr>
        <p:spPr>
          <a:xfrm>
            <a:off x="5736773" y="779881"/>
            <a:ext cx="6075830" cy="8152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1) Self Induced EMF</a:t>
            </a:r>
            <a:endParaRPr lang="en-IN" sz="2000" b="1" dirty="0">
              <a:solidFill>
                <a:schemeClr val="accent5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4928510-9AA9-FB55-956B-0872E3C9597D}"/>
                  </a:ext>
                </a:extLst>
              </p:cNvPr>
              <p:cNvSpPr txBox="1"/>
              <p:nvPr/>
            </p:nvSpPr>
            <p:spPr>
              <a:xfrm>
                <a:off x="9382577" y="1789186"/>
                <a:ext cx="2303237" cy="429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500" b="1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b="1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sz="1500" b="1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  <m:r>
                      <a:rPr lang="en-IN" sz="1500" b="1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500" b="1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500" b="1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𝑳</m:t>
                    </m:r>
                    <m:f>
                      <m:fPr>
                        <m:ctrlPr>
                          <a:rPr lang="en-US" sz="1500" b="1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500" b="1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  <m:r>
                          <a:rPr lang="en-US" sz="1500" b="1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num>
                      <m:den>
                        <m:r>
                          <a:rPr lang="en-US" sz="1500" b="1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𝒅</m:t>
                        </m:r>
                        <m:r>
                          <a:rPr lang="en-US" sz="1500" b="1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den>
                    </m:f>
                  </m:oMath>
                </a14:m>
                <a:r>
                  <a:rPr lang="en-IN" sz="1500" dirty="0">
                    <a:solidFill>
                      <a:schemeClr val="accent5">
                        <a:lumMod val="75000"/>
                      </a:schemeClr>
                    </a:solidFill>
                    <a:latin typeface="Aptos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1500" b="1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𝒗𝒐𝒍𝒕</m:t>
                    </m:r>
                  </m:oMath>
                </a14:m>
                <a:endParaRPr lang="en-IN" sz="1500" dirty="0">
                  <a:solidFill>
                    <a:schemeClr val="accent5">
                      <a:lumMod val="7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4928510-9AA9-FB55-956B-0872E3C959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2577" y="1789186"/>
                <a:ext cx="2303237" cy="429220"/>
              </a:xfrm>
              <a:prstGeom prst="rect">
                <a:avLst/>
              </a:prstGeom>
              <a:blipFill>
                <a:blip r:embed="rId5"/>
                <a:stretch>
                  <a:fillRect b="-14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itle 1">
            <a:extLst>
              <a:ext uri="{FF2B5EF4-FFF2-40B4-BE49-F238E27FC236}">
                <a16:creationId xmlns:a16="http://schemas.microsoft.com/office/drawing/2014/main" id="{D4F704E7-1EF0-7A3D-9BBE-E055DFBBFC40}"/>
              </a:ext>
            </a:extLst>
          </p:cNvPr>
          <p:cNvSpPr txBox="1">
            <a:spLocks/>
          </p:cNvSpPr>
          <p:nvPr/>
        </p:nvSpPr>
        <p:spPr>
          <a:xfrm>
            <a:off x="5736773" y="3598467"/>
            <a:ext cx="6075834" cy="81524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2) Mutually Induced EMF</a:t>
            </a:r>
            <a:endParaRPr lang="en-IN" sz="1800" b="1" dirty="0">
              <a:solidFill>
                <a:schemeClr val="accent5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58B3044B-2E44-2E58-642F-940C5D097642}"/>
              </a:ext>
            </a:extLst>
          </p:cNvPr>
          <p:cNvPicPr/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1828" y="4356962"/>
            <a:ext cx="3673020" cy="23167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084309D-9E71-0A38-48FD-21623EB46705}"/>
              </a:ext>
            </a:extLst>
          </p:cNvPr>
          <p:cNvCxnSpPr>
            <a:cxnSpLocks/>
          </p:cNvCxnSpPr>
          <p:nvPr/>
        </p:nvCxnSpPr>
        <p:spPr>
          <a:xfrm>
            <a:off x="5755346" y="3625946"/>
            <a:ext cx="6057262" cy="10886"/>
          </a:xfrm>
          <a:prstGeom prst="line">
            <a:avLst/>
          </a:prstGeom>
          <a:ln>
            <a:solidFill>
              <a:srgbClr val="00206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43E941C-882A-4059-71D8-C19B5E52E283}"/>
                  </a:ext>
                </a:extLst>
              </p:cNvPr>
              <p:cNvSpPr txBox="1"/>
              <p:nvPr/>
            </p:nvSpPr>
            <p:spPr>
              <a:xfrm>
                <a:off x="9700683" y="4441193"/>
                <a:ext cx="2359980" cy="16132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5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IN" sz="1500" b="1" i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𝟐𝟏</m:t>
                          </m:r>
                        </m:sub>
                      </m:sSub>
                      <m:r>
                        <a:rPr lang="en-IN" sz="1500" b="1" i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IN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e>
                        <m:sub>
                          <m:r>
                            <a:rPr lang="en-IN" sz="1500" b="1" i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f>
                        <m:fPr>
                          <m:ctrlPr>
                            <a:rPr lang="en-IN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1500" b="1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500" b="1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  <m:r>
                                <a:rPr lang="en-IN" sz="1500" b="1" i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∅</m:t>
                              </m:r>
                            </m:e>
                            <m:sub>
                              <m:r>
                                <a:rPr lang="en-IN" sz="1500" b="1" i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num>
                        <m:den>
                          <m:r>
                            <a:rPr lang="en-IN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𝒅𝒕</m:t>
                          </m:r>
                        </m:den>
                      </m:f>
                    </m:oMath>
                  </m:oMathPara>
                </a14:m>
                <a:endParaRPr lang="en-US" sz="1500" b="1" i="1" dirty="0">
                  <a:solidFill>
                    <a:schemeClr val="accent5">
                      <a:lumMod val="75000"/>
                    </a:schemeClr>
                  </a:solidFill>
                  <a:latin typeface="Aptos" panose="020B00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IN" sz="1500" b="1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IN" sz="1500" b="1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sz="1500" b="1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500" b="1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𝑵</m:t>
                            </m:r>
                          </m:e>
                          <m:sub>
                            <m:r>
                              <a:rPr lang="en-IN" sz="1500" b="1" i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IN" sz="1500" b="1" i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  <m:sSub>
                          <m:sSubPr>
                            <m:ctrlPr>
                              <a:rPr lang="en-IN" sz="1500" b="1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500" b="1" i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∅</m:t>
                            </m:r>
                          </m:e>
                          <m:sub>
                            <m:r>
                              <a:rPr lang="en-IN" sz="1500" b="1" i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IN" sz="1500" b="1" i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IN" sz="1500" b="1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500" b="1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𝑰</m:t>
                            </m:r>
                          </m:e>
                          <m:sub>
                            <m:r>
                              <a:rPr lang="en-IN" sz="1500" b="1" i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IN" sz="1500" b="1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sz="1500" b="1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500" b="1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𝒅𝒊</m:t>
                            </m:r>
                          </m:e>
                          <m:sub>
                            <m:r>
                              <a:rPr lang="en-IN" sz="1500" b="1" i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r>
                          <a:rPr lang="en-IN" sz="1500" b="1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𝒅𝒕</m:t>
                        </m:r>
                      </m:den>
                    </m:f>
                    <m:r>
                      <a:rPr lang="en-IN" sz="1500" b="1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IN" sz="1500" b="1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𝑴</m:t>
                    </m:r>
                    <m:f>
                      <m:fPr>
                        <m:ctrlPr>
                          <a:rPr lang="en-IN" sz="1500" b="1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sz="1500" b="1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500" b="1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𝒅𝒊</m:t>
                            </m:r>
                          </m:e>
                          <m:sub>
                            <m:r>
                              <a:rPr lang="en-IN" sz="1500" b="1" i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r>
                          <a:rPr lang="en-IN" sz="1500" b="1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𝒅𝒕</m:t>
                        </m:r>
                      </m:den>
                    </m:f>
                  </m:oMath>
                </a14:m>
                <a:r>
                  <a:rPr lang="en-IN" sz="1500" b="1" dirty="0">
                    <a:solidFill>
                      <a:schemeClr val="accent5">
                        <a:lumMod val="75000"/>
                      </a:schemeClr>
                    </a:solidFill>
                    <a:latin typeface="Aptos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1500" b="1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𝒗𝒐𝒍𝒕</m:t>
                    </m:r>
                  </m:oMath>
                </a14:m>
                <a:endParaRPr lang="en-IN" sz="1500" b="1" dirty="0">
                  <a:solidFill>
                    <a:schemeClr val="accent5">
                      <a:lumMod val="7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43E941C-882A-4059-71D8-C19B5E52E2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0683" y="4441193"/>
                <a:ext cx="2359980" cy="161326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5" name="Picture 34">
            <a:extLst>
              <a:ext uri="{FF2B5EF4-FFF2-40B4-BE49-F238E27FC236}">
                <a16:creationId xmlns:a16="http://schemas.microsoft.com/office/drawing/2014/main" id="{3D2B0145-D4AD-115E-592A-2C66932F363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338" y="4491235"/>
            <a:ext cx="5062762" cy="2290568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itle 1">
            <a:extLst>
              <a:ext uri="{FF2B5EF4-FFF2-40B4-BE49-F238E27FC236}">
                <a16:creationId xmlns:a16="http://schemas.microsoft.com/office/drawing/2014/main" id="{06C29151-9974-F53E-6642-2967FD6DFE26}"/>
              </a:ext>
            </a:extLst>
          </p:cNvPr>
          <p:cNvSpPr txBox="1">
            <a:spLocks/>
          </p:cNvSpPr>
          <p:nvPr/>
        </p:nvSpPr>
        <p:spPr>
          <a:xfrm>
            <a:off x="265044" y="3712680"/>
            <a:ext cx="5127170" cy="6394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Flemings right hand rule</a:t>
            </a:r>
            <a:endParaRPr lang="en-IN" sz="2000" b="1" dirty="0">
              <a:solidFill>
                <a:schemeClr val="accent5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6B368E5-C113-0AB2-1F63-E4B1FCCACA09}"/>
              </a:ext>
            </a:extLst>
          </p:cNvPr>
          <p:cNvCxnSpPr>
            <a:cxnSpLocks/>
          </p:cNvCxnSpPr>
          <p:nvPr/>
        </p:nvCxnSpPr>
        <p:spPr>
          <a:xfrm flipV="1">
            <a:off x="97972" y="3637305"/>
            <a:ext cx="5295900" cy="1618"/>
          </a:xfrm>
          <a:prstGeom prst="line">
            <a:avLst/>
          </a:prstGeom>
          <a:ln>
            <a:solidFill>
              <a:srgbClr val="00206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71622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D9DD8-A64C-57DE-58D5-83421CABF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257800" cy="690789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Self and Mutual Inductance</a:t>
            </a:r>
            <a:endParaRPr lang="en-IN" sz="2000" b="1" dirty="0">
              <a:solidFill>
                <a:schemeClr val="accent5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ABCDD6-5921-10CC-655A-6ACAAD5011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1247" y="1507673"/>
            <a:ext cx="4909457" cy="993775"/>
          </a:xfrm>
        </p:spPr>
        <p:txBody>
          <a:bodyPr>
            <a:normAutofit/>
          </a:bodyPr>
          <a:lstStyle/>
          <a:p>
            <a:r>
              <a:rPr lang="en-US" sz="1500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Definitions</a:t>
            </a:r>
          </a:p>
          <a:p>
            <a:r>
              <a:rPr lang="en-US" sz="1500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Factors affecting value of L and M</a:t>
            </a:r>
            <a:endParaRPr lang="en-IN" sz="1500" b="1" dirty="0">
              <a:solidFill>
                <a:schemeClr val="accent5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D21DEB0-0B84-584D-C3DF-42B4A93CFF76}"/>
              </a:ext>
            </a:extLst>
          </p:cNvPr>
          <p:cNvSpPr txBox="1">
            <a:spLocks/>
          </p:cNvSpPr>
          <p:nvPr/>
        </p:nvSpPr>
        <p:spPr>
          <a:xfrm>
            <a:off x="6570575" y="328231"/>
            <a:ext cx="5257800" cy="63955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Coefficient</a:t>
            </a:r>
            <a:r>
              <a:rPr lang="en-US" sz="1500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 of Coupling</a:t>
            </a:r>
            <a:endParaRPr lang="en-IN" sz="1500" b="1" dirty="0">
              <a:solidFill>
                <a:schemeClr val="accent5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163DBB05-F6A1-59D9-0C87-03DF0014CF46}"/>
                  </a:ext>
                </a:extLst>
              </p:cNvPr>
              <p:cNvSpPr/>
              <p:nvPr/>
            </p:nvSpPr>
            <p:spPr>
              <a:xfrm>
                <a:off x="1121394" y="2986700"/>
                <a:ext cx="3037113" cy="56143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en-IN" sz="1500" b="1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5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5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  <m:r>
                            <a:rPr lang="en-US" sz="15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∅</m:t>
                          </m:r>
                        </m:num>
                        <m:den>
                          <m:r>
                            <a:rPr lang="en-US" sz="15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𝑰</m:t>
                          </m:r>
                        </m:den>
                      </m:f>
                      <m:r>
                        <a:rPr lang="en-US" sz="15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500" b="1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500" b="1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e>
                            <m:sup>
                              <m:r>
                                <a:rPr lang="en-US" sz="1500" b="1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num>
                        <m:den>
                          <m:r>
                            <a:rPr lang="en-US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den>
                      </m:f>
                      <m:r>
                        <a:rPr lang="en-US" sz="15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5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500" b="1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500" b="1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e>
                            <m:sup>
                              <m:r>
                                <a:rPr lang="en-US" sz="1500" b="1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1500" b="1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500" b="1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sz="1500" b="1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500" b="1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500" b="1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sz="1500" b="1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sub>
                          </m:sSub>
                          <m:r>
                            <a:rPr lang="en-US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num>
                        <m:den>
                          <m:r>
                            <a:rPr lang="en-US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𝒍</m:t>
                          </m:r>
                        </m:den>
                      </m:f>
                    </m:oMath>
                  </m:oMathPara>
                </a14:m>
                <a:endParaRPr lang="en-IN" sz="1500" b="1" dirty="0">
                  <a:solidFill>
                    <a:schemeClr val="accent5">
                      <a:lumMod val="7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163DBB05-F6A1-59D9-0C87-03DF0014CF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1394" y="2986700"/>
                <a:ext cx="3037113" cy="56143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8292421-FF99-03AE-7CBF-49EEF32C5FE3}"/>
                  </a:ext>
                </a:extLst>
              </p:cNvPr>
              <p:cNvSpPr txBox="1"/>
              <p:nvPr/>
            </p:nvSpPr>
            <p:spPr>
              <a:xfrm>
                <a:off x="1042712" y="3981544"/>
                <a:ext cx="2906486" cy="5702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5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𝑴</m:t>
                      </m:r>
                      <m:r>
                        <a:rPr lang="en-IN" sz="1500" b="1" i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1500" b="1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500" b="1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e>
                            <m:sub>
                              <m:r>
                                <a:rPr lang="en-IN" sz="1500" b="1" i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1500" b="1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500" b="1" i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∅</m:t>
                              </m:r>
                            </m:e>
                            <m:sub>
                              <m:r>
                                <a:rPr lang="en-IN" sz="1500" b="1" i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IN" sz="1500" b="1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500" b="1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en-IN" sz="1500" b="1" i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IN" sz="1500" b="1" i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1500" b="1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500" b="1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e>
                            <m:sub>
                              <m:r>
                                <a:rPr lang="en-IN" sz="1500" b="1" i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1500" b="1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500" b="1" i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∅</m:t>
                              </m:r>
                            </m:e>
                            <m:sub>
                              <m:r>
                                <a:rPr lang="en-IN" sz="1500" b="1" i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IN" sz="1500" b="1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500" b="1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en-IN" sz="1500" b="1" i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sz="1500" b="1" dirty="0">
                  <a:solidFill>
                    <a:schemeClr val="accent5">
                      <a:lumMod val="7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8292421-FF99-03AE-7CBF-49EEF32C5F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2712" y="3981544"/>
                <a:ext cx="2906486" cy="57028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1756DFA-9A26-F5FA-F8EB-2CD904E0E6DC}"/>
                  </a:ext>
                </a:extLst>
              </p:cNvPr>
              <p:cNvSpPr txBox="1"/>
              <p:nvPr/>
            </p:nvSpPr>
            <p:spPr>
              <a:xfrm>
                <a:off x="1529473" y="4978691"/>
                <a:ext cx="1774371" cy="5245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 b="1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𝐌</m:t>
                      </m:r>
                      <m:r>
                        <a:rPr lang="en-IN" sz="1500" b="1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1500" b="1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500" b="1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e>
                            <m:sub>
                              <m:r>
                                <a:rPr lang="en-IN" sz="1500" b="1" i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1500" b="1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500" b="1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e>
                            <m:sub>
                              <m:r>
                                <a:rPr lang="en-IN" sz="1500" b="1" i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num>
                        <m:den>
                          <m:r>
                            <a:rPr lang="en-IN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den>
                      </m:f>
                    </m:oMath>
                  </m:oMathPara>
                </a14:m>
                <a:endParaRPr lang="en-IN" sz="1500" dirty="0">
                  <a:solidFill>
                    <a:schemeClr val="accent5">
                      <a:lumMod val="7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1756DFA-9A26-F5FA-F8EB-2CD904E0E6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9473" y="4978691"/>
                <a:ext cx="1774371" cy="524503"/>
              </a:xfrm>
              <a:prstGeom prst="rect">
                <a:avLst/>
              </a:prstGeom>
              <a:blipFill>
                <a:blip r:embed="rId4"/>
                <a:stretch>
                  <a:fillRect b="-232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C2703E8-5A98-6DC8-E365-6373A3A9CC8F}"/>
                  </a:ext>
                </a:extLst>
              </p:cNvPr>
              <p:cNvSpPr txBox="1"/>
              <p:nvPr/>
            </p:nvSpPr>
            <p:spPr>
              <a:xfrm>
                <a:off x="1237570" y="5786637"/>
                <a:ext cx="2264229" cy="5245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 b="1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𝐌</m:t>
                      </m:r>
                      <m:r>
                        <a:rPr lang="en-IN" sz="1500" b="1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1500" b="1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500" b="1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e>
                            <m:sub>
                              <m:r>
                                <a:rPr lang="en-IN" sz="1500" b="1" i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1500" b="1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500" b="1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e>
                            <m:sub>
                              <m:r>
                                <a:rPr lang="en-IN" sz="1500" b="1" i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1500" b="1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500" b="1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IN" sz="1500" b="1" i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1500" b="1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500" b="1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IN" sz="1500" b="1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sub>
                          </m:sSub>
                          <m:r>
                            <a:rPr lang="en-IN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num>
                        <m:den>
                          <m:r>
                            <a:rPr lang="en-IN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𝒍</m:t>
                          </m:r>
                        </m:den>
                      </m:f>
                    </m:oMath>
                  </m:oMathPara>
                </a14:m>
                <a:endParaRPr lang="en-IN" sz="1500" dirty="0">
                  <a:solidFill>
                    <a:schemeClr val="accent5">
                      <a:lumMod val="7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C2703E8-5A98-6DC8-E365-6373A3A9CC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7570" y="5786637"/>
                <a:ext cx="2264229" cy="524503"/>
              </a:xfrm>
              <a:prstGeom prst="rect">
                <a:avLst/>
              </a:prstGeom>
              <a:blipFill>
                <a:blip r:embed="rId5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03655FE-BF60-07BD-3998-F9130437BCF9}"/>
              </a:ext>
            </a:extLst>
          </p:cNvPr>
          <p:cNvCxnSpPr>
            <a:cxnSpLocks/>
          </p:cNvCxnSpPr>
          <p:nvPr/>
        </p:nvCxnSpPr>
        <p:spPr>
          <a:xfrm flipH="1">
            <a:off x="6259286" y="555171"/>
            <a:ext cx="112569" cy="61069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F55AE27-0CBA-DDA8-0BA6-9C1485FBC9CE}"/>
                  </a:ext>
                </a:extLst>
              </p:cNvPr>
              <p:cNvSpPr/>
              <p:nvPr/>
            </p:nvSpPr>
            <p:spPr>
              <a:xfrm>
                <a:off x="6749143" y="3869012"/>
                <a:ext cx="1981633" cy="4785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15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5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15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21</m:t>
                        </m:r>
                      </m:sub>
                    </m:sSub>
                    <m:r>
                      <a:rPr lang="en-US" sz="15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=−</m:t>
                    </m:r>
                    <m:r>
                      <a:rPr lang="en-US" sz="15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𝑀</m:t>
                    </m:r>
                    <m:f>
                      <m:fPr>
                        <m:ctrlPr>
                          <a:rPr lang="en-IN" sz="15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sz="15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5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𝑑𝑖</m:t>
                            </m:r>
                          </m:e>
                          <m:sub>
                            <m:r>
                              <a:rPr lang="en-US" sz="15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sz="15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en-US" sz="1500" dirty="0">
                    <a:solidFill>
                      <a:schemeClr val="accent5">
                        <a:lumMod val="75000"/>
                      </a:schemeClr>
                    </a:solidFill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---(1)</a:t>
                </a:r>
                <a:endParaRPr lang="en-IN" sz="1500" dirty="0">
                  <a:solidFill>
                    <a:schemeClr val="accent5">
                      <a:lumMod val="75000"/>
                    </a:schemeClr>
                  </a:solidFill>
                  <a:latin typeface="Aptos" panose="020B00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F55AE27-0CBA-DDA8-0BA6-9C1485FBC9C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9143" y="3869012"/>
                <a:ext cx="1981633" cy="478529"/>
              </a:xfrm>
              <a:prstGeom prst="rect">
                <a:avLst/>
              </a:prstGeom>
              <a:blipFill>
                <a:blip r:embed="rId6"/>
                <a:stretch>
                  <a:fillRect r="-615" b="-512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7647C11E-4316-F7DE-7CD9-E0CCE0623A99}"/>
                  </a:ext>
                </a:extLst>
              </p:cNvPr>
              <p:cNvSpPr/>
              <p:nvPr/>
            </p:nvSpPr>
            <p:spPr>
              <a:xfrm>
                <a:off x="6749143" y="4622350"/>
                <a:ext cx="1981633" cy="4281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15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5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15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12</m:t>
                        </m:r>
                      </m:sub>
                    </m:sSub>
                    <m:r>
                      <a:rPr lang="en-US" sz="1500" i="1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1500" i="1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−</m:t>
                    </m:r>
                    <m:r>
                      <a:rPr lang="en-US" sz="1500" i="1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𝑀</m:t>
                    </m:r>
                    <m:f>
                      <m:fPr>
                        <m:ctrlPr>
                          <a:rPr lang="en-IN" sz="15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sz="15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5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𝑑𝑖</m:t>
                            </m:r>
                          </m:e>
                          <m:sub>
                            <m:r>
                              <a:rPr lang="en-US" sz="15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US" sz="15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en-US" sz="1500" dirty="0"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Aptos" panose="020B0004020202020204" pitchFamily="34" charset="0"/>
                    <a:ea typeface="Times New Roman" panose="02020603050405020304" pitchFamily="18" charset="0"/>
                  </a:rPr>
                  <a:t>	---(2)</a:t>
                </a:r>
                <a:endParaRPr lang="en-IN" sz="1500" dirty="0">
                  <a:solidFill>
                    <a:schemeClr val="accent5">
                      <a:lumMod val="7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7647C11E-4316-F7DE-7CD9-E0CCE0623A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9143" y="4622350"/>
                <a:ext cx="1981633" cy="428131"/>
              </a:xfrm>
              <a:prstGeom prst="rect">
                <a:avLst/>
              </a:prstGeom>
              <a:blipFill>
                <a:blip r:embed="rId7"/>
                <a:stretch>
                  <a:fillRect r="-615" b="-71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4B864688-961F-72C4-7671-73FB40BFE215}"/>
                  </a:ext>
                </a:extLst>
              </p:cNvPr>
              <p:cNvSpPr/>
              <p:nvPr/>
            </p:nvSpPr>
            <p:spPr>
              <a:xfrm>
                <a:off x="6618514" y="5345041"/>
                <a:ext cx="2143472" cy="45813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5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𝑀</m:t>
                    </m:r>
                    <m:r>
                      <a:rPr lang="en-US" sz="15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IN" sz="15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sz="15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5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5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IN" sz="15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5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∅</m:t>
                            </m:r>
                          </m:e>
                          <m:sub>
                            <m:r>
                              <a:rPr lang="en-US" sz="15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IN" sz="15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5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5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sz="1500" i="1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IN" sz="15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sz="15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5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5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IN" sz="15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5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sz="15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IN" sz="15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5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∅</m:t>
                            </m:r>
                          </m:e>
                          <m:sub>
                            <m:r>
                              <a:rPr lang="en-US" sz="15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IN" sz="15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5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5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1500" dirty="0"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Aptos" panose="020B0004020202020204" pitchFamily="34" charset="0"/>
                    <a:ea typeface="Times New Roman" panose="02020603050405020304" pitchFamily="18" charset="0"/>
                  </a:rPr>
                  <a:t> ---(3)</a:t>
                </a:r>
                <a:endParaRPr lang="en-IN" sz="1500" dirty="0">
                  <a:solidFill>
                    <a:schemeClr val="accent5">
                      <a:lumMod val="7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4B864688-961F-72C4-7671-73FB40BFE21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8514" y="5345041"/>
                <a:ext cx="2143472" cy="458139"/>
              </a:xfrm>
              <a:prstGeom prst="rect">
                <a:avLst/>
              </a:prstGeom>
              <a:blipFill>
                <a:blip r:embed="rId8"/>
                <a:stretch>
                  <a:fillRect r="-57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A3EEAF0-A4A9-61C7-7A36-F368CDD08BBE}"/>
                  </a:ext>
                </a:extLst>
              </p:cNvPr>
              <p:cNvSpPr/>
              <p:nvPr/>
            </p:nvSpPr>
            <p:spPr>
              <a:xfrm>
                <a:off x="6618514" y="6082071"/>
                <a:ext cx="2143472" cy="45813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5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𝑀</m:t>
                    </m:r>
                    <m:r>
                      <a:rPr lang="en-US" sz="15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IN" sz="15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sz="15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5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5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IN" sz="15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5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∅</m:t>
                            </m:r>
                          </m:e>
                          <m:sub>
                            <m:r>
                              <a:rPr lang="en-US" sz="15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IN" sz="15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5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5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sz="1500" i="1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IN" sz="15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sz="15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5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5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IN" sz="15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5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sz="15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IN" sz="15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5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∅</m:t>
                            </m:r>
                          </m:e>
                          <m:sub>
                            <m:r>
                              <a:rPr lang="en-US" sz="15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IN" sz="15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5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5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1500" dirty="0"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Aptos" panose="020B0004020202020204" pitchFamily="34" charset="0"/>
                    <a:ea typeface="Times New Roman" panose="02020603050405020304" pitchFamily="18" charset="0"/>
                  </a:rPr>
                  <a:t> ---(4)</a:t>
                </a:r>
                <a:endParaRPr lang="en-IN" sz="1500" dirty="0">
                  <a:solidFill>
                    <a:schemeClr val="accent5">
                      <a:lumMod val="7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A3EEAF0-A4A9-61C7-7A36-F368CDD08B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8514" y="6082071"/>
                <a:ext cx="2143472" cy="458139"/>
              </a:xfrm>
              <a:prstGeom prst="rect">
                <a:avLst/>
              </a:prstGeom>
              <a:blipFill>
                <a:blip r:embed="rId9"/>
                <a:stretch>
                  <a:fillRect r="-57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37B02811-D72B-7E12-B226-D20B7AC53FD6}"/>
                  </a:ext>
                </a:extLst>
              </p:cNvPr>
              <p:cNvSpPr/>
              <p:nvPr/>
            </p:nvSpPr>
            <p:spPr>
              <a:xfrm>
                <a:off x="10153151" y="3971504"/>
                <a:ext cx="1815362" cy="6214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5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𝑲</m:t>
                      </m:r>
                      <m:r>
                        <a:rPr lang="en-IN" sz="1500" b="1" i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𝑴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IN" sz="1500" b="1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IN" sz="1500" b="1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500" b="1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𝑳</m:t>
                                  </m:r>
                                </m:e>
                                <m:sub>
                                  <m:r>
                                    <a:rPr lang="en-IN" sz="1500" b="1" i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IN" sz="1500" b="1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500" b="1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𝑳</m:t>
                                  </m:r>
                                </m:e>
                                <m:sub>
                                  <m:r>
                                    <a:rPr lang="en-IN" sz="1500" b="1" i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rad>
                        </m:den>
                      </m:f>
                    </m:oMath>
                  </m:oMathPara>
                </a14:m>
                <a:endParaRPr lang="en-IN" sz="1500" b="1" dirty="0">
                  <a:solidFill>
                    <a:schemeClr val="accent5">
                      <a:lumMod val="7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37B02811-D72B-7E12-B226-D20B7AC53F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3151" y="3971504"/>
                <a:ext cx="1815362" cy="62145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9" name="Group 68">
            <a:extLst>
              <a:ext uri="{FF2B5EF4-FFF2-40B4-BE49-F238E27FC236}">
                <a16:creationId xmlns:a16="http://schemas.microsoft.com/office/drawing/2014/main" id="{EC3AF185-C610-7E47-6A95-176DCE4BF443}"/>
              </a:ext>
            </a:extLst>
          </p:cNvPr>
          <p:cNvGrpSpPr/>
          <p:nvPr/>
        </p:nvGrpSpPr>
        <p:grpSpPr>
          <a:xfrm>
            <a:off x="6929451" y="1090229"/>
            <a:ext cx="4463146" cy="2421126"/>
            <a:chOff x="6929451" y="1090229"/>
            <a:chExt cx="4463146" cy="2421126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8DF4D6F4-3A82-4D7B-CB84-245818E7186E}"/>
                </a:ext>
              </a:extLst>
            </p:cNvPr>
            <p:cNvPicPr/>
            <p:nvPr/>
          </p:nvPicPr>
          <p:blipFill>
            <a:blip r:embed="rId1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29451" y="1090229"/>
              <a:ext cx="4463146" cy="24211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C77FC5A-2637-EF3F-279D-A9D00E71324F}"/>
                </a:ext>
              </a:extLst>
            </p:cNvPr>
            <p:cNvSpPr txBox="1"/>
            <p:nvPr/>
          </p:nvSpPr>
          <p:spPr>
            <a:xfrm>
              <a:off x="8106636" y="2582315"/>
              <a:ext cx="35137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b="1" dirty="0">
                  <a:solidFill>
                    <a:schemeClr val="accent5">
                      <a:lumMod val="75000"/>
                    </a:schemeClr>
                  </a:solidFill>
                  <a:latin typeface="Aptos" panose="020B0004020202020204" pitchFamily="34" charset="0"/>
                </a:rPr>
                <a:t>L</a:t>
              </a:r>
              <a:r>
                <a:rPr lang="en-US" sz="1500" b="1" baseline="-25000" dirty="0">
                  <a:solidFill>
                    <a:schemeClr val="accent5">
                      <a:lumMod val="75000"/>
                    </a:schemeClr>
                  </a:solidFill>
                  <a:latin typeface="Aptos" panose="020B0004020202020204" pitchFamily="34" charset="0"/>
                </a:rPr>
                <a:t>1</a:t>
              </a:r>
              <a:endParaRPr lang="en-IN" sz="1500" b="1" baseline="-25000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014D8F4-72D9-7471-65F1-AD027CE4360B}"/>
                </a:ext>
              </a:extLst>
            </p:cNvPr>
            <p:cNvSpPr txBox="1"/>
            <p:nvPr/>
          </p:nvSpPr>
          <p:spPr>
            <a:xfrm>
              <a:off x="10153151" y="2577582"/>
              <a:ext cx="35137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b="1" dirty="0">
                  <a:solidFill>
                    <a:schemeClr val="accent5">
                      <a:lumMod val="75000"/>
                    </a:schemeClr>
                  </a:solidFill>
                  <a:latin typeface="Aptos" panose="020B0004020202020204" pitchFamily="34" charset="0"/>
                </a:rPr>
                <a:t>L</a:t>
              </a:r>
              <a:r>
                <a:rPr lang="en-US" sz="1500" b="1" baseline="-25000" dirty="0">
                  <a:solidFill>
                    <a:schemeClr val="accent5">
                      <a:lumMod val="75000"/>
                    </a:schemeClr>
                  </a:solidFill>
                  <a:latin typeface="Aptos" panose="020B0004020202020204" pitchFamily="34" charset="0"/>
                </a:rPr>
                <a:t>2</a:t>
              </a:r>
              <a:endParaRPr lang="en-IN" sz="1500" b="1" baseline="-25000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endParaRPr>
            </a:p>
          </p:txBody>
        </p:sp>
        <p:cxnSp>
          <p:nvCxnSpPr>
            <p:cNvPr id="65" name="Connector: Curved 64">
              <a:extLst>
                <a:ext uri="{FF2B5EF4-FFF2-40B4-BE49-F238E27FC236}">
                  <a16:creationId xmlns:a16="http://schemas.microsoft.com/office/drawing/2014/main" id="{EBA6393C-6B89-ADC5-338D-6583369FE763}"/>
                </a:ext>
              </a:extLst>
            </p:cNvPr>
            <p:cNvCxnSpPr/>
            <p:nvPr/>
          </p:nvCxnSpPr>
          <p:spPr>
            <a:xfrm rot="10800000" flipV="1">
              <a:off x="8773887" y="1404259"/>
              <a:ext cx="261257" cy="206828"/>
            </a:xfrm>
            <a:prstGeom prst="curvedConnector3">
              <a:avLst/>
            </a:prstGeom>
            <a:ln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Connector: Curved 66">
              <a:extLst>
                <a:ext uri="{FF2B5EF4-FFF2-40B4-BE49-F238E27FC236}">
                  <a16:creationId xmlns:a16="http://schemas.microsoft.com/office/drawing/2014/main" id="{FA4EE8B5-BBCD-26F2-EC29-E174CCB9ECD9}"/>
                </a:ext>
              </a:extLst>
            </p:cNvPr>
            <p:cNvCxnSpPr>
              <a:cxnSpLocks/>
            </p:cNvCxnSpPr>
            <p:nvPr/>
          </p:nvCxnSpPr>
          <p:spPr>
            <a:xfrm>
              <a:off x="9346945" y="1410047"/>
              <a:ext cx="245795" cy="217479"/>
            </a:xfrm>
            <a:prstGeom prst="curvedConnector3">
              <a:avLst/>
            </a:prstGeom>
            <a:ln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F8799249-FD90-3C25-0ADF-11C96D1341AD}"/>
                </a:ext>
              </a:extLst>
            </p:cNvPr>
            <p:cNvSpPr txBox="1"/>
            <p:nvPr/>
          </p:nvSpPr>
          <p:spPr>
            <a:xfrm>
              <a:off x="9016669" y="1165163"/>
              <a:ext cx="341760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b="1" dirty="0">
                  <a:solidFill>
                    <a:schemeClr val="accent5">
                      <a:lumMod val="75000"/>
                    </a:schemeClr>
                  </a:solidFill>
                  <a:latin typeface="Aptos" panose="020B0004020202020204" pitchFamily="34" charset="0"/>
                </a:rPr>
                <a:t>M</a:t>
              </a:r>
              <a:endParaRPr lang="en-IN" sz="1500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637F09C9-4B14-EE46-8B09-38025AF1C1F7}"/>
              </a:ext>
            </a:extLst>
          </p:cNvPr>
          <p:cNvSpPr txBox="1"/>
          <p:nvPr/>
        </p:nvSpPr>
        <p:spPr>
          <a:xfrm>
            <a:off x="4071434" y="3180234"/>
            <a:ext cx="71013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Henry</a:t>
            </a:r>
            <a:endParaRPr lang="en-IN" sz="1500" b="1" dirty="0">
              <a:solidFill>
                <a:schemeClr val="accent5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4CE2FD-1935-456A-0AB0-68BD73804828}"/>
              </a:ext>
            </a:extLst>
          </p:cNvPr>
          <p:cNvSpPr txBox="1"/>
          <p:nvPr/>
        </p:nvSpPr>
        <p:spPr>
          <a:xfrm>
            <a:off x="3448376" y="3994973"/>
            <a:ext cx="71013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Henry</a:t>
            </a:r>
            <a:endParaRPr lang="en-IN" sz="1500" b="1" dirty="0">
              <a:solidFill>
                <a:schemeClr val="accent5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72767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55D9C-16AC-3D90-846E-2476A387E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569" y="540145"/>
            <a:ext cx="3595652" cy="1068920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Energy stored in Magnetic Field</a:t>
            </a:r>
            <a:endParaRPr lang="en-IN" sz="2000" b="1" dirty="0">
              <a:solidFill>
                <a:schemeClr val="accent5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AAFD9DB-EE54-697C-BC67-7F31C630E1CE}"/>
              </a:ext>
            </a:extLst>
          </p:cNvPr>
          <p:cNvGrpSpPr/>
          <p:nvPr/>
        </p:nvGrpSpPr>
        <p:grpSpPr>
          <a:xfrm>
            <a:off x="664028" y="2359239"/>
            <a:ext cx="3218802" cy="1981200"/>
            <a:chOff x="3343599" y="2864052"/>
            <a:chExt cx="2456802" cy="1326948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5EB8A009-CEBD-6DF0-983C-B7BC0D39B5C5}"/>
                </a:ext>
              </a:extLst>
            </p:cNvPr>
            <p:cNvGrpSpPr/>
            <p:nvPr/>
          </p:nvGrpSpPr>
          <p:grpSpPr>
            <a:xfrm>
              <a:off x="3343599" y="2864052"/>
              <a:ext cx="2456802" cy="1326948"/>
              <a:chOff x="3343599" y="2864052"/>
              <a:chExt cx="2456802" cy="1326948"/>
            </a:xfrm>
          </p:grpSpPr>
          <p:pic>
            <p:nvPicPr>
              <p:cNvPr id="7" name="Picture 6" descr="as">
                <a:extLst>
                  <a:ext uri="{FF2B5EF4-FFF2-40B4-BE49-F238E27FC236}">
                    <a16:creationId xmlns:a16="http://schemas.microsoft.com/office/drawing/2014/main" id="{B03E9D29-A156-5812-E227-8632BF11EF46}"/>
                  </a:ext>
                </a:extLst>
              </p:cNvPr>
              <p:cNvPicPr/>
              <p:nvPr/>
            </p:nvPicPr>
            <p:blipFill>
              <a:blip r:embed="rId2"/>
              <a:srcRect/>
              <a:stretch>
                <a:fillRect/>
              </a:stretch>
            </p:blipFill>
            <p:spPr bwMode="auto">
              <a:xfrm>
                <a:off x="3343599" y="2864052"/>
                <a:ext cx="2456802" cy="13269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45230ED-E431-66EF-AB47-8F8BE4A16B52}"/>
                  </a:ext>
                </a:extLst>
              </p:cNvPr>
              <p:cNvSpPr/>
              <p:nvPr/>
            </p:nvSpPr>
            <p:spPr>
              <a:xfrm>
                <a:off x="4386693" y="3244334"/>
                <a:ext cx="286548" cy="2164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500" b="1" dirty="0" err="1">
                    <a:solidFill>
                      <a:schemeClr val="accent5">
                        <a:lumMod val="75000"/>
                      </a:schemeClr>
                    </a:solidFill>
                    <a:latin typeface="Aptos" panose="020B0004020202020204" pitchFamily="34" charset="0"/>
                  </a:rPr>
                  <a:t>e</a:t>
                </a:r>
                <a:r>
                  <a:rPr lang="en-US" sz="1500" b="1" baseline="-25000" dirty="0" err="1">
                    <a:solidFill>
                      <a:schemeClr val="accent5">
                        <a:lumMod val="75000"/>
                      </a:schemeClr>
                    </a:solidFill>
                    <a:latin typeface="Aptos" panose="020B0004020202020204" pitchFamily="34" charset="0"/>
                  </a:rPr>
                  <a:t>S</a:t>
                </a:r>
                <a:endParaRPr lang="en-US" sz="1500" b="1" dirty="0">
                  <a:solidFill>
                    <a:schemeClr val="accent5">
                      <a:lumMod val="7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</p:grpSp>
        <p:sp>
          <p:nvSpPr>
            <p:cNvPr id="6" name="TextBox 303">
              <a:extLst>
                <a:ext uri="{FF2B5EF4-FFF2-40B4-BE49-F238E27FC236}">
                  <a16:creationId xmlns:a16="http://schemas.microsoft.com/office/drawing/2014/main" id="{541C2FF4-ACD5-5D57-B037-B87EFBAC9179}"/>
                </a:ext>
              </a:extLst>
            </p:cNvPr>
            <p:cNvSpPr txBox="1"/>
            <p:nvPr/>
          </p:nvSpPr>
          <p:spPr>
            <a:xfrm>
              <a:off x="5486400" y="2971800"/>
              <a:ext cx="248619" cy="21644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500" b="1" dirty="0">
                  <a:solidFill>
                    <a:schemeClr val="accent5">
                      <a:lumMod val="75000"/>
                    </a:schemeClr>
                  </a:solidFill>
                  <a:latin typeface="Aptos" panose="020B0004020202020204" pitchFamily="34" charset="0"/>
                </a:rPr>
                <a:t>Ø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60AEB01-4E79-19F7-8306-28F50DD9696C}"/>
                  </a:ext>
                </a:extLst>
              </p:cNvPr>
              <p:cNvSpPr/>
              <p:nvPr/>
            </p:nvSpPr>
            <p:spPr>
              <a:xfrm>
                <a:off x="664028" y="4878279"/>
                <a:ext cx="4278659" cy="42466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it-IT" sz="1500" b="1" dirty="0">
                    <a:solidFill>
                      <a:schemeClr val="accent5">
                        <a:lumMod val="75000"/>
                      </a:schemeClr>
                    </a:solidFill>
                    <a:latin typeface="Aptos" panose="020B0004020202020204" pitchFamily="34" charset="0"/>
                    <a:ea typeface="Times New Roman" panose="02020603050405020304" pitchFamily="18" charset="0"/>
                  </a:rPr>
                  <a:t>Energy stored </a:t>
                </a:r>
                <a14:m>
                  <m:oMath xmlns:m="http://schemas.openxmlformats.org/officeDocument/2006/math">
                    <m:r>
                      <a:rPr lang="it-IT" sz="1500" b="1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1500" b="1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sz="1500" b="1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it-IT" sz="1500" b="1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it-IT" sz="1500" b="1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𝐋</m:t>
                    </m:r>
                    <m:sSup>
                      <m:sSupPr>
                        <m:ctrlPr>
                          <a:rPr lang="en-IN" sz="1500" b="1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sz="1500" b="1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𝐈</m:t>
                        </m:r>
                      </m:e>
                      <m:sup>
                        <m:r>
                          <a:rPr lang="it-IT" sz="1500" b="1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it-IT" sz="1500" b="1" dirty="0">
                    <a:solidFill>
                      <a:schemeClr val="accent5">
                        <a:lumMod val="75000"/>
                      </a:schemeClr>
                    </a:solidFill>
                    <a:latin typeface="Aptos" panose="020B0004020202020204" pitchFamily="34" charset="0"/>
                  </a:rPr>
                  <a:t> Joule</a:t>
                </a:r>
                <a:r>
                  <a:rPr lang="it-IT" sz="1500" b="1" dirty="0">
                    <a:solidFill>
                      <a:schemeClr val="accent5">
                        <a:lumMod val="75000"/>
                      </a:schemeClr>
                    </a:solidFill>
                    <a:latin typeface="Aptos" panose="020B0004020202020204" pitchFamily="34" charset="0"/>
                    <a:ea typeface="Times New Roman" panose="02020603050405020304" pitchFamily="18" charset="0"/>
                  </a:rPr>
                  <a:t> </a:t>
                </a:r>
                <a:endParaRPr lang="en-IN" sz="1500" b="1" dirty="0">
                  <a:solidFill>
                    <a:schemeClr val="accent5">
                      <a:lumMod val="7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60AEB01-4E79-19F7-8306-28F50DD969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028" y="4878279"/>
                <a:ext cx="4278659" cy="424668"/>
              </a:xfrm>
              <a:prstGeom prst="rect">
                <a:avLst/>
              </a:prstGeom>
              <a:blipFill>
                <a:blip r:embed="rId3"/>
                <a:stretch>
                  <a:fillRect l="-570" b="-571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E0AFD90-3277-66A6-9E21-5F8F51F2B56A}"/>
              </a:ext>
            </a:extLst>
          </p:cNvPr>
          <p:cNvCxnSpPr>
            <a:cxnSpLocks/>
          </p:cNvCxnSpPr>
          <p:nvPr/>
        </p:nvCxnSpPr>
        <p:spPr>
          <a:xfrm>
            <a:off x="4441372" y="494952"/>
            <a:ext cx="0" cy="62226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43E6682-8D3B-F255-ABBA-C8B11973A07D}"/>
              </a:ext>
            </a:extLst>
          </p:cNvPr>
          <p:cNvSpPr txBox="1"/>
          <p:nvPr/>
        </p:nvSpPr>
        <p:spPr>
          <a:xfrm>
            <a:off x="4567548" y="635897"/>
            <a:ext cx="7332144" cy="70788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Formulae </a:t>
            </a:r>
          </a:p>
          <a:p>
            <a:pPr algn="ctr"/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(to calculate values of following parameters)</a:t>
            </a:r>
            <a:endParaRPr lang="en-IN" sz="2000" dirty="0">
              <a:solidFill>
                <a:schemeClr val="accent5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7735A20-22D6-FF4C-0038-B94ABDDC5492}"/>
                  </a:ext>
                </a:extLst>
              </p:cNvPr>
              <p:cNvSpPr txBox="1"/>
              <p:nvPr/>
            </p:nvSpPr>
            <p:spPr>
              <a:xfrm>
                <a:off x="5043352" y="1676861"/>
                <a:ext cx="1537443" cy="4402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US" sz="15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15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f>
                        <m:fPr>
                          <m:ctrlPr>
                            <a:rPr lang="en-US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5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  <m:r>
                            <a:rPr lang="en-US" sz="15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∅</m:t>
                          </m:r>
                        </m:num>
                        <m:den>
                          <m:r>
                            <a:rPr lang="en-US" sz="15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𝒅</m:t>
                          </m:r>
                          <m:r>
                            <a:rPr lang="en-US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den>
                      </m:f>
                    </m:oMath>
                  </m:oMathPara>
                </a14:m>
                <a:endParaRPr lang="en-IN" sz="1500" b="1" dirty="0">
                  <a:solidFill>
                    <a:schemeClr val="accent5">
                      <a:lumMod val="7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7735A20-22D6-FF4C-0038-B94ABDDC54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3352" y="1676861"/>
                <a:ext cx="1537443" cy="44024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5D20262-ED9D-A422-4712-0EAA4FFA31F1}"/>
                  </a:ext>
                </a:extLst>
              </p:cNvPr>
              <p:cNvSpPr txBox="1"/>
              <p:nvPr/>
            </p:nvSpPr>
            <p:spPr>
              <a:xfrm>
                <a:off x="4781964" y="2372716"/>
                <a:ext cx="2011729" cy="5308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5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sub>
                      </m:sSub>
                      <m:r>
                        <a:rPr lang="en-IN" sz="1500" b="1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5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5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𝑳</m:t>
                      </m:r>
                      <m:f>
                        <m:fPr>
                          <m:ctrlPr>
                            <a:rPr lang="en-US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  <m:r>
                            <a:rPr lang="en-US" sz="15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num>
                        <m:den>
                          <m:r>
                            <a:rPr lang="en-US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𝒅</m:t>
                          </m:r>
                          <m:r>
                            <a:rPr lang="en-US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den>
                      </m:f>
                    </m:oMath>
                  </m:oMathPara>
                </a14:m>
                <a:endParaRPr lang="en-IN" sz="1500" dirty="0">
                  <a:solidFill>
                    <a:schemeClr val="accent5">
                      <a:lumMod val="7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5D20262-ED9D-A422-4712-0EAA4FFA31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1964" y="2372716"/>
                <a:ext cx="2011729" cy="53085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3CDCEE2-AD86-87F1-A05A-91EB3B620445}"/>
                  </a:ext>
                </a:extLst>
              </p:cNvPr>
              <p:cNvSpPr txBox="1"/>
              <p:nvPr/>
            </p:nvSpPr>
            <p:spPr>
              <a:xfrm>
                <a:off x="5098573" y="3156709"/>
                <a:ext cx="6810398" cy="8092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5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IN" sz="1500" b="1" i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𝟐𝟏</m:t>
                          </m:r>
                        </m:sub>
                      </m:sSub>
                      <m:r>
                        <a:rPr lang="en-IN" sz="1500" b="1" i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IN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e>
                        <m:sub>
                          <m:r>
                            <a:rPr lang="en-IN" sz="1500" b="1" i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f>
                        <m:fPr>
                          <m:ctrlPr>
                            <a:rPr lang="en-IN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1500" b="1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500" b="1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  <m:r>
                                <a:rPr lang="en-IN" sz="1500" b="1" i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∅</m:t>
                              </m:r>
                            </m:e>
                            <m:sub>
                              <m:r>
                                <a:rPr lang="en-IN" sz="1500" b="1" i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num>
                        <m:den>
                          <m:r>
                            <a:rPr lang="en-IN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𝒅𝒕</m:t>
                          </m:r>
                        </m:den>
                      </m:f>
                      <m:r>
                        <a:rPr lang="en-IN" sz="1500" b="1" i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IN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1500" b="1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500" b="1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e>
                            <m:sub>
                              <m:r>
                                <a:rPr lang="en-IN" sz="1500" b="1" i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IN" sz="1500" b="1" i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1500" b="1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500" b="1" i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∅</m:t>
                              </m:r>
                            </m:e>
                            <m:sub>
                              <m:r>
                                <a:rPr lang="en-IN" sz="1500" b="1" i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IN" sz="1500" b="1" i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IN" sz="1500" b="1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500" b="1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en-IN" sz="1500" b="1" i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en-IN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1500" b="1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500" b="1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𝒅𝒊</m:t>
                              </m:r>
                            </m:e>
                            <m:sub>
                              <m:r>
                                <a:rPr lang="en-IN" sz="1500" b="1" i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num>
                        <m:den>
                          <m:r>
                            <a:rPr lang="en-IN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𝒅𝒕</m:t>
                          </m:r>
                        </m:den>
                      </m:f>
                      <m:r>
                        <a:rPr lang="en-IN" sz="1500" b="1" i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15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15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5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5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15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5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sz="15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15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5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∅</m:t>
                              </m:r>
                            </m:e>
                            <m:sub>
                              <m:r>
                                <a:rPr lang="en-US" sz="15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IN" sz="15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5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15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en-IN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1500" b="1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500" b="1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𝒅𝒊</m:t>
                              </m:r>
                            </m:e>
                            <m:sub>
                              <m:r>
                                <a:rPr lang="en-IN" sz="1500" b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num>
                        <m:den>
                          <m:r>
                            <a:rPr lang="en-IN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𝒅𝒕</m:t>
                          </m:r>
                        </m:den>
                      </m:f>
                      <m:r>
                        <a:rPr lang="en-IN" sz="1500" b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1500" b="1" i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IN" sz="1500" b="1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𝑴</m:t>
                      </m:r>
                      <m:f>
                        <m:fPr>
                          <m:ctrlPr>
                            <a:rPr lang="en-IN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1500" b="1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500" b="1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𝒅𝒊</m:t>
                              </m:r>
                            </m:e>
                            <m:sub>
                              <m:r>
                                <a:rPr lang="en-IN" sz="1500" b="1" i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num>
                        <m:den>
                          <m:r>
                            <a:rPr lang="en-IN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𝒅𝒕</m:t>
                          </m:r>
                        </m:den>
                      </m:f>
                    </m:oMath>
                  </m:oMathPara>
                </a14:m>
                <a:endParaRPr lang="en-IN" sz="1500" b="1" dirty="0">
                  <a:solidFill>
                    <a:schemeClr val="accent5">
                      <a:lumMod val="7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3CDCEE2-AD86-87F1-A05A-91EB3B6204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8573" y="3156709"/>
                <a:ext cx="6810398" cy="80926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CF1C733-DAF0-16A4-112C-C31F1195E92B}"/>
                  </a:ext>
                </a:extLst>
              </p:cNvPr>
              <p:cNvSpPr txBox="1"/>
              <p:nvPr/>
            </p:nvSpPr>
            <p:spPr>
              <a:xfrm>
                <a:off x="7876399" y="5509213"/>
                <a:ext cx="2919333" cy="4246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it-IT" sz="1500" b="1" dirty="0">
                    <a:solidFill>
                      <a:schemeClr val="accent5">
                        <a:lumMod val="75000"/>
                      </a:schemeClr>
                    </a:solidFill>
                    <a:latin typeface="Aptos" panose="020B0004020202020204" pitchFamily="34" charset="0"/>
                    <a:ea typeface="Times New Roman" panose="02020603050405020304" pitchFamily="18" charset="0"/>
                  </a:rPr>
                  <a:t>Energy stored </a:t>
                </a:r>
                <a14:m>
                  <m:oMath xmlns:m="http://schemas.openxmlformats.org/officeDocument/2006/math">
                    <m:r>
                      <a:rPr lang="it-IT" sz="1500" b="1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1500" b="1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sz="1500" b="1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it-IT" sz="1500" b="1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it-IT" sz="1500" b="1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𝐋</m:t>
                    </m:r>
                    <m:sSup>
                      <m:sSupPr>
                        <m:ctrlPr>
                          <a:rPr lang="en-IN" sz="1500" b="1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sz="1500" b="1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𝐈</m:t>
                        </m:r>
                      </m:e>
                      <m:sup>
                        <m:r>
                          <a:rPr lang="it-IT" sz="1500" b="1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it-IT" sz="1500" b="1" dirty="0">
                    <a:solidFill>
                      <a:schemeClr val="accent5">
                        <a:lumMod val="75000"/>
                      </a:schemeClr>
                    </a:solidFill>
                    <a:latin typeface="Aptos" panose="020B0004020202020204" pitchFamily="34" charset="0"/>
                  </a:rPr>
                  <a:t> </a:t>
                </a:r>
                <a:endParaRPr lang="en-IN" sz="1500" dirty="0">
                  <a:solidFill>
                    <a:schemeClr val="accent5">
                      <a:lumMod val="7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CF1C733-DAF0-16A4-112C-C31F1195E9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6399" y="5509213"/>
                <a:ext cx="2919333" cy="424668"/>
              </a:xfrm>
              <a:prstGeom prst="rect">
                <a:avLst/>
              </a:prstGeom>
              <a:blipFill>
                <a:blip r:embed="rId7"/>
                <a:stretch>
                  <a:fillRect l="-835" b="-579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8F568173-BFE6-465B-C456-F45DEF0049AB}"/>
                  </a:ext>
                </a:extLst>
              </p:cNvPr>
              <p:cNvSpPr/>
              <p:nvPr/>
            </p:nvSpPr>
            <p:spPr>
              <a:xfrm>
                <a:off x="7727850" y="2331808"/>
                <a:ext cx="3037113" cy="56143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en-IN" sz="1500" b="1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5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5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  <m:r>
                            <a:rPr lang="en-US" sz="15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∅</m:t>
                          </m:r>
                        </m:num>
                        <m:den>
                          <m:r>
                            <a:rPr lang="en-US" sz="15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𝑰</m:t>
                          </m:r>
                        </m:den>
                      </m:f>
                      <m:r>
                        <a:rPr lang="en-US" sz="15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500" b="1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500" b="1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e>
                            <m:sup>
                              <m:r>
                                <a:rPr lang="en-US" sz="1500" b="1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num>
                        <m:den>
                          <m:r>
                            <a:rPr lang="en-US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den>
                      </m:f>
                      <m:r>
                        <a:rPr lang="en-US" sz="15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5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500" b="1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500" b="1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e>
                            <m:sup>
                              <m:r>
                                <a:rPr lang="en-US" sz="1500" b="1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1500" b="1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500" b="1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sz="1500" b="1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500" b="1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500" b="1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sz="1500" b="1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sub>
                          </m:sSub>
                          <m:r>
                            <a:rPr lang="en-US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num>
                        <m:den>
                          <m:r>
                            <a:rPr lang="en-US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𝒍</m:t>
                          </m:r>
                        </m:den>
                      </m:f>
                    </m:oMath>
                  </m:oMathPara>
                </a14:m>
                <a:endParaRPr lang="en-IN" sz="1500" b="1" dirty="0">
                  <a:solidFill>
                    <a:schemeClr val="accent5">
                      <a:lumMod val="7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8F568173-BFE6-465B-C456-F45DEF0049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7850" y="2331808"/>
                <a:ext cx="3037113" cy="56143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92079B9-7A3F-C239-5CC8-EF0674EB882D}"/>
                  </a:ext>
                </a:extLst>
              </p:cNvPr>
              <p:cNvSpPr txBox="1"/>
              <p:nvPr/>
            </p:nvSpPr>
            <p:spPr>
              <a:xfrm>
                <a:off x="5136653" y="5158423"/>
                <a:ext cx="3667587" cy="4246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500" b="1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𝑴</m:t>
                    </m:r>
                    <m:r>
                      <a:rPr lang="en-IN" sz="1500" b="1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1500" b="1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sz="1500" b="1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500" b="1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𝑵</m:t>
                            </m:r>
                          </m:e>
                          <m:sub>
                            <m:r>
                              <a:rPr lang="en-IN" sz="1500" b="1" i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sSub>
                          <m:sSubPr>
                            <m:ctrlPr>
                              <a:rPr lang="en-IN" sz="1500" b="1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500" b="1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𝑵</m:t>
                            </m:r>
                          </m:e>
                          <m:sub>
                            <m:r>
                              <a:rPr lang="en-IN" sz="1500" b="1" i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num>
                      <m:den>
                        <m:r>
                          <a:rPr lang="en-IN" sz="1500" b="1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den>
                    </m:f>
                  </m:oMath>
                </a14:m>
                <a:r>
                  <a:rPr lang="en-IN" sz="1500" dirty="0">
                    <a:solidFill>
                      <a:schemeClr val="accent5">
                        <a:lumMod val="75000"/>
                      </a:schemeClr>
                    </a:solidFill>
                    <a:latin typeface="Aptos" panose="020B0004020202020204" pitchFamily="34" charset="0"/>
                  </a:rPr>
                  <a:t>=</a:t>
                </a:r>
                <a:r>
                  <a:rPr lang="en-IN" sz="1500" b="1" dirty="0">
                    <a:solidFill>
                      <a:schemeClr val="accent5">
                        <a:lumMod val="75000"/>
                      </a:schemeClr>
                    </a:solidFill>
                    <a:latin typeface="Aptos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1500" b="1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sz="1500" b="1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500" b="1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𝑵</m:t>
                            </m:r>
                          </m:e>
                          <m:sub>
                            <m:r>
                              <a:rPr lang="en-IN" sz="1500" b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sSub>
                          <m:sSubPr>
                            <m:ctrlPr>
                              <a:rPr lang="en-IN" sz="1500" b="1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500" b="1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𝑵</m:t>
                            </m:r>
                          </m:e>
                          <m:sub>
                            <m:r>
                              <a:rPr lang="en-IN" sz="1500" b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sSub>
                          <m:sSubPr>
                            <m:ctrlPr>
                              <a:rPr lang="en-IN" sz="1500" b="1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500" b="1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IN" sz="1500" b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  <m:sSub>
                          <m:sSubPr>
                            <m:ctrlPr>
                              <a:rPr lang="en-IN" sz="1500" b="1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500" b="1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IN" sz="1500" b="1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</m:sub>
                        </m:sSub>
                        <m:r>
                          <a:rPr lang="en-IN" sz="1500" b="1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num>
                      <m:den>
                        <m:r>
                          <a:rPr lang="en-IN" sz="1500" b="1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𝒍</m:t>
                        </m:r>
                      </m:den>
                    </m:f>
                  </m:oMath>
                </a14:m>
                <a:endParaRPr lang="en-IN" sz="1500" dirty="0">
                  <a:solidFill>
                    <a:schemeClr val="accent5">
                      <a:lumMod val="7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92079B9-7A3F-C239-5CC8-EF0674EB88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6653" y="5158423"/>
                <a:ext cx="3667587" cy="424668"/>
              </a:xfrm>
              <a:prstGeom prst="rect">
                <a:avLst/>
              </a:prstGeom>
              <a:blipFill>
                <a:blip r:embed="rId9"/>
                <a:stretch>
                  <a:fillRect b="-571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32F27127-E4AD-09B6-F0D4-257A2CC86A03}"/>
                  </a:ext>
                </a:extLst>
              </p:cNvPr>
              <p:cNvSpPr/>
              <p:nvPr/>
            </p:nvSpPr>
            <p:spPr>
              <a:xfrm>
                <a:off x="4978331" y="5848597"/>
                <a:ext cx="1815362" cy="6214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5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𝑲</m:t>
                      </m:r>
                      <m:r>
                        <a:rPr lang="en-IN" sz="1500" b="1" i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𝑴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IN" sz="1500" b="1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IN" sz="1500" b="1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500" b="1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𝑳</m:t>
                                  </m:r>
                                </m:e>
                                <m:sub>
                                  <m:r>
                                    <a:rPr lang="en-IN" sz="1500" b="1" i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IN" sz="1500" b="1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500" b="1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𝑳</m:t>
                                  </m:r>
                                </m:e>
                                <m:sub>
                                  <m:r>
                                    <a:rPr lang="en-IN" sz="1500" b="1" i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rad>
                        </m:den>
                      </m:f>
                    </m:oMath>
                  </m:oMathPara>
                </a14:m>
                <a:endParaRPr lang="en-IN" sz="1500" b="1" dirty="0">
                  <a:solidFill>
                    <a:schemeClr val="accent5">
                      <a:lumMod val="7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32F27127-E4AD-09B6-F0D4-257A2CC86A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8331" y="5848597"/>
                <a:ext cx="1815362" cy="62145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F46395D-89BB-7A0A-3127-3713EB9045B1}"/>
              </a:ext>
            </a:extLst>
          </p:cNvPr>
          <p:cNvCxnSpPr/>
          <p:nvPr/>
        </p:nvCxnSpPr>
        <p:spPr>
          <a:xfrm>
            <a:off x="7260771" y="1676861"/>
            <a:ext cx="0" cy="127133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7892555-CCDB-4665-EA45-2E914B03711E}"/>
                  </a:ext>
                </a:extLst>
              </p:cNvPr>
              <p:cNvSpPr txBox="1"/>
              <p:nvPr/>
            </p:nvSpPr>
            <p:spPr>
              <a:xfrm>
                <a:off x="5098573" y="3998372"/>
                <a:ext cx="6287885" cy="8092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5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1500" b="1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IN" sz="1500" b="1" i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IN" sz="1500" b="1" i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IN" sz="15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e>
                        <m:sub>
                          <m:r>
                            <a:rPr lang="en-US" sz="1500" b="1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f>
                        <m:fPr>
                          <m:ctrlPr>
                            <a:rPr lang="en-IN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1500" b="1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500" b="1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  <m:r>
                                <a:rPr lang="en-IN" sz="1500" b="1" i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∅</m:t>
                              </m:r>
                            </m:e>
                            <m:sub>
                              <m:r>
                                <a:rPr lang="en-US" sz="1500" b="1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num>
                        <m:den>
                          <m:r>
                            <a:rPr lang="en-IN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𝒅𝒕</m:t>
                          </m:r>
                        </m:den>
                      </m:f>
                      <m:r>
                        <a:rPr lang="en-IN" sz="1500" b="1" i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IN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1500" b="1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500" b="1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e>
                            <m:sub>
                              <m:r>
                                <a:rPr lang="en-US" sz="1500" b="1" i="0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IN" sz="1500" b="1" i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1500" b="1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500" b="1" i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∅</m:t>
                              </m:r>
                            </m:e>
                            <m:sub>
                              <m:r>
                                <a:rPr lang="en-US" sz="1500" b="1" i="0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IN" sz="1500" b="1" i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IN" sz="1500" b="1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500" b="1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en-US" sz="1500" b="1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en-IN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1500" b="1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500" b="1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𝒅𝒊</m:t>
                              </m:r>
                            </m:e>
                            <m:sub>
                              <m:r>
                                <a:rPr lang="en-US" sz="1500" b="1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num>
                        <m:den>
                          <m:r>
                            <a:rPr lang="en-IN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𝒅𝒕</m:t>
                          </m:r>
                        </m:den>
                      </m:f>
                      <m:r>
                        <a:rPr lang="en-IN" sz="1500" b="1" i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15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15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5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5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15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5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sz="15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15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5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∅</m:t>
                              </m:r>
                            </m:e>
                            <m:sub>
                              <m:r>
                                <a:rPr lang="en-US" sz="15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IN" sz="15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5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15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en-IN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1500" b="1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500" b="1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𝒅𝒊</m:t>
                              </m:r>
                            </m:e>
                            <m:sub>
                              <m:r>
                                <a:rPr lang="en-US" sz="1500" b="1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num>
                        <m:den>
                          <m:r>
                            <a:rPr lang="en-IN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𝒅𝒕</m:t>
                          </m:r>
                        </m:den>
                      </m:f>
                      <m:r>
                        <a:rPr lang="en-IN" sz="1500" b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1500" b="1" i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IN" sz="1500" b="1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𝑴</m:t>
                      </m:r>
                      <m:f>
                        <m:fPr>
                          <m:ctrlPr>
                            <a:rPr lang="en-IN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1500" b="1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500" b="1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𝒅𝒊</m:t>
                              </m:r>
                            </m:e>
                            <m:sub>
                              <m:r>
                                <a:rPr lang="en-US" sz="1500" b="1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num>
                        <m:den>
                          <m:r>
                            <a:rPr lang="en-IN" sz="15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𝒅𝒕</m:t>
                          </m:r>
                        </m:den>
                      </m:f>
                    </m:oMath>
                  </m:oMathPara>
                </a14:m>
                <a:endParaRPr lang="en-IN" sz="1500" b="1" dirty="0">
                  <a:solidFill>
                    <a:schemeClr val="accent5">
                      <a:lumMod val="7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7892555-CCDB-4665-EA45-2E914B0371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8573" y="3998372"/>
                <a:ext cx="6287885" cy="80926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9269B45-8DFE-0447-AEBE-206A89742E87}"/>
              </a:ext>
            </a:extLst>
          </p:cNvPr>
          <p:cNvCxnSpPr/>
          <p:nvPr/>
        </p:nvCxnSpPr>
        <p:spPr>
          <a:xfrm>
            <a:off x="7618552" y="5158423"/>
            <a:ext cx="0" cy="127133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92390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C10FA-86E5-C45E-ED9E-7EB528056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2304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sz="2500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Sample Questions from Magnetic Circuits</a:t>
            </a:r>
            <a:endParaRPr lang="en-IN" sz="2500" b="1" dirty="0">
              <a:solidFill>
                <a:schemeClr val="accent5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641DB-0EBF-786C-EAA2-03A0CC2F7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8057"/>
            <a:ext cx="11005457" cy="5018314"/>
          </a:xfrm>
        </p:spPr>
        <p:txBody>
          <a:bodyPr>
            <a:noAutofit/>
          </a:bodyPr>
          <a:lstStyle/>
          <a:p>
            <a:pPr marL="514350" indent="-514350" algn="just">
              <a:lnSpc>
                <a:spcPts val="2500"/>
              </a:lnSpc>
              <a:buFont typeface="+mj-lt"/>
              <a:buAutoNum type="arabicPeriod"/>
            </a:pPr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Define the following terms related with magnetic circuit. State their units also (2 M each).</a:t>
            </a:r>
          </a:p>
          <a:p>
            <a:pPr marL="971550" lvl="1" indent="-514350" algn="just">
              <a:lnSpc>
                <a:spcPts val="2500"/>
              </a:lnSpc>
              <a:buFont typeface="+mj-lt"/>
              <a:buAutoNum type="alphaLcPeriod"/>
            </a:pPr>
            <a:r>
              <a:rPr lang="en-US" sz="1800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Magnetic flux density</a:t>
            </a:r>
          </a:p>
          <a:p>
            <a:pPr marL="971550" lvl="1" indent="-514350" algn="just">
              <a:lnSpc>
                <a:spcPts val="2500"/>
              </a:lnSpc>
              <a:buFont typeface="+mj-lt"/>
              <a:buAutoNum type="alphaLcPeriod"/>
            </a:pPr>
            <a:r>
              <a:rPr lang="en-US" sz="1800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Magnetic field strength</a:t>
            </a:r>
          </a:p>
          <a:p>
            <a:pPr marL="971550" lvl="1" indent="-514350" algn="just">
              <a:lnSpc>
                <a:spcPts val="2500"/>
              </a:lnSpc>
              <a:buFont typeface="+mj-lt"/>
              <a:buAutoNum type="alphaLcPeriod"/>
            </a:pPr>
            <a:r>
              <a:rPr lang="en-US" sz="1800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Permeability</a:t>
            </a:r>
          </a:p>
          <a:p>
            <a:pPr marL="971550" lvl="1" indent="-514350" algn="just">
              <a:lnSpc>
                <a:spcPts val="2500"/>
              </a:lnSpc>
              <a:buFont typeface="+mj-lt"/>
              <a:buAutoNum type="alphaLcPeriod"/>
            </a:pPr>
            <a:r>
              <a:rPr lang="en-US" sz="1800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Magnetomotive force</a:t>
            </a:r>
          </a:p>
          <a:p>
            <a:pPr marL="971550" lvl="1" indent="-514350" algn="just">
              <a:lnSpc>
                <a:spcPts val="2500"/>
              </a:lnSpc>
              <a:buFont typeface="+mj-lt"/>
              <a:buAutoNum type="alphaLcPeriod"/>
            </a:pPr>
            <a:r>
              <a:rPr lang="en-IN" sz="1800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Reluctance</a:t>
            </a:r>
          </a:p>
          <a:p>
            <a:pPr marL="971550" lvl="1" indent="-514350" algn="just">
              <a:lnSpc>
                <a:spcPts val="2500"/>
              </a:lnSpc>
              <a:buFont typeface="+mj-lt"/>
              <a:buAutoNum type="alphaLcPeriod"/>
            </a:pPr>
            <a:r>
              <a:rPr lang="en-IN" sz="1800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Permeance</a:t>
            </a:r>
          </a:p>
          <a:p>
            <a:pPr marL="514350" indent="-514350" algn="just">
              <a:lnSpc>
                <a:spcPts val="25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Derive the relation between Magnetomotive force, magnetic flux and reluctance (4M)</a:t>
            </a:r>
          </a:p>
          <a:p>
            <a:pPr marL="514350" indent="-514350" algn="just">
              <a:lnSpc>
                <a:spcPts val="25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Compare Magnetic and Electric Circuit clearly mentioning similarities and dissimilarities (6-8 M)</a:t>
            </a:r>
          </a:p>
          <a:p>
            <a:pPr marL="514350" indent="-514350" algn="just">
              <a:lnSpc>
                <a:spcPts val="25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Explain how flux in air gap can be calculated in case of a magnetic ring having mean diameter of D </a:t>
            </a:r>
            <a:r>
              <a:rPr lang="en-IN" b="1" dirty="0" err="1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mtrs</a:t>
            </a:r>
            <a:r>
              <a:rPr lang="en-IN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 with air gap of length as</a:t>
            </a:r>
            <a:r>
              <a:rPr lang="en-IN" b="1" i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 lag </a:t>
            </a:r>
            <a:r>
              <a:rPr lang="en-IN" b="1" dirty="0" err="1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mtrs</a:t>
            </a:r>
            <a:r>
              <a:rPr lang="en-IN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 (6M). </a:t>
            </a:r>
          </a:p>
        </p:txBody>
      </p:sp>
    </p:spTree>
    <p:extLst>
      <p:ext uri="{BB962C8B-B14F-4D97-AF65-F5344CB8AC3E}">
        <p14:creationId xmlns:p14="http://schemas.microsoft.com/office/powerpoint/2010/main" val="24540784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C10FA-86E5-C45E-ED9E-7EB528056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2304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sz="2500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Sample theory Questions from Electromagnetic Induction</a:t>
            </a:r>
            <a:endParaRPr lang="en-IN" sz="2500" b="1" dirty="0">
              <a:solidFill>
                <a:schemeClr val="accent5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641DB-0EBF-786C-EAA2-03A0CC2F7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8056"/>
            <a:ext cx="10515600" cy="5164817"/>
          </a:xfrm>
        </p:spPr>
        <p:txBody>
          <a:bodyPr>
            <a:normAutofit/>
          </a:bodyPr>
          <a:lstStyle/>
          <a:p>
            <a:pPr marL="514350" indent="-514350">
              <a:lnSpc>
                <a:spcPts val="3000"/>
              </a:lnSpc>
              <a:buFont typeface="+mj-lt"/>
              <a:buAutoNum type="arabicPeriod"/>
            </a:pPr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State faradays Laws of Electromagnetic Induction (4M)</a:t>
            </a:r>
          </a:p>
          <a:p>
            <a:pPr marL="514350" indent="-514350">
              <a:lnSpc>
                <a:spcPts val="3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Explain concept of dynamically induced emf (4M)</a:t>
            </a:r>
          </a:p>
          <a:p>
            <a:pPr marL="514350" indent="-514350">
              <a:lnSpc>
                <a:spcPts val="3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State Flemings Right hand rule and its application (4M)</a:t>
            </a:r>
          </a:p>
          <a:p>
            <a:pPr marL="514350" indent="-514350">
              <a:lnSpc>
                <a:spcPts val="3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Explain self and Mutually Induced EMF (4-6 M)</a:t>
            </a:r>
          </a:p>
          <a:p>
            <a:pPr marL="514350" indent="-514350">
              <a:lnSpc>
                <a:spcPts val="3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Define self-Inductance and state the factors affecting it (4M)</a:t>
            </a:r>
          </a:p>
          <a:p>
            <a:pPr marL="514350" indent="-514350">
              <a:lnSpc>
                <a:spcPts val="3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Define Mutual Inductance and state the factors affecting it (4M)</a:t>
            </a:r>
          </a:p>
          <a:p>
            <a:pPr marL="514350" indent="-514350">
              <a:lnSpc>
                <a:spcPts val="3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Compare self and mutual Inductance (4M)</a:t>
            </a:r>
          </a:p>
          <a:p>
            <a:pPr marL="514350" indent="-514350">
              <a:lnSpc>
                <a:spcPts val="3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Derive the expression for coefficient of Coupling (6M)</a:t>
            </a:r>
          </a:p>
          <a:p>
            <a:pPr marL="514350" indent="-514350">
              <a:lnSpc>
                <a:spcPts val="3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Derive the expression for energy stored in magnetic field (4M)</a:t>
            </a:r>
          </a:p>
        </p:txBody>
      </p:sp>
    </p:spTree>
    <p:extLst>
      <p:ext uri="{BB962C8B-B14F-4D97-AF65-F5344CB8AC3E}">
        <p14:creationId xmlns:p14="http://schemas.microsoft.com/office/powerpoint/2010/main" val="315559621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3">
    <wetp:webextensionref xmlns:r="http://schemas.openxmlformats.org/officeDocument/2006/relationships" r:id="rId1"/>
  </wetp:taskpane>
  <wetp:taskpane dockstate="right" visibility="0" width="438" row="4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F992DE7F-7A1C-4DD0-A488-AA4754D3C08F}">
  <we:reference id="wa200007130" version="1.0.0.1" store="en-US" storeType="OMEX"/>
  <we:alternateReferences>
    <we:reference id="wa200007130" version="1.0.0.1" store="wa200007130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9E766C59-4945-4EA3-AF8E-62F85D1B3ADF}">
  <we:reference id="wa200005566" version="3.0.0.2" store="en-US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1030</TotalTime>
  <Words>1471</Words>
  <Application>Microsoft Office PowerPoint</Application>
  <PresentationFormat>Widescreen</PresentationFormat>
  <Paragraphs>254</Paragraphs>
  <Slides>19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9" baseType="lpstr">
      <vt:lpstr>Aptos</vt:lpstr>
      <vt:lpstr>Arial</vt:lpstr>
      <vt:lpstr>Bahnschrift Condensed</vt:lpstr>
      <vt:lpstr>Cambria Math</vt:lpstr>
      <vt:lpstr>Century Gothic</vt:lpstr>
      <vt:lpstr>Comic Sans MS</vt:lpstr>
      <vt:lpstr>Courier New</vt:lpstr>
      <vt:lpstr>Garamond</vt:lpstr>
      <vt:lpstr>Symbol</vt:lpstr>
      <vt:lpstr>Savon</vt:lpstr>
      <vt:lpstr>PowerPoint Presentation</vt:lpstr>
      <vt:lpstr>Lecture Planning</vt:lpstr>
      <vt:lpstr>Applications (Magic of Magnetism)</vt:lpstr>
      <vt:lpstr>Terms related with Magnetic circuit </vt:lpstr>
      <vt:lpstr>PowerPoint Presentation</vt:lpstr>
      <vt:lpstr>Terms related to magnetic circuits</vt:lpstr>
      <vt:lpstr>Rules to deicide the direction of the magnetic field</vt:lpstr>
      <vt:lpstr>PowerPoint Presentation</vt:lpstr>
      <vt:lpstr>Relation between MMF, Reluctance and Flux</vt:lpstr>
      <vt:lpstr>Comparison between Magnetic and Electric Circuit</vt:lpstr>
      <vt:lpstr>PowerPoint Presentation</vt:lpstr>
      <vt:lpstr>Series Magnetic circuit with and without air gap</vt:lpstr>
      <vt:lpstr>Electromagnetic               Induction</vt:lpstr>
      <vt:lpstr>     Faradays Laws of Electromagnetic Induction:</vt:lpstr>
      <vt:lpstr>Dynamically Induced EMF</vt:lpstr>
      <vt:lpstr>Self and Mutual Inductance</vt:lpstr>
      <vt:lpstr>Energy stored in Magnetic Field</vt:lpstr>
      <vt:lpstr>Sample Questions from Magnetic Circuits</vt:lpstr>
      <vt:lpstr>Sample theory Questions from Electromagnetic Induction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Avinash Sarwade</dc:creator>
  <cp:lastModifiedBy>Pooja pal</cp:lastModifiedBy>
  <cp:revision>120</cp:revision>
  <dcterms:created xsi:type="dcterms:W3CDTF">2024-08-07T23:41:51Z</dcterms:created>
  <dcterms:modified xsi:type="dcterms:W3CDTF">2025-10-12T13:47:44Z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2024-08-07T23:49:57Z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5f7ca6d8-06bf-47b0-9e7f-3047f42f3ff5</vt:lpwstr>
  </property>
  <property fmtid="{D5CDD505-2E9C-101B-9397-08002B2CF9AE}" pid="7" name="MSIP_Label_defa4170-0d19-0005-0004-bc88714345d2_ActionId">
    <vt:lpwstr>8c1961df-7ab4-4146-b8b5-60c29caccdca</vt:lpwstr>
  </property>
  <property fmtid="{D5CDD505-2E9C-101B-9397-08002B2CF9AE}" pid="8" name="MSIP_Label_defa4170-0d19-0005-0004-bc88714345d2_ContentBits">
    <vt:lpwstr>0</vt:lpwstr>
  </property>
</Properties>
</file>